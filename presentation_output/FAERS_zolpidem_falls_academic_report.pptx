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65cf07498c4ca7" /><Relationship Type="http://schemas.openxmlformats.org/officeDocument/2006/relationships/extended-properties" Target="/docProps/app.xml" Id="R4425a4c4e4d9409e" /><Relationship Type="http://schemas.openxmlformats.org/officeDocument/2006/relationships/officeDocument" Target="/ppt/presentation.xml" Id="R28114627020745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8f4f7db3e84c8c"/>
  </p:sldMasterIdLst>
  <p:notesMasterIdLst>
    <p:notesMasterId xmlns:r="http://schemas.openxmlformats.org/officeDocument/2006/relationships" r:id="R887cabf5c58f4ec7"/>
  </p:notesMasterIdLst>
  <p:sldIdLst>
    <p:sldId xmlns:r="http://schemas.openxmlformats.org/officeDocument/2006/relationships" id="256" r:id="R494c4c54c84843ea"/>
    <p:sldId xmlns:r="http://schemas.openxmlformats.org/officeDocument/2006/relationships" id="257" r:id="R5c71f8441e254f5b"/>
    <p:sldId xmlns:r="http://schemas.openxmlformats.org/officeDocument/2006/relationships" id="258" r:id="R48c9de480cd2473f"/>
    <p:sldId xmlns:r="http://schemas.openxmlformats.org/officeDocument/2006/relationships" id="259" r:id="Rcecdc310e21b4acc"/>
    <p:sldId xmlns:r="http://schemas.openxmlformats.org/officeDocument/2006/relationships" id="260" r:id="Rcb3b29ca4dab4bac"/>
    <p:sldId xmlns:r="http://schemas.openxmlformats.org/officeDocument/2006/relationships" id="261" r:id="R125171b91897449c"/>
    <p:sldId xmlns:r="http://schemas.openxmlformats.org/officeDocument/2006/relationships" id="262" r:id="R4c19f8e5050b4f88"/>
    <p:sldId xmlns:r="http://schemas.openxmlformats.org/officeDocument/2006/relationships" id="263" r:id="R829d67097a514047"/>
    <p:sldId xmlns:r="http://schemas.openxmlformats.org/officeDocument/2006/relationships" id="264" r:id="R669e8ffc05964eb3"/>
    <p:sldId xmlns:r="http://schemas.openxmlformats.org/officeDocument/2006/relationships" id="265" r:id="R6af1eaf75d9444fe"/>
    <p:sldId xmlns:r="http://schemas.openxmlformats.org/officeDocument/2006/relationships" id="266" r:id="R7accd6b3063a408d"/>
    <p:sldId xmlns:r="http://schemas.openxmlformats.org/officeDocument/2006/relationships" id="267" r:id="Rc7286c2809b04f7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8f4f7db3e84c8c" /><Relationship Type="http://schemas.openxmlformats.org/officeDocument/2006/relationships/theme" Target="/ppt/theme/theme1.xml" Id="R43d4ae8a212b44c1" /><Relationship Type="http://schemas.openxmlformats.org/officeDocument/2006/relationships/notesMaster" Target="/ppt/notesMasters/notesMaster1.xml" Id="R887cabf5c58f4ec7" /><Relationship Type="http://schemas.openxmlformats.org/officeDocument/2006/relationships/presProps" Target="/ppt/presProps.xml" Id="R3774b06f8b0f4787" /><Relationship Type="http://schemas.openxmlformats.org/officeDocument/2006/relationships/viewProps" Target="/ppt/viewProps.xml" Id="R47489f65d84247a7" /><Relationship Type="http://schemas.openxmlformats.org/officeDocument/2006/relationships/tableStyles" Target="/ppt/tableStyles.xml" Id="R83ae2e3a010b4b62" /><Relationship Type="http://schemas.openxmlformats.org/officeDocument/2006/relationships/slide" Target="/ppt/slides/slide1.xml" Id="R494c4c54c84843ea" /><Relationship Type="http://schemas.openxmlformats.org/officeDocument/2006/relationships/slide" Target="/ppt/slides/slide2.xml" Id="R5c71f8441e254f5b" /><Relationship Type="http://schemas.openxmlformats.org/officeDocument/2006/relationships/slide" Target="/ppt/slides/slide3.xml" Id="R48c9de480cd2473f" /><Relationship Type="http://schemas.openxmlformats.org/officeDocument/2006/relationships/slide" Target="/ppt/slides/slide4.xml" Id="Rcecdc310e21b4acc" /><Relationship Type="http://schemas.openxmlformats.org/officeDocument/2006/relationships/slide" Target="/ppt/slides/slide5.xml" Id="Rcb3b29ca4dab4bac" /><Relationship Type="http://schemas.openxmlformats.org/officeDocument/2006/relationships/slide" Target="/ppt/slides/slide6.xml" Id="R125171b91897449c" /><Relationship Type="http://schemas.openxmlformats.org/officeDocument/2006/relationships/slide" Target="/ppt/slides/slide7.xml" Id="R4c19f8e5050b4f88" /><Relationship Type="http://schemas.openxmlformats.org/officeDocument/2006/relationships/slide" Target="/ppt/slides/slide8.xml" Id="R829d67097a514047" /><Relationship Type="http://schemas.openxmlformats.org/officeDocument/2006/relationships/slide" Target="/ppt/slides/slide9.xml" Id="R669e8ffc05964eb3" /><Relationship Type="http://schemas.openxmlformats.org/officeDocument/2006/relationships/slide" Target="/ppt/slides/slide10.xml" Id="R6af1eaf75d9444fe" /><Relationship Type="http://schemas.openxmlformats.org/officeDocument/2006/relationships/slide" Target="/ppt/slides/slide11.xml" Id="R7accd6b3063a408d" /><Relationship Type="http://schemas.openxmlformats.org/officeDocument/2006/relationships/slide" Target="/ppt/slides/slide12.xml" Id="Rc7286c2809b04f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700331efb6b4c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275909fd374a71" /><Relationship Type="http://schemas.openxmlformats.org/officeDocument/2006/relationships/notesMaster" Target="/ppt/notesMasters/notesMaster1.xml" Id="R071a320b08ef4c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954c05029349d3" /><Relationship Type="http://schemas.openxmlformats.org/officeDocument/2006/relationships/notesMaster" Target="/ppt/notesMasters/notesMaster1.xml" Id="R3a0a73ea734748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d366f996754271" /><Relationship Type="http://schemas.openxmlformats.org/officeDocument/2006/relationships/notesMaster" Target="/ppt/notesMasters/notesMaster1.xml" Id="Re44d0608658849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76dd25453340a5" /><Relationship Type="http://schemas.openxmlformats.org/officeDocument/2006/relationships/notesMaster" Target="/ppt/notesMasters/notesMaster1.xml" Id="Re06a73978ffc4a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9534aa99fb4798" /><Relationship Type="http://schemas.openxmlformats.org/officeDocument/2006/relationships/notesMaster" Target="/ppt/notesMasters/notesMaster1.xml" Id="R985200561d4241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4f2c540b53444e" /><Relationship Type="http://schemas.openxmlformats.org/officeDocument/2006/relationships/notesMaster" Target="/ppt/notesMasters/notesMaster1.xml" Id="R1eb04ea8b0db49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4dbe2cbeb24083" /><Relationship Type="http://schemas.openxmlformats.org/officeDocument/2006/relationships/notesMaster" Target="/ppt/notesMasters/notesMaster1.xml" Id="R90df748cdb804f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49da415d6744ca" /><Relationship Type="http://schemas.openxmlformats.org/officeDocument/2006/relationships/notesMaster" Target="/ppt/notesMasters/notesMaster1.xml" Id="R5ad95b582f8e45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0634661ae24193" /><Relationship Type="http://schemas.openxmlformats.org/officeDocument/2006/relationships/notesMaster" Target="/ppt/notesMasters/notesMaster1.xml" Id="R0588019534c547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fa6b03abed4250" /><Relationship Type="http://schemas.openxmlformats.org/officeDocument/2006/relationships/notesMaster" Target="/ppt/notesMasters/notesMaster1.xml" Id="R354e3f92d3de4b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d1d19592794f90" /><Relationship Type="http://schemas.openxmlformats.org/officeDocument/2006/relationships/notesMaster" Target="/ppt/notesMasters/notesMaster1.xml" Id="Rf1838de6ba2643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4ae6ed1ee34d85" /><Relationship Type="http://schemas.openxmlformats.org/officeDocument/2006/relationships/notesMaster" Target="/ppt/notesMasters/notesMaster1.xml" Id="R287f2e94ac3047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7064732c144b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bd4a55a90474ff7" /><Relationship Type="http://schemas.openxmlformats.org/officeDocument/2006/relationships/slideLayout" Target="/ppt/slideLayouts/slideLayout2.xml" Id="R86368caacd834e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368caacd834e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d33623a0d04298" /><Relationship Type="http://schemas.openxmlformats.org/officeDocument/2006/relationships/notesSlide" Target="/ppt/notesSlides/notesSlide1.xml" Id="R2631cadaa5ec4c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b5244fb9ae4fa7" /><Relationship Type="http://schemas.openxmlformats.org/officeDocument/2006/relationships/notesSlide" Target="/ppt/notesSlides/notesSlide2.xml" Id="R053dc918aef240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021835dba64b56" /><Relationship Type="http://schemas.openxmlformats.org/officeDocument/2006/relationships/notesSlide" Target="/ppt/notesSlides/notesSlide3.xml" Id="Rba540278dd3b48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d08b79d7004eb3" /><Relationship Type="http://schemas.openxmlformats.org/officeDocument/2006/relationships/notesSlide" Target="/ppt/notesSlides/notesSlide4.xml" Id="R395aad737d7141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4724b750c043aa" /><Relationship Type="http://schemas.openxmlformats.org/officeDocument/2006/relationships/notesSlide" Target="/ppt/notesSlides/notesSlide5.xml" Id="Rb7d729e3ff794d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d3e928e89643eb" /><Relationship Type="http://schemas.openxmlformats.org/officeDocument/2006/relationships/notesSlide" Target="/ppt/notesSlides/notesSlide6.xml" Id="R5d391d00b3ba4d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7abbf5f0624fa0" /><Relationship Type="http://schemas.openxmlformats.org/officeDocument/2006/relationships/notesSlide" Target="/ppt/notesSlides/notesSlide7.xml" Id="R54bbaea459d84b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ad6e4b921948ef" /><Relationship Type="http://schemas.openxmlformats.org/officeDocument/2006/relationships/image" Target="/ppt/media/image.png" Id="R2cbbb6b6653045a1" /><Relationship Type="http://schemas.openxmlformats.org/officeDocument/2006/relationships/image" Target="/ppt/media/image2.png" Id="Rc6d49cb663f24d4b" /><Relationship Type="http://schemas.openxmlformats.org/officeDocument/2006/relationships/notesSlide" Target="/ppt/notesSlides/notesSlide8.xml" Id="Rde77743da1fe48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9a60135bc24183" /><Relationship Type="http://schemas.openxmlformats.org/officeDocument/2006/relationships/notesSlide" Target="/ppt/notesSlides/notesSlide9.xml" Id="Rea04dabb79b14c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5f3d16c84d478d" /><Relationship Type="http://schemas.openxmlformats.org/officeDocument/2006/relationships/notesSlide" Target="/ppt/notesSlides/notesSlide10.xml" Id="Raf40ed4abbc446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f2cdd95e4e405c" /><Relationship Type="http://schemas.openxmlformats.org/officeDocument/2006/relationships/notesSlide" Target="/ppt/notesSlides/notesSlide11.xml" Id="Ra3c6720f1efa4c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fed61adfae482c" /><Relationship Type="http://schemas.openxmlformats.org/officeDocument/2006/relationships/notesSlide" Target="/ppt/notesSlides/notesSlide12.xml" Id="R59bea07e84a541f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11E4D1-60A4-49CA-8D99-89C913DE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4473A-2FDE-4B6E-83B3-E4287E5C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B8027-48ED-4973-81AC-801B59DD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6AB4A-AC71-401E-BEE7-E15A7D4D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29300"/>
            <a:ext cx="12192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B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10553-44FB-49ED-A5E2-39DECD05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FA3D8-DF8A-49F2-A450-C405E1B3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D3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9D3E3"/>
                </a:solidFill>
                <a:latin typeface="Microsoft YaHei"/>
                <a:ea typeface="Microsoft YaHei"/>
                <a:cs typeface="Microsoft YaHei"/>
              </a:rPr>
              <a:t>学术报告 PPT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65610-9AC5-45BB-8B13-52D73471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7239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基于 FAERS 数据库的老年人唑吡坦相关跌倒事件药物警戒研究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1CE85-3107-46E9-AB9B-51E81A16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638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3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9D3E3"/>
                </a:solidFill>
                <a:latin typeface="Microsoft YaHei"/>
                <a:ea typeface="Microsoft YaHei"/>
                <a:cs typeface="Microsoft YaHei"/>
              </a:rPr>
              <a:t>2004-2025 年全周期数据 | 不成比例分析 | 敏感性分析 | 机器学习辅助排序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78F93-64A5-4241-BBF4-2D47C88D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5790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4B0B8-AF57-4E17-AA8F-9F3B1AC1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007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033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42033"/>
                </a:solidFill>
                <a:latin typeface="Georgia"/>
                <a:ea typeface="Georgia"/>
                <a:cs typeface="Georgia"/>
              </a:rPr>
              <a:t>415.5万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E70CE-37D0-4834-AE98-9790E01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627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纳入老年 FAERS 病例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E37B7-2928-4189-8668-0334FC4A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05790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FA9B9-614D-4FDA-B0DF-EB9DD927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007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033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42033"/>
                </a:solidFill>
                <a:latin typeface="Georgia"/>
                <a:ea typeface="Georgia"/>
                <a:cs typeface="Georgia"/>
              </a:rPr>
              <a:t>ROR 4.73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EF4270-168D-4D56-BDE9-F7AA0AE6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3627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主分析狭义跌倒信号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B95E34-8519-40DE-863C-E9831B25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57900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9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B3442-2CF6-4CB6-A3B9-55C2FDEA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007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033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42033"/>
                </a:solidFill>
                <a:latin typeface="Georgia"/>
                <a:ea typeface="Georgia"/>
                <a:cs typeface="Georgia"/>
              </a:rPr>
              <a:t>AUC 0.772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55BC8-6171-4CCA-8B76-3FCEA315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3627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XGBoost 测试集表现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7881E8-6020-4E8C-978F-02A82E12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477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0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AF84BF-5EA8-48B5-8D93-A8A6D038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5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18D185-55AD-4622-A62C-1D4FA513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695450"/>
            <a:ext cx="1762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FAERS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Zolpidem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Falls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5EB9C9-47E6-420C-8B2F-E878660C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862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核心观点：看到的是“报告信号”，不是直接因果结论。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0471AB-F48E-45F2-8736-5B35207B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35517E-5702-46D8-88D6-3AEA5FE5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47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D:/program_FAERS 项目材料自动整理生成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B71279-7A50-453D-88D2-EF6E6F93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07513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7321E1-D024-42E8-9014-9867457A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2DD9E-D479-4063-89C3-31490222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BDF0BDC6-F0A7-45F5-B0F7-2230C78E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6CB094AF-86EA-4188-833E-8CD18B83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为 什 么 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AE4EF-5221-4EE1-8A33-7B8D9C70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问题不只是“能不能助眠”，而是老年人用药后跌倒风险会不会被放大。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879F6-85D2-48A6-AE6F-B18967F2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512A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DDA45-96F1-41F3-8BB6-C0605F2B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512A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B4512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61E85-0EC7-47C4-845B-F78BD4EA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CE44D-164D-4C73-9229-A8D866E9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老年失眠常见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92032-8B8E-43B9-980A-9AFC9757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助眠药能改善睡眠，但老年人更容易受次日残余效应影响。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811BB-7FA3-4104-B8F7-EC4A5810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6F6D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D6F6D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71D5C0-A3D1-4BC6-95DA-1C291F21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D7EE0-712E-4679-8AFE-E59B3D37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766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跌倒后果严重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E8D53-8036-4C42-BA66-3749F3F0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7660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跌倒可带来骨折、住院、功能下降甚至死亡。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C9399-DB0B-4369-9F57-CD50BE12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512A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B4512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79A42-B7D0-4BFA-8886-28A83EA7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529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9B9EF4-3812-4D0C-8EB1-14E9F633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814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用药场景复杂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F515F-7450-4A7F-91E6-CE7E5C1D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高龄、多重用药、合并 CNS 药物会让风险解释更复杂。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78657E-36BE-477E-A604-09C99489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6F6D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D6F6D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A17EA3-F70A-4A7D-B54A-572EEF1C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44E5BC-E6A6-4BFF-8555-F87E1AFA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863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FAERS 适合早期预警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F829CF-C36E-47F8-9E92-4CFB2CC5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它适合发现信号，但不能单独证明因果。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F55A59-ED8D-46C2-A2C4-D3945883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4B6953-F17E-4E9D-9A97-A54D5C9D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47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资料来源：项目 README、thesis_extracted.txt、OUTPUT_GLOBAL_COUNTRY 与 OUTPUT_ML 输出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8A22B5-681E-4CCF-83B7-BE695A84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592362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A14275-9CE6-430D-A6C1-01B7DB80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785E2-C65D-4D0D-BD25-C8591D93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C4FC83A8-AB09-4DEF-AE73-FD7B5527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340276F9-E0AB-4165-99EC-125DF86E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研 究 路 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8A4CE-5E1D-4A8D-A638-BF0CFF4B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从季度原始表到病例级数据集，先把 FAERS 报告整理成可分析的人群。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C2662-3F27-406A-86EE-33C063D5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6383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8A0BB-79F6-41E4-9A71-4B0CEA75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4EF89-12B0-408F-BEF9-4745F03F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去重、年龄、性别、报告时间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E09DC-8747-43B6-BD5C-B3751048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33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E5FBF-089E-4D79-B24C-BA99B93A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24150"/>
            <a:ext cx="16383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7E1A7-84CE-49F3-943C-DF9A31ED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146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DRUG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DCDB1-8FC9-476B-914B-9E7AE4D1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7185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唑吡坦、其他 Z-drugs、多重用药、CNS 合并用药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BE104-A757-485E-9A38-20BE7D82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33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A0156-73AD-4D43-978A-0F42CBA6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24150"/>
            <a:ext cx="16383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3CF80-6A44-479F-B104-ED9ACD92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146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REAC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8806A4-422F-4788-A12F-941E72B5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7185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狭义跌倒与广义跌倒相关结局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F67B67-18F7-4B29-A81A-BB5997C3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33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D9DF8-FBDE-4AD3-AEDE-B3755F50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16383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7077F3-1D2F-4259-B2D5-A49A92FF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146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OUTC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F9720C-F8D1-42C2-BAD7-C1E18A30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7185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死亡、住院、危及生命等严重结局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E40262-BCB2-4238-B7C6-AF1CE13B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33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99943F-80FB-4151-A74D-DA0E0702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24150"/>
            <a:ext cx="16383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A0FBBA-BCDB-44FC-8D48-28363255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146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病例级主表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579F37-EB93-4807-AAF8-B74BE5DB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7185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DE6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DDE6F2"/>
                </a:solidFill>
                <a:latin typeface="Microsoft YaHei"/>
                <a:ea typeface="Microsoft YaHei"/>
                <a:cs typeface="Microsoft YaHei"/>
              </a:rPr>
              <a:t>信号检测、趋势、校正模型、机器学习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E5F4D8-C60E-4AEE-B82D-520924CD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处理口径：65 岁及以上；主暴露为唑吡坦 PS+SS；主结局为狭义跌倒事件。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D56123-CC04-4459-8991-D81BD1CE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B01EE9-7E11-4685-87CC-F10AD4BC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47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资料来源：项目 README、thesis_extracted.txt、OUTPUT_GLOBAL_COUNTRY 与 OUTPUT_ML 输出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65F613-E469-46E2-B7EE-AE819BAD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880160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42A69D-0ED1-43FE-BF8E-06B51BC4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98491-8AF0-425A-AB9B-385D03F6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0CBCF18F-5F0D-4598-A732-DD63E7B9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4EA8F532-D34A-416E-8837-08E891B7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变 量 定 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5A374-037D-4C8F-8028-9033540A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暴露、结局和协变量都先在病例层面落地，避免只看零散药物记录。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E89CA-A95F-4AC5-9064-5FFC2757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2952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450B4-148E-48BA-A009-48B02657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暴露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22BE7-9B28-4887-8FA9-489FF2D1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唑吡坦作为 primary suspect 或 secondary suspect；敏感性分析再看 PS only。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E2910-67EB-49A5-B254-EBC7425C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24100"/>
            <a:ext cx="2952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322C1-F277-4AB3-A3D4-DA6904C1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717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结局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62993-8A5D-4877-B4B2-6CB50D20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05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5E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5EDF8"/>
                </a:solidFill>
                <a:latin typeface="Microsoft YaHei"/>
                <a:ea typeface="Microsoft YaHei"/>
                <a:cs typeface="Microsoft YaHei"/>
              </a:rPr>
              <a:t>主结局为 FALL / FALLING 等狭义跌倒；补充分析看眩晕、平衡障碍等广义相关结局。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6950B-909B-4F7D-B9F1-F0EA3F17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2952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EB5C3-77DA-44AE-BD90-673291AD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协变量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103F4-B1A2-4540-B7E8-CB8B2237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年龄、性别、年份、季度、多重用药、苯二氮䓬类、抗抑郁药、阿片类等。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0BD05-CB8D-4C18-999F-1084D66D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800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简单说：先把“谁用了什么药、有没有跌倒、背景风险是什么”统一到同一张病例级表。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91B8BD-2009-43C6-81B9-46D285FE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DC986-C175-4782-88B8-670B6204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47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资料来源：项目 README、thesis_extracted.txt、OUTPUT_GLOBAL_COUNTRY 与 OUTPUT_ML 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9A33F6-3EED-42A7-A4EA-6F987493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044090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F7EC28-D699-4FC3-9D71-BE609ACE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9DAC7-E361-40AA-A2AD-D4692C04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6A0868C7-DCDF-43CB-B480-AED3910E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42C58933-CFA6-49CC-A7F0-1F266A16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总 体 样 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B52C4-EF84-4EA9-94D9-0F61FE8D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2004-2025 年共纳入 415.5 万例老年病例，跌倒相关报告形成足够大的分析基础。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89D9D-012E-47CE-87D9-A001D7D9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EF446-5EA2-45F4-B4E1-53AF65AC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4,155,023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B342C-5C0B-4EE4-9355-9A1DDBEB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老年病例，2004-2025 全周期去重后纳入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86269-51D7-4ED6-8442-7CFB6E33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72FD5-795D-4193-98E7-1FF15AB6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132,266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278FD-2B01-40D9-A33B-8180E304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860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狭义跌倒事件病例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66816-2C91-4178-B770-723ABE89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860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9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BCAEB-0EDA-45D4-9EDD-B5DEC566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669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298,906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FDFC4-BB57-4622-8158-A10CBB63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860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广义跌倒相关事件病例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874AB5-A7C4-4399-8D78-0AEDD40F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C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8F839-3F82-49ED-8F04-78077030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7,798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19CE86-8875-4B8E-959F-2479AAD2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主分析唑吡坦 only PS/SS 暴露病例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CA91E8-06C7-4D66-925C-D0A470C7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C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ADAD5B-9402-4770-A59A-96BF2550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8145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6,799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44011-7A57-4147-9A1F-4F1D4486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0055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其他 Z-drug only PS/SS 暴露病例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C7AB41-B265-4E39-AD97-44355E3E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这页的意义：样本量足够大，既能做总体信号，也能做年度趋势和补充分析。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1250AF-86DE-45F9-A7E7-150C0691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B680CA-5F4A-4EF4-BE4A-517EE886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47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资料来源：项目 README、thesis_extracted.txt、OUTPUT_GLOBAL_COUNTRY 与 OUTPUT_ML 输出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46E332-DD19-478B-958D-07F2E4AB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537658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44012E-26CC-476B-90B8-9E09B731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E0E7E-3094-4DE3-A505-CACC0D54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B3328866-376C-4EB6-A66D-812A14F4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A32B6C98-A3DF-4D72-8412-ABB3DABF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主 分 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7F741-77B6-4E08-889F-2145980F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唑吡坦 suspect 暴露组的狭义跌倒报告比例约为参照组的 4 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F1E4F-0CE2-40EE-8EBD-590FCDB2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22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唑吡坦 suspect 暴露组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105ED-CE8E-4165-A5B9-5CCC0145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19375"/>
            <a:ext cx="3714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BE0B0-5871-4F0E-892D-D7F633CE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19375"/>
            <a:ext cx="3550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802B4-E0C6-416B-9A67-5DDC6EA2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622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13.38%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C07C8-3E86-442F-895B-770E3831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参照组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CDED0-BE0B-4723-B62E-A527B83C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305175"/>
            <a:ext cx="3714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D97CC9-4F75-45AB-869A-C65F35AF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305175"/>
            <a:ext cx="83847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01FFC6-1E4B-4FDF-B2F5-3DE03CFE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480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3.16%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C7C53-0212-41AB-B3EE-2E4911B7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22383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D8ABD-D0A9-4D37-AD02-7D171CC2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955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ROR</a:t>
            </a:r>
          </a:p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4.73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3DCC56-0736-49E8-8C69-E222AEBC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86150"/>
            <a:ext cx="1676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CE7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CE7F4"/>
                </a:solidFill>
                <a:latin typeface="Microsoft YaHei"/>
                <a:ea typeface="Microsoft YaHei"/>
                <a:cs typeface="Microsoft YaHei"/>
              </a:rPr>
              <a:t>95% CI 4.43-5.05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C47EF-1CA5-4D55-9EEB-7905D629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790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大白话：唑吡坦相关报告里，跌倒被报告出来的比例明显更高。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6472AA-3B30-47B2-81CE-5D0A9C29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AE3C57-59DA-43A8-9904-85DAF763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47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资料来源：项目 README、thesis_extracted.txt、OUTPUT_GLOBAL_COUNTRY 与 OUTPUT_ML 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C3917E-A739-4899-B9A9-6483BBB4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002786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71B1EC-C863-484F-BFC9-DC1A3304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CAAE6-6303-4C44-AE71-1B7B777F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EA6B161B-C855-4B90-AB9E-E7ABEAC8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24DA6EF9-90A4-420D-A521-8C496221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 种 方 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3CE69-9B65-47D2-9411-0EF30409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ROR、PRR、IC 和 EBGM 同时阳性，说明信号不是单一算法带出来的。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D527E-4AAD-4653-A6F6-793A7373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21526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28721-5CAF-4BB2-96FA-339FA788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12BAC-98F3-4C38-8640-E4B3DF1B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4.73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638C4-D9D9-4CB2-87C4-2B72DC41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DE6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DDE6F2"/>
                </a:solidFill>
                <a:latin typeface="Microsoft YaHei"/>
                <a:ea typeface="Microsoft YaHei"/>
                <a:cs typeface="Microsoft YaHei"/>
              </a:rPr>
              <a:t>95%CI 4.43-5.05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28E3B-298F-40EB-A96C-D039C8D4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57450"/>
            <a:ext cx="21526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B3154-95C9-4912-8405-BF0E973B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051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PRR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6145F-8F64-4AA3-8F30-AAB9C7A0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512A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B4512A"/>
                </a:solidFill>
                <a:latin typeface="Georgia"/>
                <a:ea typeface="Georgia"/>
                <a:cs typeface="Georgia"/>
              </a:rPr>
              <a:t>4.23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DE5A8-8A36-4994-8A1E-1DFFCB8E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95%CI 3.99-4.47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252245-3C59-42B0-B038-675C670E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21526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5FE84-DC05-41B1-B376-138FD3FF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051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D0F94-907C-4E84-B403-B9DBDC4B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623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512A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B4512A"/>
                </a:solidFill>
                <a:latin typeface="Georgia"/>
                <a:ea typeface="Georgia"/>
                <a:cs typeface="Georgia"/>
              </a:rPr>
              <a:t>2.07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575F71-2D29-4357-A56D-B6C2CD73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90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IC025 &gt;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045499-819B-41D5-95B9-647416AA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57450"/>
            <a:ext cx="21526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1DCE59-6D54-497B-9B89-A930396D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051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EBGM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A3F355-5609-4A1D-A19C-7D44E080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623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512A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B4512A"/>
                </a:solidFill>
                <a:latin typeface="Georgia"/>
                <a:ea typeface="Georgia"/>
                <a:cs typeface="Georgia"/>
              </a:rPr>
              <a:t>4.19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EC6CF-3DD9-4583-9772-D38E21CE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909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EB05 ≥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EF0EBD-39FE-469A-A9DB-2AE5584A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四套口径都亮灯，说明不是某一种统计方法“偏爱”这个结果。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2917AB-B426-4F1E-B381-58E104A4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255A75-24EB-4463-9EC7-65960AC0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47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资料来源：项目 README、thesis_extracted.txt、OUTPUT_GLOBAL_COUNTRY 与 OUTPUT_ML 输出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A8C399-BA7C-4A3F-B134-A799653F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659543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6C9E72-7DDF-488E-99FC-2598A515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7EEE2-52CE-46E5-A195-B513637B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52B6252F-3496-47FC-8565-7F751A55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DD0B7C68-ADF8-4675-A5E2-B8DC1083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时 间 趋 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C9BBE-6340-42A7-92D7-AF6D6CF7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按年拆开看，多数年份仍然保持阳性信号，2025 年 ROR 达到 7.22。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bb6b6653045a1"/>
          <a:stretch xmlns:a="http://schemas.openxmlformats.org/drawingml/2006/main"/>
        </p:blipFill>
        <p:spPr>
          <a:xfrm xmlns:a="http://schemas.openxmlformats.org/drawingml/2006/main">
            <a:off x="884360" y="2362200"/>
            <a:ext cx="4593981" cy="2714625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49cb663f24d4b"/>
          <a:stretch xmlns:a="http://schemas.openxmlformats.org/drawingml/2006/main"/>
        </p:blipFill>
        <p:spPr>
          <a:xfrm xmlns:a="http://schemas.openxmlformats.org/drawingml/2006/main">
            <a:off x="6389810" y="2362200"/>
            <a:ext cx="4593981" cy="2714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351DE-64B5-4063-8410-3E3C62BD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重点读法：左图看年度 ROR，右图看暴露组与参照组报告比例差距。年份之间有波动，但总体方向没有消失。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CC125-16BE-404E-89B7-06381CC1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CDBA6-549F-4080-86F2-C3DAA46E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47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资料来源：项目 README、thesis_extracted.txt、OUTPUT_GLOBAL_COUNTRY 与 OUTPUT_ML 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FA141-2262-4FDA-9EAD-66149EC4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416804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8A2D9F-C93E-4B5A-AE34-0F40F2E5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D9163-3EEC-429B-AA59-59A20273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4BB1C143-A920-4626-9140-9C57FECD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7DCFE103-98A3-4CC7-9B06-B5EBFD3E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监 管 节 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742C5-326E-42FE-B19D-5FBBBBD3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2013 剂量调整和 2019 黑框警告前后，主信号方向没有反转。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67C1E-AFA9-43C2-9CD3-8482997A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2013 FDA 剂量调整前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08A9C-D971-423B-94E9-E216CB7B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9077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CCA31-D068-4E72-BF4C-B0BA8B6D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479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1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B4512A"/>
                </a:solidFill>
                <a:latin typeface="Georgia"/>
                <a:ea typeface="Georgia"/>
                <a:cs typeface="Georgia"/>
              </a:rPr>
              <a:t>ROR 4.84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82E1F-4172-4562-9D3C-3F8F7D07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跌倒报告比例 15.46%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7A077-A9D2-4F12-8E98-007F1D7A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2013 FDA 剂量调整后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A3E7E-2E7B-4F98-8712-03B0C37A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9562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3EF8A-646F-4B95-AAEB-633ED15E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6F6D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6F6D"/>
                </a:solidFill>
                <a:latin typeface="Georgia"/>
                <a:ea typeface="Georgia"/>
                <a:cs typeface="Georgia"/>
              </a:rPr>
              <a:t>ROR 4.63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55B2E-0CCE-40CE-B1A9-EA223DA1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718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跌倒报告比例 12.83%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97E93-EFBF-41E1-929F-F7637296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2019 黑框警告前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7B2ABF-93BB-47D2-B85A-AF4913B7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0047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7B177-8EB3-4983-B4C2-58F0AEA1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576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12A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B4512A"/>
                </a:solidFill>
                <a:latin typeface="Georgia"/>
                <a:ea typeface="Georgia"/>
                <a:cs typeface="Georgia"/>
              </a:rPr>
              <a:t>ROR 4.44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0D8FD-F931-4572-BED3-D28A8E47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跌倒报告比例 13.41%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7F7046-A3E0-43B0-90D4-851EC8AF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2019 黑框警告后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B723C9-D1F6-43F6-B41E-25310DFA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50532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E41A6D-96BA-4124-B1F6-5BF25C9C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624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6F6D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6F6D"/>
                </a:solidFill>
                <a:latin typeface="Georgia"/>
                <a:ea typeface="Georgia"/>
                <a:cs typeface="Georgia"/>
              </a:rPr>
              <a:t>ROR 5.02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9EAF4D-F071-4E03-B031-2D49E803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815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跌倒报告比例 13.32%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FB6A47-3B1F-4EC8-AFA9-33345B12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监管节点前后仍同向，比较像长期存在的药物警戒现象，而不是某一年异常值。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00E6E2-AE85-401B-B84B-F58F2712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A3F30A-7174-4E4C-8E3B-4653FC41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47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资料来源：项目 README、thesis_extracted.txt、OUTPUT_GLOBAL_COUNTRY 与 OUTPUT_ML 输出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6931BE-DFEC-4934-BDDD-9FA78BD3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697347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20A499-2AC6-4BA5-8304-E2313F20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7FAC5-6024-486D-A2D7-A19B6D00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CE66CFE2-487F-4AE9-994C-C12F2512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BE43A9AE-76CC-4748-810A-600D769D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机 器 学 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E9018-6212-43EE-852F-A7699E67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机器学习更适合做病例排序，不适合直接当作因果预测模型。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AB1B1-BCC1-42D1-B63F-F502B7B9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B35FD-DB6F-4B00-AA60-BA437C42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0.772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9437D-2633-4E36-87BB-92AA1584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XGBoost 测试集 ROC-AUC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F47ACF-C9FF-453D-AABA-0B428777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431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D8962-3732-4483-B215-D24E55BB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2410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0.119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9D311-8E51-4A38-BA92-FE2E7C6D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4320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Average precision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952ADA-8F67-4CD7-9A42-B6E1DE95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43150"/>
            <a:ext cx="95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9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C332E-6FEA-4A0B-89F7-BD72E4EE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241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14.79%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4840B8-4C63-435A-8135-07CB09AC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432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前 5% 高风险病例狭义跌倒比例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18BAD-5ED9-4FEE-A5F9-826D22C9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5252">
            <a:off x="1047750" y="5095875"/>
            <a:ext cx="134236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08215E-A620-4B10-9FD5-96D52E1F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8218">
            <a:off x="2381250" y="4941878"/>
            <a:ext cx="134706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587AA-4AF6-47BD-9AE9-496B2F84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8218">
            <a:off x="3714750" y="4751215"/>
            <a:ext cx="1347061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339D09-7D15-4008-9252-18E21BEA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14342">
            <a:off x="5048250" y="4560552"/>
            <a:ext cx="137180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8D1AD0-1F46-4CCE-BAC0-5CA1240E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067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B0C9CC-E9C9-4051-8DE3-9C1C7239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913303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1D940F-4B7E-4BBB-98BE-DDF3B957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72264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B8D916-0D3D-46B7-AE22-38FFFE3B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531977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B05CF6-AADB-4ADD-A4FA-E5FEBA3F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210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46F58C-BBE3-40DE-BCC1-ECD35BBE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386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前 5% 高风险病例 ≈ 测试集总体阳性比例的 4.70 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A84EAC-19B1-43FF-A426-942C5B07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解释方式要保守：模型能帮忙排优先级，但不是临床因果预测器。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334EAD-EFB4-4B8C-A482-7C00E949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B086B7-87D3-4AB9-95B4-9E4FCB41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47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资料来源：项目 README、thesis_extracted.txt、OUTPUT_GLOBAL_COUNTRY 与 OUTPUT_ML 输出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D509AB-8E3D-45B4-840C-C8BF591B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10034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196926-D9CF-457B-AD08-525E3D44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429BB-BD2D-4CD6-9BC5-45E7D897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9568AC2F-14EF-4592-9492-FC140139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35A4C6FD-DF62-495A-8462-2522695C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解 释 边 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1E59C-B826-4135-AB97-16819E7B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FAERS 能提示“报告信号”，但不能单独证明唑吡坦导致跌倒。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B205B-B75F-4648-903D-A4613370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512A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B4512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8C3BF-5072-4886-9AA1-CA08D579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0505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自发报告系统会有漏报、重复报告、选择性报告等问题。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5F329-06D4-4BFA-8E76-18AA382F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4320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526B5-D213-4677-9C84-E0D51E6F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6F6D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1D6F6D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B6710-A12C-4ACB-92E8-E8239933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9085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缺少处方总人数，不能算真实发生率。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E30F9-C427-4C9D-99DD-23884C02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2900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B61B2-C741-4EDF-909C-75198862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512A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B4512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55FF4-C40D-4BFA-A129-A08848E5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7665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报告信号不等于因果关系，仍需医保、EHR 或前瞻性研究验证。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FD1E5-1579-456A-B330-ED2AC5AE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1480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D2A4E6-9B16-40EC-A8CF-0F933C6A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6F6D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1D6F6D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F327C2-9132-4494-B280-D1C3BD5F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机器学习模型受报告数据质量影响，只能作为辅助工具。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BA9CDF-11E6-4DF3-8B86-7949C9DF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0060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B54C6A-7C0A-44D3-AD8B-355E8BD1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F00F89-297C-48E1-A289-FD8C3A84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47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资料来源：项目 README、thesis_extracted.txt、OUTPUT_GLOBAL_COUNTRY 与 OUTPUT_ML 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D387E4-0C4F-453B-93E4-60F273A0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8814919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A9DF86-736C-45C5-B6BF-0285F9E2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7529C-7CF1-4555-90D1-CBDD74EF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856DBC11-0087-4855-AACB-AB6755D9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CBAD2962-7C4F-4BCF-AE9D-B4AAEA86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结 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1F881-5C13-43DE-9894-3B492751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临床上应重点关注高龄、多重用药和合并中枢神经系统药物使用的老年患者。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406A1-A7D0-4BD1-B71A-4D9FAC1A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12A"/>
                </a:solidFill>
                <a:latin typeface="Microsoft YaHei"/>
                <a:ea typeface="Microsoft YaHei"/>
                <a:cs typeface="Microsoft YaHei"/>
              </a:rPr>
              <a:t>一句话结论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B97AA-275D-4E92-8DBC-ECDBB650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8477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1A23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41A23"/>
                </a:solidFill>
                <a:latin typeface="Georgia"/>
                <a:ea typeface="Georgia"/>
                <a:cs typeface="Georgia"/>
              </a:rPr>
              <a:t>在 FAERS 老年病例中，唑吡坦相关报告存在清楚、稳定、跨方法一致的跌倒相关药物警戒信号。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674D6-E7D1-4E06-A2E8-72645AC9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ECABC-C501-4B53-BEEB-E75E6A78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62425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TAKEAWAY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4FE07-2283-4246-9731-70630E58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43375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临床上：高龄、多重用药、合并 CNS 药物时要更谨慎。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EC437-B257-4C86-A188-4B18A7B1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F13C8E-8FD6-45FA-B586-B926AAD6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76775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TAKEAWAY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C4D76-C039-46D5-BF0C-B78D5322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57725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研究上：FAERS 适合发现信号，下一步要用真实世界数据库验证。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2C211-8B4F-4A60-8027-18E58F91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356E4-A74E-49AD-A5A7-87E8C1D1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91125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TAKEAWAY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0C047-10F4-465B-B3AF-340F3929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72075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1A23"/>
                </a:solidFill>
                <a:latin typeface="Microsoft YaHei"/>
                <a:ea typeface="Microsoft YaHei"/>
                <a:cs typeface="Microsoft YaHei"/>
              </a:rPr>
              <a:t>方法上：机器学习可用于病例排序，但不能替代传统信号检测。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72FFB-9A94-4E34-B1A9-C2F33FF8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D0E1D9-6944-4068-B7C5-AD2B1E78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47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资料来源：项目 README、thesis_extracted.txt、OUTPUT_GLOBAL_COUNTRY 与 OUTPUT_ML 输出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C88C5B-2724-4425-92F9-82D52F17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336156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2026-05-25T08:04:24.1380000Z</dcterms:created>
  <dcterms:modified xsi:type="dcterms:W3CDTF">2026-05-25T08:04:24.1380000Z</dcterms:modified>
</coreProperties>
</file>