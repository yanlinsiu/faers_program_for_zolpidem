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1"/>
  </p:notesMasterIdLst>
  <p:handoutMasterIdLst>
    <p:handoutMasterId r:id="rId42"/>
  </p:handoutMasterIdLst>
  <p:sldIdLst>
    <p:sldId id="256" r:id="rId2"/>
    <p:sldId id="690" r:id="rId3"/>
    <p:sldId id="257" r:id="rId4"/>
    <p:sldId id="303" r:id="rId5"/>
    <p:sldId id="337" r:id="rId6"/>
    <p:sldId id="393" r:id="rId7"/>
    <p:sldId id="404" r:id="rId8"/>
    <p:sldId id="684" r:id="rId9"/>
    <p:sldId id="689" r:id="rId10"/>
    <p:sldId id="397" r:id="rId11"/>
    <p:sldId id="388" r:id="rId12"/>
    <p:sldId id="694" r:id="rId13"/>
    <p:sldId id="747" r:id="rId14"/>
    <p:sldId id="697" r:id="rId15"/>
    <p:sldId id="699" r:id="rId16"/>
    <p:sldId id="700" r:id="rId17"/>
    <p:sldId id="705" r:id="rId18"/>
    <p:sldId id="708" r:id="rId19"/>
    <p:sldId id="707" r:id="rId20"/>
    <p:sldId id="736" r:id="rId21"/>
    <p:sldId id="730" r:id="rId22"/>
    <p:sldId id="389" r:id="rId23"/>
    <p:sldId id="709" r:id="rId24"/>
    <p:sldId id="710" r:id="rId25"/>
    <p:sldId id="712" r:id="rId26"/>
    <p:sldId id="713" r:id="rId27"/>
    <p:sldId id="715" r:id="rId28"/>
    <p:sldId id="717" r:id="rId29"/>
    <p:sldId id="745" r:id="rId30"/>
    <p:sldId id="719" r:id="rId31"/>
    <p:sldId id="720" r:id="rId32"/>
    <p:sldId id="734" r:id="rId33"/>
    <p:sldId id="744" r:id="rId34"/>
    <p:sldId id="390" r:id="rId35"/>
    <p:sldId id="721" r:id="rId36"/>
    <p:sldId id="749" r:id="rId37"/>
    <p:sldId id="735" r:id="rId38"/>
    <p:sldId id="748" r:id="rId39"/>
    <p:sldId id="392" r:id="rId4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4A2A4"/>
    <a:srgbClr val="014923"/>
    <a:srgbClr val="F59388"/>
    <a:srgbClr val="EF7E89"/>
    <a:srgbClr val="4FC3B4"/>
    <a:srgbClr val="47B3D9"/>
    <a:srgbClr val="75C2BB"/>
    <a:srgbClr val="85D7CF"/>
    <a:srgbClr val="F47D6B"/>
    <a:srgbClr val="83C4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82" autoAdjust="0"/>
    <p:restoredTop sz="81380" autoAdjust="0"/>
  </p:normalViewPr>
  <p:slideViewPr>
    <p:cSldViewPr snapToGrid="0" showGuides="1">
      <p:cViewPr varScale="1">
        <p:scale>
          <a:sx n="86" d="100"/>
          <a:sy n="86" d="100"/>
        </p:scale>
        <p:origin x="1472" y="192"/>
      </p:cViewPr>
      <p:guideLst>
        <p:guide orient="horz" pos="2160"/>
        <p:guide pos="3840"/>
      </p:guideLst>
    </p:cSldViewPr>
  </p:slideViewPr>
  <p:notesTextViewPr>
    <p:cViewPr>
      <p:scale>
        <a:sx n="1" d="1"/>
        <a:sy n="1" d="1"/>
      </p:scale>
      <p:origin x="0" y="0"/>
    </p:cViewPr>
  </p:notesTextViewPr>
  <p:sorterViewPr>
    <p:cViewPr>
      <p:scale>
        <a:sx n="33" d="100"/>
        <a:sy n="33" d="100"/>
      </p:scale>
      <p:origin x="0" y="0"/>
    </p:cViewPr>
  </p:sorterViewPr>
  <p:notesViewPr>
    <p:cSldViewPr snapToGrid="0">
      <p:cViewPr>
        <p:scale>
          <a:sx n="235" d="100"/>
          <a:sy n="235" d="100"/>
        </p:scale>
        <p:origin x="688" y="-755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2025/5/11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46C677B7-A063-47CE-96A3-97C00524F390}" type="datetimeFigureOut">
              <a:rPr lang="zh-CN" altLang="en-US" smtClean="0"/>
              <a:t>2025/5/11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22F668-A711-45D1-A010-12162ED8D5EC}"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FC22F668-A711-45D1-A010-12162ED8D5EC}" type="slidenum">
              <a:rPr lang="zh-CN" altLang="en-US" smtClean="0"/>
              <a:t>1</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sz="1800" kern="100" dirty="0">
              <a:effectLst/>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接下来我将从以下五方面进行我的开题汇报</a:t>
            </a:r>
          </a:p>
        </p:txBody>
      </p:sp>
      <p:sp>
        <p:nvSpPr>
          <p:cNvPr id="4" name="Footer Placeholder 3"/>
          <p:cNvSpPr>
            <a:spLocks noGrp="1"/>
          </p:cNvSpPr>
          <p:nvPr>
            <p:ph type="ftr" sz="quarter" idx="4"/>
          </p:nvPr>
        </p:nvSpPr>
        <p:spPr/>
        <p:txBody>
          <a:bodyPr/>
          <a:lstStyle/>
          <a:p>
            <a:endParaRPr lang="zh-CN" altLang="en-US"/>
          </a:p>
        </p:txBody>
      </p:sp>
      <p:sp>
        <p:nvSpPr>
          <p:cNvPr id="5" name="Slide Number Placeholder 4"/>
          <p:cNvSpPr>
            <a:spLocks noGrp="1"/>
          </p:cNvSpPr>
          <p:nvPr>
            <p:ph type="sldNum" sz="quarter" idx="5"/>
          </p:nvPr>
        </p:nvSpPr>
        <p:spPr/>
        <p:txBody>
          <a:bodyPr/>
          <a:lstStyle/>
          <a:p>
            <a:fld id="{FC22F668-A711-45D1-A010-12162ED8D5EC}" type="slidenum">
              <a:rPr lang="zh-CN" altLang="en-US" smtClean="0"/>
              <a:t>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bg1"/>
                </a:solidFill>
                <a:latin typeface="微软雅黑" panose="020B0503020204020204" pitchFamily="34" charset="-122"/>
                <a:ea typeface="微软雅黑" panose="020B0503020204020204" pitchFamily="34" charset="-122"/>
              </a:rPr>
              <a:t>公众号制作</a:t>
            </a:r>
            <a:endParaRPr lang="zh-CN" altLang="en-US" dirty="0"/>
          </a:p>
        </p:txBody>
      </p:sp>
      <p:sp>
        <p:nvSpPr>
          <p:cNvPr id="4" name="灯片编号占位符 3"/>
          <p:cNvSpPr>
            <a:spLocks noGrp="1"/>
          </p:cNvSpPr>
          <p:nvPr>
            <p:ph type="sldNum" sz="quarter" idx="10"/>
          </p:nvPr>
        </p:nvSpPr>
        <p:spPr/>
        <p:txBody>
          <a:bodyPr/>
          <a:lstStyle/>
          <a:p>
            <a:fld id="{FC22F668-A711-45D1-A010-12162ED8D5EC}" type="slidenum">
              <a:rPr lang="zh-CN" altLang="en-US" smtClean="0"/>
              <a:t>4</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zh-CN" altLang="zh-CN" sz="1800" b="0" dirty="0">
                <a:effectLst/>
                <a:latin typeface="Times New Roman" panose="02020503050405090304" pitchFamily="18" charset="0"/>
                <a:ea typeface="Microsoft YaHei UI" panose="020B0503020204020204" pitchFamily="34" charset="-122"/>
                <a:cs typeface="Times New Roman" panose="02020503050405090304" pitchFamily="18" charset="0"/>
              </a:rPr>
              <a:t>结核病是由结核分枝杆菌引起的一种慢性传染性疾病</a:t>
            </a:r>
            <a:r>
              <a:rPr lang="zh-CN" altLang="en-US" sz="1800" b="0" dirty="0">
                <a:effectLst/>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sz="1800" b="0" dirty="0">
                <a:effectLst/>
                <a:latin typeface="Times New Roman" panose="02020503050405090304" pitchFamily="18" charset="0"/>
                <a:ea typeface="Microsoft YaHei UI" panose="020B0503020204020204" pitchFamily="34" charset="-122"/>
                <a:cs typeface="Times New Roman" panose="02020503050405090304" pitchFamily="18" charset="0"/>
              </a:rPr>
              <a:t>主要侵袭肺组织导致肺结核</a:t>
            </a:r>
            <a:r>
              <a:rPr lang="zh-CN" altLang="en-US" sz="1800" b="0" kern="100" dirty="0">
                <a:effectLst/>
                <a:latin typeface="Times New Roman" panose="02020503050405090304" pitchFamily="18" charset="0"/>
                <a:ea typeface="Microsoft YaHei UI" panose="020B0503020204020204" pitchFamily="34" charset="-122"/>
                <a:cs typeface="Times New Roman" panose="02020503050405090304" pitchFamily="18" charset="0"/>
              </a:rPr>
              <a:t>，最新的结核病报告显示，</a:t>
            </a:r>
            <a:r>
              <a:rPr lang="en-US" altLang="zh-CN" sz="1800" b="0" kern="100" dirty="0">
                <a:effectLst/>
                <a:latin typeface="Times New Roman" panose="02020503050405090304" pitchFamily="18" charset="0"/>
                <a:ea typeface="Microsoft YaHei UI" panose="020B0503020204020204" pitchFamily="34" charset="-122"/>
                <a:cs typeface="Times New Roman" panose="02020503050405090304" pitchFamily="18" charset="0"/>
              </a:rPr>
              <a:t>2023</a:t>
            </a:r>
            <a:r>
              <a:rPr lang="zh-CN" altLang="en-US" sz="1800" b="0" kern="100" dirty="0">
                <a:effectLst/>
                <a:latin typeface="Times New Roman" panose="02020503050405090304" pitchFamily="18" charset="0"/>
                <a:ea typeface="Microsoft YaHei UI" panose="020B0503020204020204" pitchFamily="34" charset="-122"/>
                <a:cs typeface="Times New Roman" panose="02020503050405090304" pitchFamily="18" charset="0"/>
              </a:rPr>
              <a:t>年新发结核病</a:t>
            </a:r>
            <a:r>
              <a:rPr lang="en-US" altLang="zh-CN" sz="1800" b="0" kern="100" dirty="0">
                <a:effectLst/>
                <a:latin typeface="Times New Roman" panose="02020503050405090304" pitchFamily="18" charset="0"/>
                <a:ea typeface="Microsoft YaHei UI" panose="020B0503020204020204" pitchFamily="34" charset="-122"/>
                <a:cs typeface="Times New Roman" panose="02020503050405090304" pitchFamily="18" charset="0"/>
              </a:rPr>
              <a:t>1080</a:t>
            </a:r>
            <a:r>
              <a:rPr lang="zh-CN" altLang="en-US" sz="1800" b="0" kern="100" dirty="0">
                <a:effectLst/>
                <a:latin typeface="Times New Roman" panose="02020503050405090304" pitchFamily="18" charset="0"/>
                <a:ea typeface="Microsoft YaHei UI" panose="020B0503020204020204" pitchFamily="34" charset="-122"/>
                <a:cs typeface="Times New Roman" panose="02020503050405090304" pitchFamily="18" charset="0"/>
              </a:rPr>
              <a:t>万例，死亡</a:t>
            </a:r>
            <a:r>
              <a:rPr lang="en-US" altLang="zh-CN" sz="1800" b="0" kern="100" dirty="0">
                <a:effectLst/>
                <a:latin typeface="Times New Roman" panose="02020503050405090304" pitchFamily="18" charset="0"/>
                <a:ea typeface="Microsoft YaHei UI" panose="020B0503020204020204" pitchFamily="34" charset="-122"/>
                <a:cs typeface="Times New Roman" panose="02020503050405090304" pitchFamily="18" charset="0"/>
              </a:rPr>
              <a:t>125</a:t>
            </a:r>
            <a:r>
              <a:rPr lang="zh-CN" altLang="en-US" sz="1800" b="0" kern="100" dirty="0">
                <a:effectLst/>
                <a:latin typeface="Times New Roman" panose="02020503050405090304" pitchFamily="18" charset="0"/>
                <a:ea typeface="Microsoft YaHei UI" panose="020B0503020204020204" pitchFamily="34" charset="-122"/>
                <a:cs typeface="Times New Roman" panose="02020503050405090304" pitchFamily="18" charset="0"/>
              </a:rPr>
              <a:t>万例，结核病再次成为单一传染病死亡的首要原因，造成重大疾病负担</a:t>
            </a:r>
            <a:endParaRPr lang="zh-CN" altLang="en-US" sz="1800" b="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5</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b="0" dirty="0">
                <a:effectLst/>
                <a:latin typeface="Times New Roman" panose="02020503050405090304" pitchFamily="18" charset="0"/>
                <a:ea typeface="宋体" pitchFamily="2" charset="-122"/>
                <a:cs typeface="Times New Roman" panose="02020503050405090304" pitchFamily="18" charset="0"/>
              </a:rPr>
              <a:t>尽管抗结核治疗已经取得了显著进展</a:t>
            </a:r>
            <a:r>
              <a:rPr lang="en-US" altLang="zh-CN" sz="1800" b="0" baseline="30000" dirty="0">
                <a:effectLst/>
                <a:latin typeface="Times New Roman" panose="02020503050405090304" pitchFamily="18" charset="0"/>
                <a:ea typeface="宋体" pitchFamily="2" charset="-122"/>
              </a:rPr>
              <a:t>[2]</a:t>
            </a:r>
            <a:r>
              <a:rPr lang="zh-CN" altLang="zh-CN" sz="1800" b="0" dirty="0">
                <a:effectLst/>
                <a:latin typeface="Times New Roman" panose="02020503050405090304" pitchFamily="18" charset="0"/>
                <a:ea typeface="宋体" pitchFamily="2" charset="-122"/>
                <a:cs typeface="Times New Roman" panose="02020503050405090304" pitchFamily="18" charset="0"/>
              </a:rPr>
              <a:t>，但仍有一部分患者无法获得理想的治疗结局，</a:t>
            </a:r>
            <a:r>
              <a:rPr lang="zh-CN" altLang="en-US" sz="1800" b="0" dirty="0">
                <a:effectLst/>
                <a:latin typeface="Times New Roman" panose="02020503050405090304" pitchFamily="18" charset="0"/>
                <a:ea typeface="宋体" pitchFamily="2" charset="-122"/>
                <a:cs typeface="Times New Roman" panose="02020503050405090304" pitchFamily="18" charset="0"/>
              </a:rPr>
              <a:t>这</a:t>
            </a:r>
            <a:r>
              <a:rPr lang="zh-CN" altLang="en-US" sz="1800" b="0" dirty="0">
                <a:effectLst/>
              </a:rPr>
              <a:t>增加了个人、家庭和社会的疾病负担，因此，构建肺结核预后模型，可以早期发现高危人群，对改善患者预后、降低疾病负担具有重要意义</a:t>
            </a:r>
            <a:endParaRPr lang="zh-CN" altLang="en-US" sz="1800" b="0" dirty="0"/>
          </a:p>
        </p:txBody>
      </p:sp>
      <p:sp>
        <p:nvSpPr>
          <p:cNvPr id="4" name="灯片编号占位符 3"/>
          <p:cNvSpPr>
            <a:spLocks noGrp="1"/>
          </p:cNvSpPr>
          <p:nvPr>
            <p:ph type="sldNum" sz="quarter" idx="10"/>
          </p:nvPr>
        </p:nvSpPr>
        <p:spPr/>
        <p:txBody>
          <a:bodyPr/>
          <a:lstStyle/>
          <a:p>
            <a:fld id="{FC22F668-A711-45D1-A010-12162ED8D5EC}" type="slidenum">
              <a:rPr lang="zh-CN" altLang="en-US" smtClean="0"/>
              <a:t>6</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algn="l" defTabSz="914400" rtl="0" eaLnBrk="1" latinLnBrk="0" hangingPunct="1"/>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炎症反应与结核病的发生发展密切相关。促炎机制</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是为了</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控制</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细菌</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感染，然而，过度、长期的</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炎症</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反应</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反而会促进</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结核病的</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进展</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[6]</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 </a:t>
            </a: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7</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廉价且易获得的临床常规检测是评估炎症</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状态</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的重要工具，基于血常规</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我们可以获得一些炎症指标，这些指标在近期被</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引入结核病的</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预后</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评估，</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研究</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发现</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CRP</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与</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 HIV </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阳性结核病患者的短期死亡率显著相关</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模型</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在</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预测</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耐药</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患者死亡率</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方面</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性能良好 </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[9]</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。然而，这些研究仅关注了特殊人群，同时，</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临床上提出了新的炎症指标</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 </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[7,10]</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，但尚无研究评估其</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对结核病预后</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的影响。 </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因此，</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了解炎症水平对肺结核预后的影响，并开发基于炎症的预后模型对于肺结核治疗决策至关重要。</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8</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304800" algn="l" defTabSz="914400" rtl="0" eaLnBrk="1" latinLnBrk="0" hangingPunct="1">
              <a:lnSpc>
                <a:spcPct val="150000"/>
              </a:lnSpc>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在结核病预后模型方面，一项</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meta</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分析显示，</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92%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的预后模型采用</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临床和流行病学特征作为预测因子，炎症指标应用有限，</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indent="304800" algn="l" defTabSz="914400" rtl="0" eaLnBrk="1" latinLnBrk="0" hangingPunct="1">
              <a:lnSpc>
                <a:spcPct val="150000"/>
              </a:lnSpc>
            </a:pP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在算法上，仍以逻辑回归为主，</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非线性建模算法</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应用有限，</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在使用非</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logistic</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算法的研究中，研究对象、数据模式各异，</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报告的最佳算法也不尽相同，需要根据特定的数据和环境构建模型</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304800" algn="l" defTabSz="914400" rtl="0" eaLnBrk="1" fontAlgn="auto" latinLnBrk="0" hangingPunct="1">
              <a:lnSpc>
                <a:spcPct val="15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此外，在结核病背景下，预后数据存在显著的类别不平衡问题</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这可能导致模型偏向于预测多数类而忽略了少数类别，现有的研究</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未能充分反映类别不平衡的影响，或者未对这种不平衡性进行有效处理</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9</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综上所述，针对现有研究的一些不足之处，本研究拟探究</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血液炎症指标与不良结局的关联</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及</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关联的人群异质性 </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，引入炎症特征并评估其对基于临床人口学特征预后模型的优化效果，应用非线性建模算法并探究常见数据平衡策略对模型的优化效果</a:t>
            </a: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4000" dirty="0">
              <a:effectLst/>
            </a:endParaRPr>
          </a:p>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2800" dirty="0"/>
          </a:p>
        </p:txBody>
      </p:sp>
      <p:sp>
        <p:nvSpPr>
          <p:cNvPr id="4" name="灯片编号占位符 3"/>
          <p:cNvSpPr>
            <a:spLocks noGrp="1"/>
          </p:cNvSpPr>
          <p:nvPr>
            <p:ph type="sldNum" sz="quarter" idx="10"/>
          </p:nvPr>
        </p:nvSpPr>
        <p:spPr/>
        <p:txBody>
          <a:bodyPr/>
          <a:lstStyle/>
          <a:p>
            <a:fld id="{FC22F668-A711-45D1-A010-12162ED8D5EC}" type="slidenum">
              <a:rPr lang="zh-CN" altLang="en-US" smtClean="0"/>
              <a:t>10</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bg1"/>
                </a:solidFill>
                <a:latin typeface="微软雅黑" panose="020B0503020204020204" pitchFamily="34" charset="-122"/>
                <a:ea typeface="微软雅黑" panose="020B0503020204020204" pitchFamily="34" charset="-122"/>
              </a:rPr>
              <a:t>公众号制作</a:t>
            </a:r>
            <a:endParaRPr lang="zh-CN" altLang="en-US" dirty="0"/>
          </a:p>
        </p:txBody>
      </p:sp>
      <p:sp>
        <p:nvSpPr>
          <p:cNvPr id="4" name="灯片编号占位符 3"/>
          <p:cNvSpPr>
            <a:spLocks noGrp="1"/>
          </p:cNvSpPr>
          <p:nvPr>
            <p:ph type="sldNum" sz="quarter" idx="10"/>
          </p:nvPr>
        </p:nvSpPr>
        <p:spPr/>
        <p:txBody>
          <a:bodyPr/>
          <a:lstStyle/>
          <a:p>
            <a:fld id="{FC22F668-A711-45D1-A010-12162ED8D5EC}" type="slidenum">
              <a:rPr lang="zh-CN" altLang="en-US" smtClean="0"/>
              <a:t>11</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纳入</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2017</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年</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月至</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2022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年</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月，在深圳市第三人民医院登记治疗并完成血常规检测的肺结核患者，收集的特征包括炎症指标、治疗结局和临床人口学特征</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12</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just">
              <a:spcBef>
                <a:spcPts val="0"/>
              </a:spcBef>
              <a:spcAft>
                <a:spcPts val="0"/>
              </a:spcAft>
            </a:pPr>
            <a:r>
              <a:rPr lang="zh-CN" altLang="en-US" sz="1800" kern="100" dirty="0">
                <a:effectLst/>
                <a:latin typeface="Times New Roman" panose="02020503050405090304" pitchFamily="18" charset="0"/>
              </a:rPr>
              <a:t>对收集的数据进行清洗后，从三方面进行患者特征描述，对缺失数据进行多重插补，划分炎症状态后，进行</a:t>
            </a:r>
            <a:r>
              <a:rPr kumimoji="0" lang="en-US" altLang="zh-CN" sz="1800" b="0" i="0" u="none" strike="noStrike" kern="1200" cap="none" spc="0" normalizeH="0" baseline="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K-M</a:t>
            </a:r>
            <a:r>
              <a:rPr kumimoji="0" lang="zh-CN" altLang="en-US" sz="1800" b="0" i="0" u="none" strike="noStrike" kern="1200" cap="none" spc="0" normalizeH="0" baseline="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分析、</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Cox</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回归模型和</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RCS</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分析评估累计风险差异、关联程度及形式，亚组分析用于探究关联的人群异质性，并通过两项敏感性分析评估结果的稳健性</a:t>
            </a:r>
            <a:endParaRPr kumimoji="0" lang="zh-CN" altLang="en-US" sz="1800" b="0" i="0" u="none" strike="noStrike" kern="1200" cap="none" spc="0" normalizeH="0" baseline="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13</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首先是患者的基线特征，共纳入</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4027</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名肺结核患者，与治疗成功的患者相比，不良结局患者中常见临床危险因素占比更高，包括年龄、</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BMI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、男性、无业、复治、结核病相关症状、合并症、</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月末病原学阳性率、异常胸片表现。</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其</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中位年龄为</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38</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岁，中位治疗时间为</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9.37</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月，以男性、流动人口和初治患者为主，咳嗽和糖尿病分别是最常见的结核病相关症状和合并症，</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97.4%</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的患者基线病原学阳性，仍有</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8.73%</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的患者治疗</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月末呈阳性，敏感和耐多药患者分别有</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2456</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163</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例</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与治疗成功的患者相比，发生不良结局的患者：年龄更大、</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BMI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较低、男性较多、无业人员、复治患者更多、咳痰、乏力和体重减轻发生率更高、糖尿病、高血压、肿瘤和贫血的患病率更高、</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月末病原学阳性率更高、肺部空洞、胸膜炎、胸腔积液和耐药检出率更高</a:t>
            </a:r>
          </a:p>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sz="18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0" marR="0" lvl="0" indent="0" algn="just" defTabSz="914400" rtl="0" eaLnBrk="1" fontAlgn="auto" latinLnBrk="0" hangingPunct="1">
              <a:lnSpc>
                <a:spcPct val="100000"/>
              </a:lnSpc>
              <a:spcBef>
                <a:spcPts val="0"/>
              </a:spcBef>
              <a:spcAft>
                <a:spcPts val="0"/>
              </a:spcAft>
              <a:buClrTx/>
              <a:buSzTx/>
              <a:buFontTx/>
              <a:buNone/>
              <a:defRPr/>
            </a:pPr>
            <a:endParaRPr lang="en-US" altLang="zh-CN" sz="18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0" marR="0" algn="just">
              <a:spcBef>
                <a:spcPts val="0"/>
              </a:spcBef>
              <a:spcAft>
                <a:spcPts val="0"/>
              </a:spcAft>
            </a:pPr>
            <a:endParaRPr lang="zh-CN" altLang="en-US" sz="1800" kern="100" dirty="0">
              <a:effectLst/>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14</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炎症指标上，观察到不良结局患者普遍伴有较高的炎症水平，而在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EMR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中，观察到相反的现象</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15</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K-M</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分析显示，基于</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MLR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PNI</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SII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SIRI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划分的不同炎症状态下，患者的不良结局的累计发生风险存在显著差异</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16</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单因素和多因素</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Cox</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回归模型均显示：根据</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noProof="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SII</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SIRI</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划分的炎症状态，从</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Q1</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组到</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Q3</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组的不良结局危险效应逐渐增加</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而</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的危险效应则逐渐降低</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校正人口统计学和临床特征（</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Model3</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）后，与</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Q1</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组相比，处于</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noProof="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SII</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SIRI</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的</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Q3</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组的患者发生不良结局的风险提高</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45%-99%</a:t>
            </a:r>
            <a:r>
              <a:rPr lang="zh-CN" altLang="en-GB"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相反，处于</a:t>
            </a:r>
            <a:r>
              <a:rPr lang="en-GB"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ENR Q3</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组的患者的不良结局发生风险降低</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29%</a:t>
            </a: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17</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RCS</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表明，</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不良预后风险与</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CAR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CLR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sym typeface="+mn-ea"/>
              </a:rPr>
              <a:t>dNLR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SII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SIRI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呈正线性关联，与</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ENR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呈负线性关联，在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MLR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NLR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PNI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sym typeface="+mn-ea"/>
              </a:rPr>
              <a:t>中则表现为非线性关联</a:t>
            </a: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18</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亚组分析发现，炎症状态与不良预后风险的关联存在人群异质性：</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主要表现为特异性危险效应和危险效应低剂量化，以性别差异为例，特异性危险效应是指仅在男性中危险效应存在显著性，而在女性中未观察到显著的危险效应。</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危险效应低剂量化是指，某些指标在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Q2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组提前出现了显著的危险效应。</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首先在年龄大于</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30</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岁的人群、男性、耐多药结核病、肺部空洞、非糖尿病患者和非乙型肝炎病毒感染者中，</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SII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SIRI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存在特异性危险效应，比如说，仅在男性中观察到显著的危险效应，而女性中效应未达到统计学意义</a:t>
            </a:r>
          </a:p>
          <a:p>
            <a:pPr marL="0" marR="0" algn="l" defTabSz="914400" rtl="0" eaLnBrk="1" latinLnBrk="0" hangingPunct="1">
              <a:spcBef>
                <a:spcPts val="0"/>
              </a:spcBef>
              <a:spcAft>
                <a:spcPts val="0"/>
              </a:spcAft>
            </a:pP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其次在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30-60</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岁年龄组、男性、超重者、复治患者以及合并肿瘤者中，</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SII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的危险效应低剂量化，也就是说危险效应在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Q2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水平已经出现显著性</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敏感性分析与主要分析结果基本一致，表明结果具有一定稳健性</a:t>
            </a:r>
          </a:p>
          <a:p>
            <a:pPr marL="0" marR="0" algn="just">
              <a:spcBef>
                <a:spcPts val="0"/>
              </a:spcBef>
              <a:spcAft>
                <a:spcPts val="0"/>
              </a:spcAft>
            </a:pP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just">
              <a:spcBef>
                <a:spcPts val="0"/>
              </a:spcBef>
              <a:spcAft>
                <a:spcPts val="0"/>
              </a:spcAft>
            </a:pPr>
            <a:endParaRPr lang="zh-CN" altLang="en-US" sz="1800" kern="100" dirty="0">
              <a:effectLst/>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19</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just">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对本章结果进行讨论小结，与既往研究一致，本研究也发现了</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的危险效应，此外发现了</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SII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SIRI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等新指标对预后的不良影响，这反映了多种免疫细胞和因子对预后的综合影响，此外，</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升高的保护效应，验证了近期的一项动物研究结果，该研究发现嗜酸性粒细胞可抑制结核分枝杆菌生长，可能发挥保护作用。此外，在其他疾病中，炎症指标与预后也可存在非线性关联，与本研究结果一致</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20</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本研究还发现炎症指标与肺结核预后关联存在人群异质性，年龄异质性反映了年龄相关的免疫功能衰退，导致年长者面临更高的不良预后风险</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两性的免疫应答能力、激素以及生活行为方式可能导致了性别异质性</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相比于敏感患者，耐多药患者感染和治疗周期较长，长期的慢性炎症加重了病理损伤，此外，免疫逃避可能使炎症反应更具持续性和破坏性</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研究发现存在肺部空洞的患者，空洞壁与周围组织炎症状态相似，而肉芽肿液化形成空洞前，周围组织炎症水平显著低于病灶，提示空洞患者中</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炎症和组织破坏扩散至更广泛的肺组织</a:t>
            </a: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糖尿病和乙肝均为慢性炎性疾病，研究表明</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合并症者基线炎症水平更高，结核病治疗期间</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持续存在高炎症状态，并存在免疫调控异常，这些可能掩盖了结核病诱导的炎症特征，削弱了炎症指标与不良预后的关联</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21</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bg1"/>
                </a:solidFill>
                <a:latin typeface="微软雅黑" panose="020B0503020204020204" pitchFamily="34" charset="-122"/>
                <a:ea typeface="微软雅黑" panose="020B0503020204020204" pitchFamily="34" charset="-122"/>
              </a:rPr>
              <a:t>公众号制作</a:t>
            </a:r>
            <a:endParaRPr lang="zh-CN" altLang="en-US" dirty="0"/>
          </a:p>
        </p:txBody>
      </p:sp>
      <p:sp>
        <p:nvSpPr>
          <p:cNvPr id="4" name="灯片编号占位符 3"/>
          <p:cNvSpPr>
            <a:spLocks noGrp="1"/>
          </p:cNvSpPr>
          <p:nvPr>
            <p:ph type="sldNum" sz="quarter" idx="10"/>
          </p:nvPr>
        </p:nvSpPr>
        <p:spPr/>
        <p:txBody>
          <a:bodyPr/>
          <a:lstStyle/>
          <a:p>
            <a:fld id="{FC22F668-A711-45D1-A010-12162ED8D5EC}" type="slidenum">
              <a:rPr lang="zh-CN" altLang="en-US" smtClean="0"/>
              <a:t>22</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首先是研究方法。本章节的研究对象和数据与第二章相同，数据经过预处理后，按照</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7:3</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划分训练集和测试集，分为三种特征类型对进行特征工程，采用欠采样、过采样和混合采样降低数据不平衡，然后，输入随机森林和</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中进行训练和验证，在测试集上进行模型评价，评价指标包括灵敏度、特异度、平衡准确度，</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F2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分数、</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AUROC</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，最后应用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可解释性分析了解特征重要性、特征的单一影响及特征间的交互作用</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23</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研究结果部分，首先采用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lasso</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回归进行特征工程，左图展示了</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Lasso</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回归系数路径图与正则化路径图，右表展示了对应选择出的临床特征、炎症特征和组合特征，这些特征将用于下游的模型构建</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24</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然后是参数调优，分别在随机森林和</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上进行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SMOTE</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ENN</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的参数调优，图片展示了调优过程，表格对最佳参数进行汇总</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25</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对算法的超参数进行贝叶斯调优，表格展示了各模型的的最优超参数组合</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26</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参数调优后，进行模型的构建与评价，右图是不同数据增强策略、特征类型和机器学习算法组合下的评价指标，从上到下为不同数据增强策略，从左到右为两种算法，每个图中，绿色代表基于临床特征的</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Clinical</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模型，蓝色代表基于炎症特征的</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Inflammation</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模型，红色代表基于组合特征的</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Combine</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模型，首先比较不同特征类型对模型性能的影响，对比单一特征模型，发现</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Clinical</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模型特异度较高但灵敏度较低，这与既往研究的结果一致，提示其假阴性风险较高，可能导致高危患者漏诊和干预延误，进而导致不良预后。而</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Inflammation</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模型灵敏度较高而特异度较低。虽假阳性率升高，但预后场景中假阴性的危害更显著。将两类特征进行组合后，发现</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Combine</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模型</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取得更高的平衡准确度、</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F2</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分数和</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AUROC</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，表明炎症特征可优化基于临床特征模型的预测性能。</a:t>
            </a: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just">
              <a:spcBef>
                <a:spcPts val="0"/>
              </a:spcBef>
              <a:spcAft>
                <a:spcPts val="0"/>
              </a:spcAft>
            </a:pPr>
            <a:endParaRPr lang="zh-CN" altLang="en-US" sz="18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p>
            <a:pPr marL="0" marR="0" algn="just">
              <a:spcBef>
                <a:spcPts val="0"/>
              </a:spcBef>
              <a:spcAft>
                <a:spcPts val="0"/>
              </a:spcAft>
            </a:pPr>
            <a:endParaRPr lang="zh-CN" altLang="en-US" sz="1800" kern="100" dirty="0">
              <a:effectLst/>
              <a:latin typeface="Times New Roman" panose="02020503050405090304" pitchFamily="18" charset="0"/>
            </a:endParaRPr>
          </a:p>
          <a:p>
            <a:pPr marL="0" marR="0" algn="just">
              <a:spcBef>
                <a:spcPts val="0"/>
              </a:spcBef>
              <a:spcAft>
                <a:spcPts val="0"/>
              </a:spcAft>
            </a:pPr>
            <a:endParaRPr lang="zh-CN" altLang="en-US" sz="1800" kern="100" dirty="0">
              <a:effectLst/>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27</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由于组合模型优于单一特征模型，因此，在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Combine</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模型中，进一步比较不同数据增强策略与算法组合对模型性能的影响，对比</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图和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B</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图，发现仅在基于聚类的欠采样中随机森林优于</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，在其他三种策略下</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优于随机森林。</a:t>
            </a: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从</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F2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分数来看，在单一算法中</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SMOTE+ENN</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表现最佳，基于聚类的欠采样与随机森林组合时</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F2</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分数上升，而与</a:t>
            </a:r>
            <a:r>
              <a:rPr lang="en-US" altLang="zh-CN" sz="1800" b="0" kern="1200" noProof="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组合时</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F2</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分数下降，</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SMOTE</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与</a:t>
            </a:r>
            <a:r>
              <a:rPr lang="en-US" altLang="zh-CN" sz="1800" b="0" kern="1200" noProof="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组合时</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F2</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分数上升。与随机森林的组合未能优化</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F2</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分数</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从整体区分力来看，</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SMOTE+ENN</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为最佳重采样策略，与</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的组合获得最大</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AUROC</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。而基于聚类的欠采样与</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SMOTE</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均使模型整体预测性能下降  </a:t>
            </a:r>
          </a:p>
          <a:p>
            <a:pPr marL="0" marR="0" lvl="0" indent="0" algn="just" defTabSz="914400" rtl="0" eaLnBrk="1" fontAlgn="auto" latinLnBrk="0" hangingPunct="1">
              <a:lnSpc>
                <a:spcPct val="100000"/>
              </a:lnSpc>
              <a:spcBef>
                <a:spcPts val="0"/>
              </a:spcBef>
              <a:spcAft>
                <a:spcPts val="0"/>
              </a:spcAft>
              <a:buClrTx/>
              <a:buSzTx/>
              <a:buFontTx/>
              <a:buNone/>
              <a:defRPr/>
            </a:pPr>
            <a:endParaRPr lang="en-US" altLang="zh-CN" sz="18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endParaRPr>
          </a:p>
          <a:p>
            <a:pPr marL="0" marR="0" algn="just">
              <a:spcBef>
                <a:spcPts val="0"/>
              </a:spcBef>
              <a:spcAft>
                <a:spcPts val="0"/>
              </a:spcAft>
            </a:pPr>
            <a:endParaRPr lang="zh-CN" altLang="en-US" sz="1800" kern="100" dirty="0">
              <a:effectLst/>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28</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接着进行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可解释性分析，右边的蜂窝图从上到下表明特征重要性递减，每一个特征中，</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点的颜色显示特征值的大小，</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红色代表高值，蓝色代表低值，灰色为分类变量，</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点的位置反映特征值的影响方向，越靠右侧代表特征值对预测不良结局的正向贡献越大，越靠左侧则代表负向贡献越大</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那么从这张蜂窝图中可以看出，</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炎症指标重要性高于大多数临床特征，</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不良预后风险随年龄</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noProof="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SIRI</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升高而升高，随</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EMR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降低而降低</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年龄、药敏</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病原结果、治疗分类、空洞、贫血、胸膜病变是重要的临床特征</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just">
              <a:spcBef>
                <a:spcPts val="0"/>
              </a:spcBef>
              <a:spcAft>
                <a:spcPts val="0"/>
              </a:spcAft>
            </a:pPr>
            <a:endParaRPr lang="zh-CN" altLang="en-US" sz="1800" kern="100" dirty="0">
              <a:effectLst/>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29</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单一特征依赖是指在模型预测中，</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值随预测特征变化</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呈现</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的响应过程。</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右图表明年龄、</a:t>
            </a:r>
            <a:r>
              <a:rPr lang="en-GB"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SIRI</a:t>
            </a:r>
            <a:r>
              <a:rPr lang="zh-CN" altLang="en-GB"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增高</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导致不良预后风险增大，而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EMR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升高可降低不良结局风险，发挥保护效应，</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P NI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则表现出双向效应</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30</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交互作用依赖图通过引入新特征作为第三轴颜色映射，来展示不同特征组合对模型</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值的影响，可反映特征之间的潜在交互作用。</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我们</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广泛探索了前</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15</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个重要特征之间的相互作用，并绘制</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左图这张</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交互作用摘要图</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，对角线为特征主效应，两侧为交互效应，</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交互效应点分布越离散，提示两特征间交互作用越强 </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摘要图显示</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在年龄与炎症特征间观察到较多的交互作用，部分炎症特征间也存在一定程度的交互作用，而其他临床特征间及其与炎症特征交互作用较弱。</a:t>
            </a:r>
          </a:p>
          <a:p>
            <a:pPr marL="0" marR="0" algn="l" defTabSz="914400" rtl="0" eaLnBrk="1" latinLnBrk="0" hangingPunct="1">
              <a:spcBef>
                <a:spcPts val="0"/>
              </a:spcBef>
              <a:spcAft>
                <a:spcPts val="0"/>
              </a:spcAft>
            </a:pP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基于摘要图，</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分别绘制年龄及炎症特征与其他特征间的交互作用依赖图。</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如右图所示，</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年龄增大导致的不良预后风险升高受到</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PNI</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的调节作用。在年龄小于</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42</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岁的人群中，</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升高使</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值负向增大，即患者治疗成功概率增大。在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42-77</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岁年龄段，</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的高值集中于高</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值区，表明不良预后风险随之增加，而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EMR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PNI</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的高值集中于低</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值区，提示其具有保护效应。在高龄组（</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&gt;77</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岁）中，相较于低值，</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CAR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的高值使</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值的垂直分布更加离散，提示这些特征可能进一步增加不良预后风险。 </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在炎症特征间，发现</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dNLR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NLR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升高削弱了</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的保护效应，</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EMR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ENR</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和</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PNI</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的高值则相互补偿，减弱了低值时保护效应不足的影响</a:t>
            </a: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31</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对本章结果进行讨论小结，首先，本研究发现炎症特征可提升临床特征预后模型性能，与既往研究一致，</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Cheng</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等人发现引入炎症特征可使临床特征预后模型</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AUC</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提升约</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15%-22%</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Qi</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等人发现炎症指标的预测性能普遍高于临床指标，组合模型获得最高</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AUC0.771</a:t>
            </a: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其次，算法和数据增强策略共同影响模型性能。在算法上，</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随机森林是一种经典且稳健的机器学习算法</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则是一种较新的梯度提升树模型，具有</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高效处理类别特征和优化预测偏移的能力</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不同研究对两者的性能比较存在差异 </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，在本研究中，</a:t>
            </a:r>
            <a:r>
              <a:rPr lang="en-US" altLang="zh-CN" sz="1800" b="0" kern="1200" noProof="0" dirty="0" err="1">
                <a:solidFill>
                  <a:schemeClr val="tx1"/>
                </a:solidFill>
                <a:effectLst/>
                <a:latin typeface="Times New Roman" panose="02020503050405090304" pitchFamily="18" charset="0"/>
                <a:ea typeface="宋体" pitchFamily="2" charset="-122"/>
                <a:cs typeface="Times New Roman" panose="02020503050405090304" pitchFamily="18" charset="0"/>
              </a:rPr>
              <a:t>Catboost</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普遍优于随机森林</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在数据增强策略上，本研究发现，与未增强数据相比，</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SMOTE+ENN </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使模型性能提升，而</a:t>
            </a:r>
            <a:r>
              <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SMOTE</a:t>
            </a: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和欠采样则使模型性能下降。</a:t>
            </a:r>
            <a:endParaRPr lang="en-US" altLang="zh-CN"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noProof="0" dirty="0">
                <a:solidFill>
                  <a:schemeClr val="tx1"/>
                </a:solidFill>
                <a:effectLst/>
                <a:latin typeface="Times New Roman" panose="02020503050405090304" pitchFamily="18" charset="0"/>
                <a:ea typeface="宋体" pitchFamily="2" charset="-122"/>
                <a:cs typeface="Times New Roman" panose="02020503050405090304" pitchFamily="18" charset="0"/>
              </a:rPr>
              <a:t>两种过采样均优于欠采样，与福图一</a:t>
            </a:r>
            <a:r>
              <a:rPr lang="en-US" altLang="zh-CN" sz="1800" b="0" kern="1200" dirty="0" err="1">
                <a:solidFill>
                  <a:schemeClr val="tx1"/>
                </a:solidFill>
                <a:effectLst/>
                <a:latin typeface="Times New Roman" panose="02020503050405090304" pitchFamily="18" charset="0"/>
                <a:ea typeface="宋体" pitchFamily="2" charset="-122"/>
                <a:cs typeface="Times New Roman" panose="02020503050405090304" pitchFamily="18" charset="0"/>
              </a:rPr>
              <a:t>Fotouhi</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等人</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研究结果一致，他们利用</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SEER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数据库的癌症数据集，这些数据集具有不同的不平衡度，发现数据不平衡度</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IR</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越高，过采样提升效果越佳 。本研究的不平衡度为</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16.9</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当少数类较少时，欠采样会产生过小的平衡数据集，这反过来可能会限制模型的性能 </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然而，与原始数据相比，</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SMOTE</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使</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AUROC</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降低，提示本研究数据集可能存在分布边缘化的问题。对位于决策边缘的不良结局样本进行过采样时，新生成的样本大多仍处于正负类边缘，且随两类样本的平衡加重边缘化</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[133]</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针对</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这一问题，本研究进一步引入</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ENN</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技术，用于降低噪声和错误分类的样本</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[165]</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。与多项研究一致</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[165–167]</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SMOTE+ENN</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混合采样使模型的</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AUROC</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在两类算法中得以提高。 </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just">
              <a:spcBef>
                <a:spcPts val="0"/>
              </a:spcBef>
              <a:spcAft>
                <a:spcPts val="0"/>
              </a:spcAft>
            </a:pPr>
            <a:endParaRPr kumimoji="0" lang="en-US" altLang="zh-CN" sz="180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32</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基于</a:t>
            </a:r>
            <a:r>
              <a:rPr lang="en-GB"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SHAP</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分析，本研究识别了影响肺结核患者预后的</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15</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个关键特征，其中年龄是最重要的影响因素。患者的不良预后风险随年龄增长而持续升高，这可能与机体免疫功能的衰退</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[118]</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以及基础疾病的增加</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[171]</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有关。研究发现老年组风险较青年组高</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12%-140%</a:t>
            </a:r>
            <a:endPar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除年龄外，耐多药结核病、二月末病原学阳性、复治、空洞、贫血和胸膜病变也是重要的预后风险因素。这些特征可相互作用，共同促进疾病进展并增加不良结局的发生风险。</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耐多药结核病药物选择受限，加上疗程长、药物副作用大，可导致依从性降低，最终影响治疗成功率并增加复发风险。</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复治患者包括完成治疗后复发和中断后再治疗者，长期反复治疗使其耐药风险进一步上升</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[175]</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二月末病原学结果可作为早期微生物学预后指标</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[176]</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，其持续阳性与不良预后相关，同时，它与肺部空洞也是肺结核复发的独立预测因子</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[178]</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空洞和胸膜病变则反映肺组织破坏严重，当机体免疫功能难以有效控制感染时，导致空洞和胸膜病变的形成。提示病情较重</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此外，肺结核作为一种消耗性疾病，可导致慢性炎症状态和营养不良，从而引发贫血，而贫血反过来也可能加重疾病进展</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[179]</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，形成恶性循环。</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综上，这些因素在肺结核的疾病过程中彼此关联，共同影响患者的临床结局。</a:t>
            </a:r>
          </a:p>
          <a:p>
            <a:pPr marL="0" marR="0" algn="l" defTabSz="914400" rtl="0" eaLnBrk="1" latinLnBrk="0" hangingPunct="1">
              <a:spcBef>
                <a:spcPts val="0"/>
              </a:spcBef>
              <a:spcAft>
                <a:spcPts val="0"/>
              </a:spcAft>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关于炎症特征，本文</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2.5</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节已着重讨论未来研究应探索这些指标在个性化治疗中的潜在价值，例如宿主导向炎症调控策略</a:t>
            </a:r>
            <a:r>
              <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[180]</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，以优化治疗决策和改善长期预后。</a:t>
            </a:r>
          </a:p>
          <a:p>
            <a:pPr marL="0" marR="0" algn="just">
              <a:spcBef>
                <a:spcPts val="0"/>
              </a:spcBef>
              <a:spcAft>
                <a:spcPts val="0"/>
              </a:spcAft>
            </a:pPr>
            <a:endParaRPr lang="zh-CN" altLang="en-US" sz="1800" kern="100" dirty="0">
              <a:effectLst/>
              <a:latin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33</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bg1"/>
                </a:solidFill>
                <a:latin typeface="微软雅黑" panose="020B0503020204020204" pitchFamily="34" charset="-122"/>
                <a:ea typeface="微软雅黑" panose="020B0503020204020204" pitchFamily="34" charset="-122"/>
              </a:rPr>
              <a:t>公众号制作</a:t>
            </a:r>
            <a:endParaRPr lang="zh-CN" altLang="en-US" dirty="0"/>
          </a:p>
        </p:txBody>
      </p:sp>
      <p:sp>
        <p:nvSpPr>
          <p:cNvPr id="4" name="灯片编号占位符 3"/>
          <p:cNvSpPr>
            <a:spLocks noGrp="1"/>
          </p:cNvSpPr>
          <p:nvPr>
            <p:ph type="sldNum" sz="quarter" idx="10"/>
          </p:nvPr>
        </p:nvSpPr>
        <p:spPr/>
        <p:txBody>
          <a:bodyPr/>
          <a:lstStyle/>
          <a:p>
            <a:fld id="{FC22F668-A711-45D1-A010-12162ED8D5EC}" type="slidenum">
              <a:rPr lang="zh-CN" altLang="en-US" smtClean="0"/>
              <a:t>34</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本研究的主要结论如下，首先，血液炎症指标是肺结核预后的独立预测因子，第二，炎症指标与肺结核预后关联的人群异质性，第三，炎症特征可提升临床特征预后模型性能，第四，混合采样可提升类别不平衡下预后模型性能</a:t>
            </a:r>
          </a:p>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sz="1800" kern="100" dirty="0">
              <a:effectLst/>
              <a:latin typeface="Times New Roman" panose="0202050305040509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sz="1800" kern="100" dirty="0">
              <a:effectLst/>
              <a:latin typeface="Times New Roman" panose="0202050305040509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sz="1800" kern="100" dirty="0">
              <a:effectLst/>
              <a:latin typeface="Times New Roman" panose="0202050305040509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sz="1800" kern="100" dirty="0">
              <a:effectLst/>
              <a:latin typeface="Times New Roman" panose="0202050305040509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endParaRPr lang="zh-CN" altLang="en-US" sz="1800" kern="100" dirty="0">
              <a:effectLst/>
              <a:latin typeface="Times New Roman" panose="02020503050405090304" pitchFamily="18" charset="0"/>
            </a:endParaRPr>
          </a:p>
          <a:p>
            <a:pPr marL="0" marR="0" lvl="0" indent="0" algn="just" defTabSz="914400" rtl="0" eaLnBrk="1" fontAlgn="auto" latinLnBrk="0" hangingPunct="1">
              <a:lnSpc>
                <a:spcPct val="100000"/>
              </a:lnSpc>
              <a:spcBef>
                <a:spcPts val="0"/>
              </a:spcBef>
              <a:spcAft>
                <a:spcPts val="0"/>
              </a:spcAft>
              <a:buClrTx/>
              <a:buSzTx/>
              <a:buFontTx/>
              <a:buNone/>
              <a:defRPr/>
            </a:pPr>
            <a:endParaRPr kumimoji="0" lang="en-US" altLang="zh-CN" sz="1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35</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本研究的创新性包括</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基于大型队列数据，</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评估多种</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血液</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炎症指标</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与肺结核预后的</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关联程度，揭示非线性关联的存在、</a:t>
            </a:r>
            <a:r>
              <a:rPr lang="zh-CN"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探讨关联的人群异质性</a:t>
            </a: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、采用非线性建模算法和处理类别不平衡问题</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本研究的局限性包括单中心研究结果的外推性受限、仅关注患者基线炎症状态与预后的关联和仅获得宿主相关特征用于建模。</a:t>
            </a:r>
            <a:endParaRPr lang="en-US" altLang="zh-CN"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endParaRPr>
          </a:p>
        </p:txBody>
      </p:sp>
      <p:sp>
        <p:nvSpPr>
          <p:cNvPr id="4" name="灯片编号占位符 3"/>
          <p:cNvSpPr>
            <a:spLocks noGrp="1"/>
          </p:cNvSpPr>
          <p:nvPr>
            <p:ph type="sldNum" sz="quarter" idx="10"/>
          </p:nvPr>
        </p:nvSpPr>
        <p:spPr/>
        <p:txBody>
          <a:bodyPr/>
          <a:lstStyle/>
          <a:p>
            <a:fld id="{FC22F668-A711-45D1-A010-12162ED8D5EC}" type="slidenum">
              <a:rPr lang="zh-CN" altLang="en-US" smtClean="0"/>
              <a:t>36</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汇报结束之际，我想感谢杨老师三年来的悉心指导，感谢深圳市第三人民医院提供的数据，感谢课题组的师兄师姐师弟师妹以及学院的指导和帮助，感谢家人的支持，最后感谢各位专家于百忙之中莅临指导！</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37</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800" b="0" kern="1200" dirty="0">
                <a:solidFill>
                  <a:schemeClr val="tx1"/>
                </a:solidFill>
                <a:effectLst/>
                <a:latin typeface="Times New Roman" panose="02020503050405090304" pitchFamily="18" charset="0"/>
                <a:ea typeface="宋体" pitchFamily="2" charset="-122"/>
                <a:cs typeface="Times New Roman" panose="02020503050405090304" pitchFamily="18" charset="0"/>
              </a:rPr>
              <a:t>汇报结束之际，我想感谢杨老师三年来的悉心指导，感谢深圳市第三人民医院提供的数据，感谢课题组的师兄师姐师弟师妹以及学院的指导和帮助，感谢家人的支持，最后感谢各位专家于百忙之中莅临指导！</a:t>
            </a:r>
          </a:p>
        </p:txBody>
      </p:sp>
      <p:sp>
        <p:nvSpPr>
          <p:cNvPr id="4" name="灯片编号占位符 3"/>
          <p:cNvSpPr>
            <a:spLocks noGrp="1"/>
          </p:cNvSpPr>
          <p:nvPr>
            <p:ph type="sldNum" sz="quarter" idx="10"/>
          </p:nvPr>
        </p:nvSpPr>
        <p:spPr/>
        <p:txBody>
          <a:bodyPr/>
          <a:lstStyle/>
          <a:p>
            <a:fld id="{FC22F668-A711-45D1-A010-12162ED8D5EC}" type="slidenum">
              <a:rPr lang="zh-CN" altLang="en-US" smtClean="0"/>
              <a:t>38</a:t>
            </a:fld>
            <a:endParaRPr lang="zh-CN" altLang="en-US"/>
          </a:p>
        </p:txBody>
      </p:sp>
      <p:sp>
        <p:nvSpPr>
          <p:cNvPr id="5" name="Footer Placeholder 4"/>
          <p:cNvSpPr>
            <a:spLocks noGrp="1"/>
          </p:cNvSpPr>
          <p:nvPr>
            <p:ph type="ftr" sz="quarter" idx="4"/>
          </p:nvPr>
        </p:nvSpPr>
        <p:spPr/>
        <p:txBody>
          <a:bodyPr/>
          <a:lstStyle/>
          <a:p>
            <a:endParaRPr lang="zh-CN" altLang="en-US"/>
          </a:p>
        </p:txBody>
      </p:sp>
    </p:spTree>
    <p:extLst>
      <p:ext uri="{BB962C8B-B14F-4D97-AF65-F5344CB8AC3E}">
        <p14:creationId xmlns:p14="http://schemas.microsoft.com/office/powerpoint/2010/main" val="406194259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solidFill>
                  <a:schemeClr val="bg1"/>
                </a:solidFill>
                <a:latin typeface="微软雅黑" panose="020B0503020204020204" pitchFamily="34" charset="-122"/>
                <a:ea typeface="微软雅黑" panose="020B0503020204020204" pitchFamily="34" charset="-122"/>
              </a:rPr>
              <a:t>公众号制作</a:t>
            </a:r>
            <a:endParaRPr lang="en-US" altLang="zh-CN" dirty="0"/>
          </a:p>
        </p:txBody>
      </p:sp>
      <p:sp>
        <p:nvSpPr>
          <p:cNvPr id="4" name="灯片编号占位符 3"/>
          <p:cNvSpPr>
            <a:spLocks noGrp="1"/>
          </p:cNvSpPr>
          <p:nvPr>
            <p:ph type="sldNum" sz="quarter" idx="10"/>
          </p:nvPr>
        </p:nvSpPr>
        <p:spPr/>
        <p:txBody>
          <a:bodyPr/>
          <a:lstStyle/>
          <a:p>
            <a:fld id="{FC22F668-A711-45D1-A010-12162ED8D5EC}" type="slidenum">
              <a:rPr lang="zh-CN" altLang="en-US" smtClean="0"/>
              <a:t>39</a:t>
            </a:fld>
            <a:endParaRPr lang="zh-CN" altLang="en-US"/>
          </a:p>
        </p:txBody>
      </p:sp>
      <p:sp>
        <p:nvSpPr>
          <p:cNvPr id="5" name="Footer Placeholder 4"/>
          <p:cNvSpPr>
            <a:spLocks noGrp="1"/>
          </p:cNvSpPr>
          <p:nvPr>
            <p:ph type="ftr" sz="quarter" idx="4"/>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0DFE5CA-23B9-5740-BA99-635212030ADF}" type="datetime1">
              <a:rPr lang="zh-CN" altLang="en-US" smtClean="0"/>
              <a:t>2025/5/11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610600" y="6356349"/>
            <a:ext cx="2743200" cy="365125"/>
          </a:xfrm>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03D0EB5-01BC-FD4B-969E-F9B5A8776D6F}" type="datetime1">
              <a:rPr lang="zh-CN" altLang="en-US" smtClean="0"/>
              <a:t>2025/5/11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8610600" y="6388503"/>
            <a:ext cx="2743200" cy="365125"/>
          </a:xfrm>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CCCA3EE-8B2D-3545-80C1-4E34A928A102}" type="datetime1">
              <a:rPr lang="zh-CN" altLang="en-US" smtClean="0"/>
              <a:t>2025/5/11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37ABF886-F590-F54E-B506-0462436D18A6}" type="datetime1">
              <a:rPr lang="zh-CN" altLang="en-US" smtClean="0"/>
              <a:t>2025/5/11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a:xfrm>
            <a:off x="8763000" y="182562"/>
            <a:ext cx="2743200" cy="365125"/>
          </a:xfrm>
        </p:spPr>
        <p:txBody>
          <a:bodyPr/>
          <a:lstStyle/>
          <a:p>
            <a:fld id="{21F74D46-1CAC-4699-A05B-A5EA0A67F2D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034FEAF2-BE75-7140-A286-F88E71567D1F}" type="datetime1">
              <a:rPr lang="zh-CN" altLang="en-US" smtClean="0"/>
              <a:t>2025/5/11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r>
              <a:rPr lang="zh-CN" altLang="en-US" dirty="0"/>
              <a:t>第</a:t>
            </a:r>
            <a:fld id="{21F74D46-1CAC-4699-A05B-A5EA0A67F2DE}" type="slidenum">
              <a:rPr lang="zh-CN" altLang="en-US" smtClean="0"/>
              <a:t>‹#›</a:t>
            </a:fld>
            <a:r>
              <a:rPr lang="zh-CN" altLang="en-US" dirty="0"/>
              <a:t>页</a:t>
            </a:r>
            <a:r>
              <a:rPr lang="en-US" altLang="zh-CN" dirty="0"/>
              <a:t>/</a:t>
            </a:r>
            <a:r>
              <a:rPr lang="zh-CN" altLang="en-US" dirty="0"/>
              <a:t>共页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1C5D5E6-271B-3D4A-B68A-A1DA48495038}" type="datetime1">
              <a:rPr lang="zh-CN" altLang="en-US" smtClean="0"/>
              <a:t>2025/5/11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31A7340-050C-C643-9C64-1637C8AA85E7}" type="datetime1">
              <a:rPr lang="zh-CN" altLang="en-US" smtClean="0"/>
              <a:t>2025/5/11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743EAD94-EE1A-6F4A-B32B-335605E5C3CC}" type="datetime1">
              <a:rPr lang="zh-CN" altLang="en-US" smtClean="0"/>
              <a:t>2025/5/11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BA8E23B-D9B2-C241-A9F3-0593CBF1D8B2}" type="datetime1">
              <a:rPr lang="zh-CN" altLang="en-US" smtClean="0"/>
              <a:t>2025/5/11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F6A90A7-FB82-FA4D-ACDB-F8F1079F2E8A}" type="datetime1">
              <a:rPr lang="zh-CN" altLang="en-US" smtClean="0"/>
              <a:t>2025/5/11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DE82C5F-3956-C043-ABC3-111703BB8326}" type="datetime1">
              <a:rPr lang="zh-CN" altLang="en-US" smtClean="0"/>
              <a:t>2025/5/11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1F74D46-1CAC-4699-A05B-A5EA0A67F2DE}" type="slidenum">
              <a:rPr lang="zh-CN" altLang="en-US" smtClean="0"/>
              <a:t>‹#›</a:t>
            </a:fld>
            <a:r>
              <a:rPr lang="en-US" altLang="zh-CN" dirty="0"/>
              <a:t>/39</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F19ADC-2A1D-154F-9381-177FBCE4C0DD}" type="datetime1">
              <a:rPr lang="zh-CN" altLang="en-US" smtClean="0"/>
              <a:t>2025/5/11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F74D46-1CAC-4699-A05B-A5EA0A67F2DE}" type="slidenum">
              <a:rPr lang="zh-CN" altLang="en-US" smtClean="0"/>
              <a:t>‹#›</a:t>
            </a:fld>
            <a:r>
              <a:rPr lang="en-US" altLang="zh-CN" dirty="0"/>
              <a:t>/39</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3.png"/><Relationship Id="rId5" Type="http://schemas.openxmlformats.org/officeDocument/2006/relationships/notesSlide" Target="../notesSlides/notesSlide9.xml"/><Relationship Id="rId4"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19.jpeg"/><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23.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jpeg"/><Relationship Id="rId3" Type="http://schemas.openxmlformats.org/officeDocument/2006/relationships/image" Target="../media/image3.png"/><Relationship Id="rId7" Type="http://schemas.openxmlformats.org/officeDocument/2006/relationships/image" Target="../media/image23.png"/><Relationship Id="rId12" Type="http://schemas.openxmlformats.org/officeDocument/2006/relationships/image" Target="../media/image28.jpe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jpeg"/><Relationship Id="rId9" Type="http://schemas.openxmlformats.org/officeDocument/2006/relationships/image" Target="../media/image25.png"/><Relationship Id="rId1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3.jpe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9.jpeg"/></Relationships>
</file>

<file path=ppt/slides/_rels/slide32.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41.jpe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jpe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tags" Target="../tags/tag11.xml"/><Relationship Id="rId3" Type="http://schemas.openxmlformats.org/officeDocument/2006/relationships/tags" Target="../tags/tag6.xml"/><Relationship Id="rId7" Type="http://schemas.openxmlformats.org/officeDocument/2006/relationships/tags" Target="../tags/tag10.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image" Target="../media/image3.png"/><Relationship Id="rId5" Type="http://schemas.openxmlformats.org/officeDocument/2006/relationships/tags" Target="../tags/tag8.xml"/><Relationship Id="rId10" Type="http://schemas.openxmlformats.org/officeDocument/2006/relationships/notesSlide" Target="../notesSlides/notesSlide36.xml"/><Relationship Id="rId4" Type="http://schemas.openxmlformats.org/officeDocument/2006/relationships/tags" Target="../tags/tag7.xml"/><Relationship Id="rId9"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0653" b="40175"/>
          <a:stretch>
            <a:fillRect/>
          </a:stretch>
        </p:blipFill>
        <p:spPr bwMode="auto">
          <a:xfrm>
            <a:off x="-15529" y="1639152"/>
            <a:ext cx="12207529" cy="337339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7"/>
          <p:cNvSpPr/>
          <p:nvPr/>
        </p:nvSpPr>
        <p:spPr>
          <a:xfrm>
            <a:off x="-1" y="1639152"/>
            <a:ext cx="12207529" cy="3373395"/>
          </a:xfrm>
          <a:prstGeom prst="rect">
            <a:avLst/>
          </a:prstGeom>
          <a:gradFill>
            <a:gsLst>
              <a:gs pos="0">
                <a:srgbClr val="014723"/>
              </a:gs>
              <a:gs pos="100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8"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95029" y="162462"/>
            <a:ext cx="3433000" cy="1072662"/>
          </a:xfrm>
          <a:prstGeom prst="rect">
            <a:avLst/>
          </a:prstGeom>
        </p:spPr>
      </p:pic>
      <p:sp>
        <p:nvSpPr>
          <p:cNvPr id="9" name="TextBox 6"/>
          <p:cNvSpPr txBox="1"/>
          <p:nvPr/>
        </p:nvSpPr>
        <p:spPr>
          <a:xfrm>
            <a:off x="5069062" y="5218848"/>
            <a:ext cx="3330764" cy="1320800"/>
          </a:xfrm>
          <a:prstGeom prst="rect">
            <a:avLst/>
          </a:prstGeom>
          <a:noFill/>
        </p:spPr>
        <p:txBody>
          <a:bodyPr wrap="square" lIns="91416" tIns="45708" rIns="91416" bIns="45708" rtlCol="0">
            <a:spAutoFit/>
          </a:bodyPr>
          <a:lstStyle>
            <a:defPPr>
              <a:defRPr lang="zh-CN"/>
            </a:defPPr>
            <a:lvl1pPr>
              <a:defRPr sz="2000">
                <a:solidFill>
                  <a:schemeClr val="accent2"/>
                </a:solidFill>
                <a:latin typeface="+mn-ea"/>
                <a:ea typeface="+mn-ea"/>
              </a:defRPr>
            </a:lvl1pPr>
          </a:lstStyle>
          <a:p>
            <a:pPr indent="0">
              <a:buFont typeface="Arial" panose="020B0604020202090204" pitchFamily="34" charset="0"/>
              <a:buNone/>
            </a:pPr>
            <a:r>
              <a:rPr lang="zh-CN" altLang="en-US"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汇报人：纪雅婷</a:t>
            </a:r>
          </a:p>
          <a:p>
            <a:pPr indent="0">
              <a:buFont typeface="Arial" panose="020B0604020202090204" pitchFamily="34" charset="0"/>
              <a:buNone/>
            </a:pPr>
            <a:r>
              <a:rPr lang="zh-CN" altLang="en-US"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导   师：杨崇广</a:t>
            </a:r>
            <a:r>
              <a:rPr lang="en-US" altLang="zh-CN"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en-US"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教授</a:t>
            </a:r>
          </a:p>
          <a:p>
            <a:pPr indent="0">
              <a:buFont typeface="Arial" panose="020B0604020202090204" pitchFamily="34" charset="0"/>
              <a:buNone/>
            </a:pPr>
            <a:r>
              <a:rPr lang="zh-CN" altLang="en-US"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专   业：公共卫生</a:t>
            </a:r>
          </a:p>
          <a:p>
            <a:pPr indent="0">
              <a:buFont typeface="Arial" panose="020B0604020202090204" pitchFamily="34" charset="0"/>
              <a:buNone/>
            </a:pPr>
            <a:r>
              <a:rPr lang="zh-CN" altLang="en-US"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日   期：</a:t>
            </a:r>
            <a:r>
              <a:rPr lang="en-US" altLang="zh-CN"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2025</a:t>
            </a:r>
            <a:r>
              <a:rPr lang="zh-CN" altLang="en-US"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年</a:t>
            </a:r>
            <a:r>
              <a:rPr lang="en-US" altLang="zh-CN"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5</a:t>
            </a:r>
            <a:r>
              <a:rPr lang="zh-CN" altLang="en-US"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月</a:t>
            </a:r>
            <a:r>
              <a:rPr lang="en-US" altLang="zh-CN"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12</a:t>
            </a:r>
            <a:r>
              <a:rPr lang="zh-CN" altLang="en-US" b="1" dirty="0">
                <a:solidFill>
                  <a:srgbClr val="014723"/>
                </a:solidFill>
                <a:latin typeface="Times New Roman" panose="02020503050405090304" pitchFamily="18" charset="0"/>
                <a:ea typeface="Microsoft YaHei UI" panose="020B0503020204020204" pitchFamily="34" charset="-122"/>
                <a:cs typeface="Times New Roman" panose="02020503050405090304" pitchFamily="18" charset="0"/>
              </a:rPr>
              <a:t>日</a:t>
            </a:r>
          </a:p>
        </p:txBody>
      </p:sp>
      <p:sp>
        <p:nvSpPr>
          <p:cNvPr id="10" name="文本框 14"/>
          <p:cNvSpPr txBox="1"/>
          <p:nvPr/>
        </p:nvSpPr>
        <p:spPr>
          <a:xfrm>
            <a:off x="-15529" y="2448686"/>
            <a:ext cx="12223058" cy="1753235"/>
          </a:xfrm>
          <a:prstGeom prst="rect">
            <a:avLst/>
          </a:prstGeom>
          <a:noFill/>
        </p:spPr>
        <p:txBody>
          <a:bodyPr wrap="square" rtlCol="0">
            <a:spAutoFit/>
          </a:bodyPr>
          <a:lstStyle/>
          <a:p>
            <a:pPr algn="ctr"/>
            <a:r>
              <a:rPr lang="en-US" altLang="zh-CN" sz="5400" b="1">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en-US" sz="5400" b="1">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血液</a:t>
            </a:r>
            <a:r>
              <a:rPr lang="zh-CN" altLang="en-US" sz="54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炎症指标与肺结核预后的关联：</a:t>
            </a:r>
            <a:endParaRPr lang="en-US" altLang="zh-CN" sz="54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algn="ctr"/>
            <a:r>
              <a:rPr lang="zh-CN" altLang="en-US" sz="54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危险因素分析与机器学习模型研究</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21"/>
          <p:cNvSpPr>
            <a:spLocks noGrp="1"/>
          </p:cNvSpPr>
          <p:nvPr>
            <p:ph type="sldNum" sz="quarter" idx="12"/>
          </p:nvPr>
        </p:nvSpPr>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8" name="组合 27"/>
          <p:cNvGrpSpPr/>
          <p:nvPr/>
        </p:nvGrpSpPr>
        <p:grpSpPr>
          <a:xfrm>
            <a:off x="-10047" y="-36028"/>
            <a:ext cx="12202049" cy="998482"/>
            <a:chOff x="-10047" y="-36028"/>
            <a:chExt cx="12202049" cy="998482"/>
          </a:xfrm>
        </p:grpSpPr>
        <p:sp>
          <p:nvSpPr>
            <p:cNvPr id="29" name="矩形 4"/>
            <p:cNvSpPr/>
            <p:nvPr/>
          </p:nvSpPr>
          <p:spPr>
            <a:xfrm rot="16200000">
              <a:off x="5595261" y="-5634288"/>
              <a:ext cx="991434"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36"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8688" y="-36028"/>
              <a:ext cx="2169355" cy="991435"/>
            </a:xfrm>
            <a:prstGeom prst="rect">
              <a:avLst/>
            </a:prstGeom>
          </p:spPr>
        </p:pic>
      </p:grpSp>
      <p:sp>
        <p:nvSpPr>
          <p:cNvPr id="6" name="文本框 5"/>
          <p:cNvSpPr txBox="1"/>
          <p:nvPr/>
        </p:nvSpPr>
        <p:spPr>
          <a:xfrm>
            <a:off x="2922725" y="1069315"/>
            <a:ext cx="6336506" cy="707886"/>
          </a:xfrm>
          <a:prstGeom prst="rect">
            <a:avLst/>
          </a:prstGeom>
          <a:noFill/>
          <a:ln w="19050">
            <a:noFill/>
          </a:ln>
        </p:spPr>
        <p:txBody>
          <a:bodyPr wrap="square">
            <a:spAutoFit/>
          </a:bodyPr>
          <a:lstStyle/>
          <a:p>
            <a:pPr algn="ctr"/>
            <a:r>
              <a:rPr lang="zh-CN" altLang="en-US" sz="4000" b="1" dirty="0">
                <a:latin typeface="Times New Roman" panose="02020503050405090304" pitchFamily="18" charset="0"/>
                <a:ea typeface="Microsoft YaHei UI" panose="020B0503020204020204" pitchFamily="34" charset="-122"/>
                <a:cs typeface="Times New Roman" panose="02020503050405090304" pitchFamily="18" charset="0"/>
              </a:rPr>
              <a:t>学位论文原创性声明</a:t>
            </a:r>
          </a:p>
        </p:txBody>
      </p:sp>
      <p:sp>
        <p:nvSpPr>
          <p:cNvPr id="10" name="文本框 9"/>
          <p:cNvSpPr txBox="1"/>
          <p:nvPr/>
        </p:nvSpPr>
        <p:spPr>
          <a:xfrm>
            <a:off x="1393365" y="1884062"/>
            <a:ext cx="9515475" cy="3674980"/>
          </a:xfrm>
          <a:prstGeom prst="rect">
            <a:avLst/>
          </a:prstGeom>
          <a:noFill/>
          <a:ln w="19050">
            <a:noFill/>
          </a:ln>
        </p:spPr>
        <p:txBody>
          <a:bodyPr wrap="square">
            <a:spAutoFit/>
          </a:bodyPr>
          <a:lstStyle/>
          <a:p>
            <a:pPr indent="609600" algn="l" fontAlgn="auto">
              <a:lnSpc>
                <a:spcPct val="200000"/>
              </a:lnSpc>
              <a:buClrTx/>
              <a:buSzTx/>
              <a:buFontTx/>
              <a:extLst>
                <a:ext uri="{35155182-B16C-46BC-9424-99874614C6A1}">
                  <wpsdc:indentchars xmlns:wpsdc="http://www.wps.cn/officeDocument/2017/drawingmlCustomData" xmlns="" val="200" checksum="4158780845"/>
                </a:ext>
              </a:extLst>
            </a:pPr>
            <a:r>
              <a:rPr lang="zh-CN" altLang="en-US" sz="2400" dirty="0">
                <a:latin typeface="Times New Roman" panose="02020503050405090304" pitchFamily="18" charset="0"/>
                <a:ea typeface="Microsoft YaHei UI" panose="020B0503020204020204" pitchFamily="34" charset="-122"/>
                <a:cs typeface="Times New Roman" panose="02020503050405090304" pitchFamily="18" charset="0"/>
              </a:rPr>
              <a:t>本人郑重声明：所呈交的学位论文，是本人在导师的指导下，独立进行研究工作所取得的成果。除文中已经注明引用的内容外，本论文不包含任何其他个人或集体已经发表或撰写过的作品成果。对本文的研究作出重要贡献的个人和集体，均已在文中以明确方式标明。本人完全意识到本声明的法律结果由本人承担。</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任意多边形 27"/>
          <p:cNvSpPr/>
          <p:nvPr/>
        </p:nvSpPr>
        <p:spPr>
          <a:xfrm rot="2692892" flipH="1">
            <a:off x="512834" y="-1238097"/>
            <a:ext cx="2476193" cy="2476193"/>
          </a:xfrm>
          <a:custGeom>
            <a:avLst/>
            <a:gdLst>
              <a:gd name="connsiteX0" fmla="*/ 0 w 4851501"/>
              <a:gd name="connsiteY0" fmla="*/ 0 h 4851502"/>
              <a:gd name="connsiteX1" fmla="*/ 0 w 4851501"/>
              <a:gd name="connsiteY1" fmla="*/ 4851502 h 4851502"/>
              <a:gd name="connsiteX2" fmla="*/ 4851501 w 4851501"/>
              <a:gd name="connsiteY2" fmla="*/ 4851501 h 4851502"/>
              <a:gd name="connsiteX3" fmla="*/ 3976998 w 4851501"/>
              <a:gd name="connsiteY3" fmla="*/ 3976998 h 4851502"/>
              <a:gd name="connsiteX4" fmla="*/ 874502 w 4851501"/>
              <a:gd name="connsiteY4" fmla="*/ 3976998 h 4851502"/>
              <a:gd name="connsiteX5" fmla="*/ 874502 w 4851501"/>
              <a:gd name="connsiteY5" fmla="*/ 874502 h 4851502"/>
              <a:gd name="connsiteX6" fmla="*/ 0 w 4851501"/>
              <a:gd name="connsiteY6" fmla="*/ 0 h 485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51501" h="4851502">
                <a:moveTo>
                  <a:pt x="0" y="0"/>
                </a:moveTo>
                <a:lnTo>
                  <a:pt x="0" y="4851502"/>
                </a:lnTo>
                <a:lnTo>
                  <a:pt x="4851501" y="4851501"/>
                </a:lnTo>
                <a:lnTo>
                  <a:pt x="3976998" y="3976998"/>
                </a:lnTo>
                <a:lnTo>
                  <a:pt x="874502" y="3976998"/>
                </a:lnTo>
                <a:lnTo>
                  <a:pt x="874502" y="874502"/>
                </a:lnTo>
                <a:lnTo>
                  <a:pt x="0" y="0"/>
                </a:lnTo>
                <a:close/>
              </a:path>
            </a:pathLst>
          </a:custGeom>
          <a:solidFill>
            <a:srgbClr val="014924">
              <a:alpha val="6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sp>
        <p:nvSpPr>
          <p:cNvPr id="5" name="任意多边形 23"/>
          <p:cNvSpPr/>
          <p:nvPr/>
        </p:nvSpPr>
        <p:spPr>
          <a:xfrm rot="5400000" flipH="1">
            <a:off x="10057630" y="5707625"/>
            <a:ext cx="766916" cy="1533832"/>
          </a:xfrm>
          <a:custGeom>
            <a:avLst/>
            <a:gdLst>
              <a:gd name="connsiteX0" fmla="*/ 0 w 1231134"/>
              <a:gd name="connsiteY0" fmla="*/ 0 h 2462268"/>
              <a:gd name="connsiteX1" fmla="*/ 1231134 w 1231134"/>
              <a:gd name="connsiteY1" fmla="*/ 1231134 h 2462268"/>
              <a:gd name="connsiteX2" fmla="*/ 0 w 1231134"/>
              <a:gd name="connsiteY2" fmla="*/ 2462268 h 2462268"/>
              <a:gd name="connsiteX3" fmla="*/ 0 w 1231134"/>
              <a:gd name="connsiteY3" fmla="*/ 1637534 h 2462268"/>
              <a:gd name="connsiteX4" fmla="*/ 406400 w 1231134"/>
              <a:gd name="connsiteY4" fmla="*/ 1231134 h 2462268"/>
              <a:gd name="connsiteX5" fmla="*/ 0 w 1231134"/>
              <a:gd name="connsiteY5" fmla="*/ 824734 h 24622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31134" h="2462268">
                <a:moveTo>
                  <a:pt x="0" y="0"/>
                </a:moveTo>
                <a:lnTo>
                  <a:pt x="1231134" y="1231134"/>
                </a:lnTo>
                <a:lnTo>
                  <a:pt x="0" y="2462268"/>
                </a:lnTo>
                <a:lnTo>
                  <a:pt x="0" y="1637534"/>
                </a:lnTo>
                <a:lnTo>
                  <a:pt x="406400" y="1231134"/>
                </a:lnTo>
                <a:lnTo>
                  <a:pt x="0" y="824734"/>
                </a:lnTo>
                <a:close/>
              </a:path>
            </a:pathLst>
          </a:custGeom>
          <a:solidFill>
            <a:srgbClr val="0145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sp>
        <p:nvSpPr>
          <p:cNvPr id="8" name="任意多边形 27"/>
          <p:cNvSpPr/>
          <p:nvPr/>
        </p:nvSpPr>
        <p:spPr>
          <a:xfrm rot="13483162" flipH="1">
            <a:off x="9202992" y="5619903"/>
            <a:ext cx="2476193" cy="2476193"/>
          </a:xfrm>
          <a:custGeom>
            <a:avLst/>
            <a:gdLst>
              <a:gd name="connsiteX0" fmla="*/ 0 w 4851501"/>
              <a:gd name="connsiteY0" fmla="*/ 0 h 4851502"/>
              <a:gd name="connsiteX1" fmla="*/ 0 w 4851501"/>
              <a:gd name="connsiteY1" fmla="*/ 4851502 h 4851502"/>
              <a:gd name="connsiteX2" fmla="*/ 4851501 w 4851501"/>
              <a:gd name="connsiteY2" fmla="*/ 4851501 h 4851502"/>
              <a:gd name="connsiteX3" fmla="*/ 3976998 w 4851501"/>
              <a:gd name="connsiteY3" fmla="*/ 3976998 h 4851502"/>
              <a:gd name="connsiteX4" fmla="*/ 874502 w 4851501"/>
              <a:gd name="connsiteY4" fmla="*/ 3976998 h 4851502"/>
              <a:gd name="connsiteX5" fmla="*/ 874502 w 4851501"/>
              <a:gd name="connsiteY5" fmla="*/ 874502 h 4851502"/>
              <a:gd name="connsiteX6" fmla="*/ 0 w 4851501"/>
              <a:gd name="connsiteY6" fmla="*/ 0 h 4851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51501" h="4851502">
                <a:moveTo>
                  <a:pt x="0" y="0"/>
                </a:moveTo>
                <a:lnTo>
                  <a:pt x="0" y="4851502"/>
                </a:lnTo>
                <a:lnTo>
                  <a:pt x="4851501" y="4851501"/>
                </a:lnTo>
                <a:lnTo>
                  <a:pt x="3976998" y="3976998"/>
                </a:lnTo>
                <a:lnTo>
                  <a:pt x="874502" y="3976998"/>
                </a:lnTo>
                <a:lnTo>
                  <a:pt x="874502" y="874502"/>
                </a:lnTo>
                <a:lnTo>
                  <a:pt x="0" y="0"/>
                </a:lnTo>
                <a:close/>
              </a:path>
            </a:pathLst>
          </a:custGeom>
          <a:solidFill>
            <a:srgbClr val="014924">
              <a:alpha val="60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sp>
        <p:nvSpPr>
          <p:cNvPr id="24" name="Text Box 3"/>
          <p:cNvSpPr>
            <a:spLocks noChangeArrowheads="1"/>
          </p:cNvSpPr>
          <p:nvPr/>
        </p:nvSpPr>
        <p:spPr bwMode="auto">
          <a:xfrm>
            <a:off x="8923655" y="473075"/>
            <a:ext cx="2658745" cy="1323340"/>
          </a:xfrm>
          <a:prstGeom prst="rect">
            <a:avLst/>
          </a:prstGeom>
          <a:noFill/>
          <a:extLst>
            <a:ext uri="{909E8E84-426E-40DD-AFC4-6F175D3DCCD1}">
              <a14:hiddenFill xmlns:a14="http://schemas.microsoft.com/office/drawing/2010/main">
                <a:solidFill>
                  <a:srgbClr val="2484C7"/>
                </a:solidFill>
              </a14:hiddenFill>
            </a:ext>
          </a:extLst>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Bef>
                <a:spcPct val="0"/>
              </a:spcBef>
            </a:pPr>
            <a:r>
              <a:rPr lang="zh-CN" altLang="en-US" sz="8000" b="1" dirty="0">
                <a:solidFill>
                  <a:srgbClr val="014924"/>
                </a:solidFill>
                <a:effectLst/>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目录</a:t>
            </a:r>
          </a:p>
        </p:txBody>
      </p:sp>
      <p:sp>
        <p:nvSpPr>
          <p:cNvPr id="21" name="TextBox 4"/>
          <p:cNvSpPr txBox="1"/>
          <p:nvPr/>
        </p:nvSpPr>
        <p:spPr>
          <a:xfrm>
            <a:off x="0" y="0"/>
            <a:ext cx="453650" cy="117596"/>
          </a:xfrm>
          <a:prstGeom prst="rect">
            <a:avLst/>
          </a:prstGeom>
          <a:noFill/>
        </p:spPr>
        <p:txBody>
          <a:bodyPr wrap="square" rtlCol="0">
            <a:spAutoFit/>
          </a:bodyPr>
          <a:lstStyle/>
          <a:p>
            <a:pPr>
              <a:lnSpc>
                <a:spcPct val="200000"/>
              </a:lnSpc>
            </a:pPr>
            <a:r>
              <a:rPr lang="zh-CN" altLang="en-US" sz="100" dirty="0">
                <a:solidFill>
                  <a:schemeClr val="tx1">
                    <a:alpha val="0"/>
                  </a:schemeClr>
                </a:solidFill>
                <a:latin typeface="Times New Roman" panose="02020503050405090304" pitchFamily="18" charset="0"/>
                <a:ea typeface="Microsoft YaHei UI" panose="020B0503020204020204" pitchFamily="34" charset="-122"/>
                <a:cs typeface="Times New Roman" panose="02020503050405090304" pitchFamily="18" charset="0"/>
              </a:rPr>
              <a:t>行业</a:t>
            </a:r>
            <a:r>
              <a:rPr lang="en-US" altLang="zh-CN" sz="100" dirty="0">
                <a:solidFill>
                  <a:schemeClr val="tx1">
                    <a:alpha val="0"/>
                  </a:schemeClr>
                </a:solidFill>
                <a:latin typeface="Times New Roman" panose="02020503050405090304" pitchFamily="18" charset="0"/>
                <a:ea typeface="Microsoft YaHei UI" panose="020B0503020204020204" pitchFamily="34" charset="-122"/>
                <a:cs typeface="Times New Roman" panose="02020503050405090304" pitchFamily="18" charset="0"/>
              </a:rPr>
              <a:t>PPT</a:t>
            </a:r>
            <a:r>
              <a:rPr lang="zh-CN" altLang="en-US" sz="100" dirty="0">
                <a:solidFill>
                  <a:schemeClr val="tx1">
                    <a:alpha val="0"/>
                  </a:schemeClr>
                </a:solidFill>
                <a:latin typeface="Times New Roman" panose="02020503050405090304" pitchFamily="18" charset="0"/>
                <a:ea typeface="Microsoft YaHei UI" panose="020B0503020204020204" pitchFamily="34" charset="-122"/>
                <a:cs typeface="Times New Roman" panose="02020503050405090304" pitchFamily="18" charset="0"/>
              </a:rPr>
              <a:t>模板</a:t>
            </a:r>
            <a:r>
              <a:rPr lang="en-US" altLang="zh-CN" sz="100" dirty="0">
                <a:solidFill>
                  <a:schemeClr val="tx1">
                    <a:alpha val="0"/>
                  </a:schemeClr>
                </a:solidFill>
                <a:latin typeface="Times New Roman" panose="02020503050405090304" pitchFamily="18" charset="0"/>
                <a:ea typeface="Microsoft YaHei UI" panose="020B0503020204020204" pitchFamily="34" charset="-122"/>
                <a:cs typeface="Times New Roman" panose="02020503050405090304" pitchFamily="18" charset="0"/>
              </a:rPr>
              <a:t>http://www.1ppt.com/hangye/</a:t>
            </a:r>
          </a:p>
        </p:txBody>
      </p:sp>
      <p:cxnSp>
        <p:nvCxnSpPr>
          <p:cNvPr id="2" name="直接连接符 24"/>
          <p:cNvCxnSpPr/>
          <p:nvPr/>
        </p:nvCxnSpPr>
        <p:spPr>
          <a:xfrm>
            <a:off x="0"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 name="直接连接符 25"/>
          <p:cNvCxnSpPr/>
          <p:nvPr/>
        </p:nvCxnSpPr>
        <p:spPr>
          <a:xfrm>
            <a:off x="6898105"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6"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3895" y="6098701"/>
            <a:ext cx="1661419" cy="759299"/>
          </a:xfrm>
          <a:prstGeom prst="rect">
            <a:avLst/>
          </a:prstGeom>
        </p:spPr>
      </p:pic>
      <p:grpSp>
        <p:nvGrpSpPr>
          <p:cNvPr id="17" name="组合 16"/>
          <p:cNvGrpSpPr/>
          <p:nvPr/>
        </p:nvGrpSpPr>
        <p:grpSpPr>
          <a:xfrm>
            <a:off x="3268346" y="1023138"/>
            <a:ext cx="5602108" cy="4969934"/>
            <a:chOff x="3268346" y="1023138"/>
            <a:chExt cx="5602108" cy="4969934"/>
          </a:xfrm>
        </p:grpSpPr>
        <p:grpSp>
          <p:nvGrpSpPr>
            <p:cNvPr id="7" name="Group 6"/>
            <p:cNvGrpSpPr/>
            <p:nvPr/>
          </p:nvGrpSpPr>
          <p:grpSpPr>
            <a:xfrm>
              <a:off x="3268346" y="1023138"/>
              <a:ext cx="3501859" cy="648000"/>
              <a:chOff x="964852" y="2722299"/>
              <a:chExt cx="3501859" cy="648000"/>
            </a:xfrm>
          </p:grpSpPr>
          <p:sp>
            <p:nvSpPr>
              <p:cNvPr id="9" name="椭圆 1"/>
              <p:cNvSpPr>
                <a:spLocks noChangeAspect="1" noChangeArrowheads="1"/>
              </p:cNvSpPr>
              <p:nvPr/>
            </p:nvSpPr>
            <p:spPr bwMode="auto">
              <a:xfrm>
                <a:off x="964852" y="2722299"/>
                <a:ext cx="648000" cy="648000"/>
              </a:xfrm>
              <a:prstGeom prst="roundRect">
                <a:avLst/>
              </a:prstGeom>
              <a:solidFill>
                <a:srgbClr val="70927C"/>
              </a:solidFill>
              <a:ln w="19050">
                <a:noFill/>
              </a:ln>
            </p:spPr>
            <p:txBody>
              <a:bodyPr anchor="ct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algn="ctr" eaLnBrk="1" hangingPunct="1"/>
                <a:r>
                  <a:rPr lang="en-US" altLang="zh-CN"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01</a:t>
                </a:r>
                <a:endPar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sp>
            <p:nvSpPr>
              <p:cNvPr id="13" name="矩形 12"/>
              <p:cNvSpPr/>
              <p:nvPr/>
            </p:nvSpPr>
            <p:spPr>
              <a:xfrm>
                <a:off x="1648852" y="2823875"/>
                <a:ext cx="2817859" cy="461665"/>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defRPr/>
                </a:pPr>
                <a:r>
                  <a:rPr lang="zh-CN" altLang="en-US" sz="2400" b="1" spc="400"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研 究 背 景</a:t>
                </a:r>
              </a:p>
            </p:txBody>
          </p:sp>
        </p:grpSp>
        <p:grpSp>
          <p:nvGrpSpPr>
            <p:cNvPr id="14" name="Group 13"/>
            <p:cNvGrpSpPr/>
            <p:nvPr/>
          </p:nvGrpSpPr>
          <p:grpSpPr>
            <a:xfrm>
              <a:off x="3268346" y="2012123"/>
              <a:ext cx="5602108" cy="830997"/>
              <a:chOff x="964852" y="2639209"/>
              <a:chExt cx="5602108" cy="830997"/>
            </a:xfrm>
          </p:grpSpPr>
          <p:sp>
            <p:nvSpPr>
              <p:cNvPr id="16" name="椭圆 1"/>
              <p:cNvSpPr>
                <a:spLocks noChangeAspect="1" noChangeArrowheads="1"/>
              </p:cNvSpPr>
              <p:nvPr/>
            </p:nvSpPr>
            <p:spPr bwMode="auto">
              <a:xfrm>
                <a:off x="964852" y="2722299"/>
                <a:ext cx="648000" cy="648000"/>
              </a:xfrm>
              <a:prstGeom prst="roundRect">
                <a:avLst/>
              </a:prstGeom>
              <a:solidFill>
                <a:srgbClr val="70927C"/>
              </a:solidFill>
              <a:ln w="19050">
                <a:noFill/>
              </a:ln>
            </p:spPr>
            <p:txBody>
              <a:bodyPr anchor="ct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algn="ctr" eaLnBrk="1" hangingPunct="1"/>
                <a:r>
                  <a:rPr lang="en-US" altLang="zh-CN"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02</a:t>
                </a:r>
                <a:endPar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sp>
            <p:nvSpPr>
              <p:cNvPr id="18" name="矩形 12"/>
              <p:cNvSpPr/>
              <p:nvPr/>
            </p:nvSpPr>
            <p:spPr>
              <a:xfrm>
                <a:off x="1648851" y="2639209"/>
                <a:ext cx="4918109" cy="830997"/>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400" b="1" spc="400"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血液炎症指标对肺结核患者</a:t>
                </a:r>
                <a:endParaRPr lang="en-US" altLang="zh-CN" sz="2400" b="1" spc="400"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a:p>
                <a:pPr>
                  <a:defRPr/>
                </a:pPr>
                <a:r>
                  <a:rPr lang="zh-CN" altLang="en-US" sz="2400" b="1" spc="400"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不良治疗结局的危险因素分析</a:t>
                </a:r>
              </a:p>
            </p:txBody>
          </p:sp>
        </p:grpSp>
        <p:grpSp>
          <p:nvGrpSpPr>
            <p:cNvPr id="20" name="Group 19"/>
            <p:cNvGrpSpPr/>
            <p:nvPr/>
          </p:nvGrpSpPr>
          <p:grpSpPr>
            <a:xfrm>
              <a:off x="3268346" y="3184105"/>
              <a:ext cx="5372504" cy="830997"/>
              <a:chOff x="964852" y="2639209"/>
              <a:chExt cx="5372504" cy="830997"/>
            </a:xfrm>
          </p:grpSpPr>
          <p:sp>
            <p:nvSpPr>
              <p:cNvPr id="22" name="椭圆 1"/>
              <p:cNvSpPr>
                <a:spLocks noChangeAspect="1" noChangeArrowheads="1"/>
              </p:cNvSpPr>
              <p:nvPr/>
            </p:nvSpPr>
            <p:spPr bwMode="auto">
              <a:xfrm>
                <a:off x="964852" y="2722299"/>
                <a:ext cx="648000" cy="648000"/>
              </a:xfrm>
              <a:prstGeom prst="roundRect">
                <a:avLst/>
              </a:prstGeom>
              <a:solidFill>
                <a:srgbClr val="70927C"/>
              </a:solidFill>
              <a:ln w="19050">
                <a:noFill/>
              </a:ln>
            </p:spPr>
            <p:txBody>
              <a:bodyPr anchor="ct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algn="ctr" eaLnBrk="1" hangingPunct="1"/>
                <a:r>
                  <a:rPr lang="en-US" altLang="zh-CN"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03</a:t>
                </a:r>
                <a:endPar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sp>
            <p:nvSpPr>
              <p:cNvPr id="26" name="矩形 12"/>
              <p:cNvSpPr/>
              <p:nvPr/>
            </p:nvSpPr>
            <p:spPr>
              <a:xfrm>
                <a:off x="1648852" y="2639209"/>
                <a:ext cx="4688504" cy="830997"/>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400" b="1" spc="400"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肺结核患者血液炎症指标相关的机器学习预后模型研究</a:t>
                </a:r>
              </a:p>
            </p:txBody>
          </p:sp>
        </p:grpSp>
        <p:grpSp>
          <p:nvGrpSpPr>
            <p:cNvPr id="27" name="Group 26"/>
            <p:cNvGrpSpPr/>
            <p:nvPr/>
          </p:nvGrpSpPr>
          <p:grpSpPr>
            <a:xfrm>
              <a:off x="3268346" y="4356087"/>
              <a:ext cx="4346892" cy="648000"/>
              <a:chOff x="964852" y="2722299"/>
              <a:chExt cx="4346892" cy="648000"/>
            </a:xfrm>
          </p:grpSpPr>
          <p:sp>
            <p:nvSpPr>
              <p:cNvPr id="28" name="椭圆 1"/>
              <p:cNvSpPr>
                <a:spLocks noChangeAspect="1" noChangeArrowheads="1"/>
              </p:cNvSpPr>
              <p:nvPr/>
            </p:nvSpPr>
            <p:spPr bwMode="auto">
              <a:xfrm>
                <a:off x="964852" y="2722299"/>
                <a:ext cx="648000" cy="648000"/>
              </a:xfrm>
              <a:prstGeom prst="roundRect">
                <a:avLst/>
              </a:prstGeom>
              <a:solidFill>
                <a:srgbClr val="70927C"/>
              </a:solidFill>
              <a:ln w="19050">
                <a:noFill/>
              </a:ln>
            </p:spPr>
            <p:txBody>
              <a:bodyPr anchor="ct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algn="ctr" eaLnBrk="1" hangingPunct="1"/>
                <a:r>
                  <a:rPr lang="en-US" altLang="zh-CN"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04</a:t>
                </a:r>
                <a:endPar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sp>
            <p:nvSpPr>
              <p:cNvPr id="29" name="矩形 12"/>
              <p:cNvSpPr/>
              <p:nvPr/>
            </p:nvSpPr>
            <p:spPr>
              <a:xfrm>
                <a:off x="1648852" y="2823875"/>
                <a:ext cx="3662892" cy="461665"/>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400" b="1" spc="400"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研 究 总 结</a:t>
                </a:r>
              </a:p>
            </p:txBody>
          </p:sp>
        </p:grpSp>
        <p:grpSp>
          <p:nvGrpSpPr>
            <p:cNvPr id="12" name="组合 11"/>
            <p:cNvGrpSpPr/>
            <p:nvPr/>
          </p:nvGrpSpPr>
          <p:grpSpPr>
            <a:xfrm>
              <a:off x="3268346" y="5345072"/>
              <a:ext cx="4346892" cy="648000"/>
              <a:chOff x="3268346" y="5345072"/>
              <a:chExt cx="4346892" cy="648000"/>
            </a:xfrm>
          </p:grpSpPr>
          <p:sp>
            <p:nvSpPr>
              <p:cNvPr id="10" name="椭圆 1"/>
              <p:cNvSpPr>
                <a:spLocks noChangeAspect="1" noChangeArrowheads="1"/>
              </p:cNvSpPr>
              <p:nvPr/>
            </p:nvSpPr>
            <p:spPr bwMode="auto">
              <a:xfrm>
                <a:off x="3268346" y="5345072"/>
                <a:ext cx="648000" cy="648000"/>
              </a:xfrm>
              <a:prstGeom prst="roundRect">
                <a:avLst/>
              </a:prstGeom>
              <a:solidFill>
                <a:srgbClr val="70927C"/>
              </a:solidFill>
              <a:ln w="19050">
                <a:noFill/>
              </a:ln>
            </p:spPr>
            <p:txBody>
              <a:bodyPr anchor="ctr"/>
              <a:lstStyle>
                <a:lvl1pPr eaLnBrk="0" hangingPunct="0">
                  <a:defRPr>
                    <a:solidFill>
                      <a:schemeClr val="tx1"/>
                    </a:solidFill>
                    <a:latin typeface="Calibri" panose="020F0502020204030204" pitchFamily="34" charset="0"/>
                    <a:ea typeface="宋体" pitchFamily="2" charset="-122"/>
                  </a:defRPr>
                </a:lvl1pPr>
                <a:lvl2pPr marL="742950" indent="-285750" eaLnBrk="0" hangingPunct="0">
                  <a:defRPr>
                    <a:solidFill>
                      <a:schemeClr val="tx1"/>
                    </a:solidFill>
                    <a:latin typeface="Calibri" panose="020F0502020204030204" pitchFamily="34" charset="0"/>
                    <a:ea typeface="宋体" pitchFamily="2" charset="-122"/>
                  </a:defRPr>
                </a:lvl2pPr>
                <a:lvl3pPr marL="1143000" indent="-228600" eaLnBrk="0" hangingPunct="0">
                  <a:defRPr>
                    <a:solidFill>
                      <a:schemeClr val="tx1"/>
                    </a:solidFill>
                    <a:latin typeface="Calibri" panose="020F0502020204030204" pitchFamily="34" charset="0"/>
                    <a:ea typeface="宋体" pitchFamily="2" charset="-122"/>
                  </a:defRPr>
                </a:lvl3pPr>
                <a:lvl4pPr marL="1600200" indent="-228600" eaLnBrk="0" hangingPunct="0">
                  <a:defRPr>
                    <a:solidFill>
                      <a:schemeClr val="tx1"/>
                    </a:solidFill>
                    <a:latin typeface="Calibri" panose="020F0502020204030204" pitchFamily="34" charset="0"/>
                    <a:ea typeface="宋体" pitchFamily="2" charset="-122"/>
                  </a:defRPr>
                </a:lvl4pPr>
                <a:lvl5pPr marL="2057400" indent="-228600" eaLnBrk="0" hangingPunct="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buFont typeface="Arial" panose="020B0604020202090204" pitchFamily="34" charset="0"/>
                  <a:defRPr>
                    <a:solidFill>
                      <a:schemeClr val="tx1"/>
                    </a:solidFill>
                    <a:latin typeface="Calibri" panose="020F0502020204030204" pitchFamily="34" charset="0"/>
                    <a:ea typeface="宋体" pitchFamily="2" charset="-122"/>
                  </a:defRPr>
                </a:lvl9pPr>
              </a:lstStyle>
              <a:p>
                <a:pPr algn="ctr" eaLnBrk="1" hangingPunct="1"/>
                <a:r>
                  <a:rPr lang="en-US" altLang="zh-CN"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05</a:t>
                </a:r>
                <a:endPar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sp>
            <p:nvSpPr>
              <p:cNvPr id="11" name="矩形 12"/>
              <p:cNvSpPr/>
              <p:nvPr/>
            </p:nvSpPr>
            <p:spPr>
              <a:xfrm>
                <a:off x="3952346" y="5446648"/>
                <a:ext cx="3662892" cy="461665"/>
              </a:xfrm>
              <a:prstGeom prst="rect">
                <a:avLst/>
              </a:prstGeom>
            </p:spPr>
            <p:txBody>
              <a:bodyPr wrap="square" anchor="ctr">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sz="2400" b="1" spc="400"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致 谢</a:t>
                </a: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0"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898105"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3895" y="6098701"/>
            <a:ext cx="1661419" cy="759299"/>
          </a:xfrm>
          <a:prstGeom prst="rect">
            <a:avLst/>
          </a:prstGeom>
        </p:spPr>
      </p:pic>
      <p:sp>
        <p:nvSpPr>
          <p:cNvPr id="58" name="TextBox 57"/>
          <p:cNvSpPr txBox="1"/>
          <p:nvPr/>
        </p:nvSpPr>
        <p:spPr>
          <a:xfrm>
            <a:off x="1188700" y="3873649"/>
            <a:ext cx="612502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01</a:t>
            </a:r>
            <a:endParaRPr kumimoji="0" lang="zh-CN" altLang="en-US" sz="4800" b="1" i="0" u="none" strike="noStrike" kern="120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pic>
        <p:nvPicPr>
          <p:cNvPr id="59"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10653" b="40175"/>
          <a:stretch>
            <a:fillRect/>
          </a:stretch>
        </p:blipFill>
        <p:spPr bwMode="auto">
          <a:xfrm>
            <a:off x="-15529" y="1639152"/>
            <a:ext cx="12207529" cy="3373395"/>
          </a:xfrm>
          <a:prstGeom prst="rect">
            <a:avLst/>
          </a:prstGeom>
          <a:noFill/>
          <a:extLst>
            <a:ext uri="{909E8E84-426E-40DD-AFC4-6F175D3DCCD1}">
              <a14:hiddenFill xmlns:a14="http://schemas.microsoft.com/office/drawing/2010/main">
                <a:solidFill>
                  <a:srgbClr val="FFFFFF"/>
                </a:solidFill>
              </a14:hiddenFill>
            </a:ext>
          </a:extLst>
        </p:spPr>
      </p:pic>
      <p:sp>
        <p:nvSpPr>
          <p:cNvPr id="60" name="矩形 7"/>
          <p:cNvSpPr/>
          <p:nvPr/>
        </p:nvSpPr>
        <p:spPr>
          <a:xfrm flipH="1">
            <a:off x="-14289" y="1639152"/>
            <a:ext cx="12207529" cy="3373395"/>
          </a:xfrm>
          <a:prstGeom prst="rect">
            <a:avLst/>
          </a:prstGeom>
          <a:gradFill>
            <a:gsLst>
              <a:gs pos="0">
                <a:srgbClr val="014723"/>
              </a:gs>
              <a:gs pos="100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054" name="Group 2053"/>
          <p:cNvGrpSpPr>
            <a:grpSpLocks noChangeAspect="1"/>
          </p:cNvGrpSpPr>
          <p:nvPr/>
        </p:nvGrpSpPr>
        <p:grpSpPr>
          <a:xfrm>
            <a:off x="275244" y="1726719"/>
            <a:ext cx="3198260" cy="3198260"/>
            <a:chOff x="3193843" y="537003"/>
            <a:chExt cx="5783995" cy="5783995"/>
          </a:xfrm>
        </p:grpSpPr>
        <p:grpSp>
          <p:nvGrpSpPr>
            <p:cNvPr id="62" name="组合 4"/>
            <p:cNvGrpSpPr/>
            <p:nvPr/>
          </p:nvGrpSpPr>
          <p:grpSpPr>
            <a:xfrm>
              <a:off x="3193843" y="537003"/>
              <a:ext cx="5783995" cy="5783995"/>
              <a:chOff x="4547908" y="1880907"/>
              <a:chExt cx="3096184" cy="3096184"/>
            </a:xfrm>
            <a:solidFill>
              <a:schemeClr val="accent1"/>
            </a:solidFill>
          </p:grpSpPr>
          <p:sp>
            <p:nvSpPr>
              <p:cNvPr id="63" name="Freeform 8"/>
              <p:cNvSpPr/>
              <p:nvPr/>
            </p:nvSpPr>
            <p:spPr bwMode="auto">
              <a:xfrm rot="20822727">
                <a:off x="4711700" y="2044699"/>
                <a:ext cx="2768600" cy="2768600"/>
              </a:xfrm>
              <a:custGeom>
                <a:avLst/>
                <a:gdLst>
                  <a:gd name="T0" fmla="*/ 18 w 1811"/>
                  <a:gd name="T1" fmla="*/ 1151 h 1812"/>
                  <a:gd name="T2" fmla="*/ 9 w 1811"/>
                  <a:gd name="T3" fmla="*/ 975 h 1812"/>
                  <a:gd name="T4" fmla="*/ 44 w 1811"/>
                  <a:gd name="T5" fmla="*/ 838 h 1812"/>
                  <a:gd name="T6" fmla="*/ 146 w 1811"/>
                  <a:gd name="T7" fmla="*/ 456 h 1812"/>
                  <a:gd name="T8" fmla="*/ 205 w 1811"/>
                  <a:gd name="T9" fmla="*/ 309 h 1812"/>
                  <a:gd name="T10" fmla="*/ 417 w 1811"/>
                  <a:gd name="T11" fmla="*/ 155 h 1812"/>
                  <a:gd name="T12" fmla="*/ 897 w 1811"/>
                  <a:gd name="T13" fmla="*/ 26 h 1812"/>
                  <a:gd name="T14" fmla="*/ 959 w 1811"/>
                  <a:gd name="T15" fmla="*/ 11 h 1812"/>
                  <a:gd name="T16" fmla="*/ 1101 w 1811"/>
                  <a:gd name="T17" fmla="*/ 0 h 1812"/>
                  <a:gd name="T18" fmla="*/ 1299 w 1811"/>
                  <a:gd name="T19" fmla="*/ 90 h 1812"/>
                  <a:gd name="T20" fmla="*/ 1303 w 1811"/>
                  <a:gd name="T21" fmla="*/ 98 h 1812"/>
                  <a:gd name="T22" fmla="*/ 1407 w 1811"/>
                  <a:gd name="T23" fmla="*/ 203 h 1812"/>
                  <a:gd name="T24" fmla="*/ 1609 w 1811"/>
                  <a:gd name="T25" fmla="*/ 404 h 1812"/>
                  <a:gd name="T26" fmla="*/ 1692 w 1811"/>
                  <a:gd name="T27" fmla="*/ 486 h 1812"/>
                  <a:gd name="T28" fmla="*/ 1721 w 1811"/>
                  <a:gd name="T29" fmla="*/ 513 h 1812"/>
                  <a:gd name="T30" fmla="*/ 1798 w 1811"/>
                  <a:gd name="T31" fmla="*/ 648 h 1812"/>
                  <a:gd name="T32" fmla="*/ 1802 w 1811"/>
                  <a:gd name="T33" fmla="*/ 667 h 1812"/>
                  <a:gd name="T34" fmla="*/ 1810 w 1811"/>
                  <a:gd name="T35" fmla="*/ 762 h 1812"/>
                  <a:gd name="T36" fmla="*/ 1807 w 1811"/>
                  <a:gd name="T37" fmla="*/ 839 h 1812"/>
                  <a:gd name="T38" fmla="*/ 1770 w 1811"/>
                  <a:gd name="T39" fmla="*/ 980 h 1812"/>
                  <a:gd name="T40" fmla="*/ 1706 w 1811"/>
                  <a:gd name="T41" fmla="*/ 1215 h 1812"/>
                  <a:gd name="T42" fmla="*/ 1703 w 1811"/>
                  <a:gd name="T43" fmla="*/ 1222 h 1812"/>
                  <a:gd name="T44" fmla="*/ 1675 w 1811"/>
                  <a:gd name="T45" fmla="*/ 1335 h 1812"/>
                  <a:gd name="T46" fmla="*/ 1539 w 1811"/>
                  <a:gd name="T47" fmla="*/ 1580 h 1812"/>
                  <a:gd name="T48" fmla="*/ 1380 w 1811"/>
                  <a:gd name="T49" fmla="*/ 1660 h 1812"/>
                  <a:gd name="T50" fmla="*/ 1273 w 1811"/>
                  <a:gd name="T51" fmla="*/ 1686 h 1812"/>
                  <a:gd name="T52" fmla="*/ 1271 w 1811"/>
                  <a:gd name="T53" fmla="*/ 1690 h 1812"/>
                  <a:gd name="T54" fmla="*/ 1090 w 1811"/>
                  <a:gd name="T55" fmla="*/ 1736 h 1812"/>
                  <a:gd name="T56" fmla="*/ 856 w 1811"/>
                  <a:gd name="T57" fmla="*/ 1800 h 1812"/>
                  <a:gd name="T58" fmla="*/ 840 w 1811"/>
                  <a:gd name="T59" fmla="*/ 1801 h 1812"/>
                  <a:gd name="T60" fmla="*/ 675 w 1811"/>
                  <a:gd name="T61" fmla="*/ 1798 h 1812"/>
                  <a:gd name="T62" fmla="*/ 575 w 1811"/>
                  <a:gd name="T63" fmla="*/ 1757 h 1812"/>
                  <a:gd name="T64" fmla="*/ 415 w 1811"/>
                  <a:gd name="T65" fmla="*/ 1618 h 1812"/>
                  <a:gd name="T66" fmla="*/ 406 w 1811"/>
                  <a:gd name="T67" fmla="*/ 1603 h 1812"/>
                  <a:gd name="T68" fmla="*/ 212 w 1811"/>
                  <a:gd name="T69" fmla="*/ 1409 h 1812"/>
                  <a:gd name="T70" fmla="*/ 197 w 1811"/>
                  <a:gd name="T71" fmla="*/ 1400 h 1812"/>
                  <a:gd name="T72" fmla="*/ 81 w 1811"/>
                  <a:gd name="T73" fmla="*/ 1277 h 1812"/>
                  <a:gd name="T74" fmla="*/ 18 w 1811"/>
                  <a:gd name="T75" fmla="*/ 1151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1" h="1812">
                    <a:moveTo>
                      <a:pt x="18" y="1151"/>
                    </a:moveTo>
                    <a:cubicBezTo>
                      <a:pt x="0" y="1093"/>
                      <a:pt x="1" y="1034"/>
                      <a:pt x="9" y="975"/>
                    </a:cubicBezTo>
                    <a:cubicBezTo>
                      <a:pt x="21" y="930"/>
                      <a:pt x="32" y="884"/>
                      <a:pt x="44" y="838"/>
                    </a:cubicBezTo>
                    <a:cubicBezTo>
                      <a:pt x="78" y="711"/>
                      <a:pt x="112" y="584"/>
                      <a:pt x="146" y="456"/>
                    </a:cubicBezTo>
                    <a:cubicBezTo>
                      <a:pt x="160" y="404"/>
                      <a:pt x="176" y="354"/>
                      <a:pt x="205" y="309"/>
                    </a:cubicBezTo>
                    <a:cubicBezTo>
                      <a:pt x="257" y="231"/>
                      <a:pt x="328" y="179"/>
                      <a:pt x="417" y="155"/>
                    </a:cubicBezTo>
                    <a:cubicBezTo>
                      <a:pt x="576" y="110"/>
                      <a:pt x="737" y="69"/>
                      <a:pt x="897" y="26"/>
                    </a:cubicBezTo>
                    <a:cubicBezTo>
                      <a:pt x="917" y="21"/>
                      <a:pt x="938" y="16"/>
                      <a:pt x="959" y="11"/>
                    </a:cubicBezTo>
                    <a:cubicBezTo>
                      <a:pt x="1006" y="7"/>
                      <a:pt x="1054" y="4"/>
                      <a:pt x="1101" y="0"/>
                    </a:cubicBezTo>
                    <a:cubicBezTo>
                      <a:pt x="1176" y="10"/>
                      <a:pt x="1240" y="44"/>
                      <a:pt x="1299" y="90"/>
                    </a:cubicBezTo>
                    <a:cubicBezTo>
                      <a:pt x="1300" y="93"/>
                      <a:pt x="1301" y="96"/>
                      <a:pt x="1303" y="98"/>
                    </a:cubicBezTo>
                    <a:cubicBezTo>
                      <a:pt x="1338" y="133"/>
                      <a:pt x="1372" y="168"/>
                      <a:pt x="1407" y="203"/>
                    </a:cubicBezTo>
                    <a:cubicBezTo>
                      <a:pt x="1474" y="270"/>
                      <a:pt x="1541" y="337"/>
                      <a:pt x="1609" y="404"/>
                    </a:cubicBezTo>
                    <a:cubicBezTo>
                      <a:pt x="1636" y="431"/>
                      <a:pt x="1664" y="459"/>
                      <a:pt x="1692" y="486"/>
                    </a:cubicBezTo>
                    <a:cubicBezTo>
                      <a:pt x="1702" y="495"/>
                      <a:pt x="1711" y="504"/>
                      <a:pt x="1721" y="513"/>
                    </a:cubicBezTo>
                    <a:cubicBezTo>
                      <a:pt x="1753" y="554"/>
                      <a:pt x="1783" y="597"/>
                      <a:pt x="1798" y="648"/>
                    </a:cubicBezTo>
                    <a:cubicBezTo>
                      <a:pt x="1800" y="654"/>
                      <a:pt x="1801" y="661"/>
                      <a:pt x="1802" y="667"/>
                    </a:cubicBezTo>
                    <a:cubicBezTo>
                      <a:pt x="1805" y="699"/>
                      <a:pt x="1809" y="730"/>
                      <a:pt x="1810" y="762"/>
                    </a:cubicBezTo>
                    <a:cubicBezTo>
                      <a:pt x="1811" y="787"/>
                      <a:pt x="1808" y="813"/>
                      <a:pt x="1807" y="839"/>
                    </a:cubicBezTo>
                    <a:cubicBezTo>
                      <a:pt x="1794" y="886"/>
                      <a:pt x="1782" y="933"/>
                      <a:pt x="1770" y="980"/>
                    </a:cubicBezTo>
                    <a:cubicBezTo>
                      <a:pt x="1749" y="1058"/>
                      <a:pt x="1727" y="1136"/>
                      <a:pt x="1706" y="1215"/>
                    </a:cubicBezTo>
                    <a:cubicBezTo>
                      <a:pt x="1705" y="1217"/>
                      <a:pt x="1704" y="1220"/>
                      <a:pt x="1703" y="1222"/>
                    </a:cubicBezTo>
                    <a:cubicBezTo>
                      <a:pt x="1693" y="1259"/>
                      <a:pt x="1684" y="1297"/>
                      <a:pt x="1675" y="1335"/>
                    </a:cubicBezTo>
                    <a:cubicBezTo>
                      <a:pt x="1655" y="1430"/>
                      <a:pt x="1615" y="1515"/>
                      <a:pt x="1539" y="1580"/>
                    </a:cubicBezTo>
                    <a:cubicBezTo>
                      <a:pt x="1492" y="1619"/>
                      <a:pt x="1438" y="1644"/>
                      <a:pt x="1380" y="1660"/>
                    </a:cubicBezTo>
                    <a:cubicBezTo>
                      <a:pt x="1344" y="1668"/>
                      <a:pt x="1309" y="1677"/>
                      <a:pt x="1273" y="1686"/>
                    </a:cubicBezTo>
                    <a:cubicBezTo>
                      <a:pt x="1272" y="1686"/>
                      <a:pt x="1271" y="1689"/>
                      <a:pt x="1271" y="1690"/>
                    </a:cubicBezTo>
                    <a:cubicBezTo>
                      <a:pt x="1210" y="1705"/>
                      <a:pt x="1150" y="1720"/>
                      <a:pt x="1090" y="1736"/>
                    </a:cubicBezTo>
                    <a:cubicBezTo>
                      <a:pt x="1012" y="1757"/>
                      <a:pt x="934" y="1778"/>
                      <a:pt x="856" y="1800"/>
                    </a:cubicBezTo>
                    <a:cubicBezTo>
                      <a:pt x="851" y="1800"/>
                      <a:pt x="845" y="1799"/>
                      <a:pt x="840" y="1801"/>
                    </a:cubicBezTo>
                    <a:cubicBezTo>
                      <a:pt x="785" y="1812"/>
                      <a:pt x="730" y="1810"/>
                      <a:pt x="675" y="1798"/>
                    </a:cubicBezTo>
                    <a:cubicBezTo>
                      <a:pt x="641" y="1785"/>
                      <a:pt x="606" y="1774"/>
                      <a:pt x="575" y="1757"/>
                    </a:cubicBezTo>
                    <a:cubicBezTo>
                      <a:pt x="511" y="1723"/>
                      <a:pt x="466" y="1667"/>
                      <a:pt x="415" y="1618"/>
                    </a:cubicBezTo>
                    <a:cubicBezTo>
                      <a:pt x="412" y="1613"/>
                      <a:pt x="410" y="1607"/>
                      <a:pt x="406" y="1603"/>
                    </a:cubicBezTo>
                    <a:cubicBezTo>
                      <a:pt x="342" y="1538"/>
                      <a:pt x="277" y="1473"/>
                      <a:pt x="212" y="1409"/>
                    </a:cubicBezTo>
                    <a:cubicBezTo>
                      <a:pt x="208" y="1405"/>
                      <a:pt x="202" y="1403"/>
                      <a:pt x="197" y="1400"/>
                    </a:cubicBezTo>
                    <a:cubicBezTo>
                      <a:pt x="158" y="1359"/>
                      <a:pt x="118" y="1320"/>
                      <a:pt x="81" y="1277"/>
                    </a:cubicBezTo>
                    <a:cubicBezTo>
                      <a:pt x="50" y="1241"/>
                      <a:pt x="29" y="1198"/>
                      <a:pt x="18" y="1151"/>
                    </a:cubicBezTo>
                    <a:close/>
                  </a:path>
                </a:pathLst>
              </a:custGeom>
              <a:solidFill>
                <a:schemeClr val="bg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sp>
            <p:nvSpPr>
              <p:cNvPr id="2048" name="Freeform 8"/>
              <p:cNvSpPr/>
              <p:nvPr/>
            </p:nvSpPr>
            <p:spPr bwMode="auto">
              <a:xfrm rot="20822727">
                <a:off x="4547908" y="1880907"/>
                <a:ext cx="3096184" cy="3096184"/>
              </a:xfrm>
              <a:custGeom>
                <a:avLst/>
                <a:gdLst>
                  <a:gd name="T0" fmla="*/ 18 w 1811"/>
                  <a:gd name="T1" fmla="*/ 1151 h 1812"/>
                  <a:gd name="T2" fmla="*/ 9 w 1811"/>
                  <a:gd name="T3" fmla="*/ 975 h 1812"/>
                  <a:gd name="T4" fmla="*/ 44 w 1811"/>
                  <a:gd name="T5" fmla="*/ 838 h 1812"/>
                  <a:gd name="T6" fmla="*/ 146 w 1811"/>
                  <a:gd name="T7" fmla="*/ 456 h 1812"/>
                  <a:gd name="T8" fmla="*/ 205 w 1811"/>
                  <a:gd name="T9" fmla="*/ 309 h 1812"/>
                  <a:gd name="T10" fmla="*/ 417 w 1811"/>
                  <a:gd name="T11" fmla="*/ 155 h 1812"/>
                  <a:gd name="T12" fmla="*/ 897 w 1811"/>
                  <a:gd name="T13" fmla="*/ 26 h 1812"/>
                  <a:gd name="T14" fmla="*/ 959 w 1811"/>
                  <a:gd name="T15" fmla="*/ 11 h 1812"/>
                  <a:gd name="T16" fmla="*/ 1101 w 1811"/>
                  <a:gd name="T17" fmla="*/ 0 h 1812"/>
                  <a:gd name="T18" fmla="*/ 1299 w 1811"/>
                  <a:gd name="T19" fmla="*/ 90 h 1812"/>
                  <a:gd name="T20" fmla="*/ 1303 w 1811"/>
                  <a:gd name="T21" fmla="*/ 98 h 1812"/>
                  <a:gd name="T22" fmla="*/ 1407 w 1811"/>
                  <a:gd name="T23" fmla="*/ 203 h 1812"/>
                  <a:gd name="T24" fmla="*/ 1609 w 1811"/>
                  <a:gd name="T25" fmla="*/ 404 h 1812"/>
                  <a:gd name="T26" fmla="*/ 1692 w 1811"/>
                  <a:gd name="T27" fmla="*/ 486 h 1812"/>
                  <a:gd name="T28" fmla="*/ 1721 w 1811"/>
                  <a:gd name="T29" fmla="*/ 513 h 1812"/>
                  <a:gd name="T30" fmla="*/ 1798 w 1811"/>
                  <a:gd name="T31" fmla="*/ 648 h 1812"/>
                  <a:gd name="T32" fmla="*/ 1802 w 1811"/>
                  <a:gd name="T33" fmla="*/ 667 h 1812"/>
                  <a:gd name="T34" fmla="*/ 1810 w 1811"/>
                  <a:gd name="T35" fmla="*/ 762 h 1812"/>
                  <a:gd name="T36" fmla="*/ 1807 w 1811"/>
                  <a:gd name="T37" fmla="*/ 839 h 1812"/>
                  <a:gd name="T38" fmla="*/ 1770 w 1811"/>
                  <a:gd name="T39" fmla="*/ 980 h 1812"/>
                  <a:gd name="T40" fmla="*/ 1706 w 1811"/>
                  <a:gd name="T41" fmla="*/ 1215 h 1812"/>
                  <a:gd name="T42" fmla="*/ 1703 w 1811"/>
                  <a:gd name="T43" fmla="*/ 1222 h 1812"/>
                  <a:gd name="T44" fmla="*/ 1675 w 1811"/>
                  <a:gd name="T45" fmla="*/ 1335 h 1812"/>
                  <a:gd name="T46" fmla="*/ 1539 w 1811"/>
                  <a:gd name="T47" fmla="*/ 1580 h 1812"/>
                  <a:gd name="T48" fmla="*/ 1380 w 1811"/>
                  <a:gd name="T49" fmla="*/ 1660 h 1812"/>
                  <a:gd name="T50" fmla="*/ 1273 w 1811"/>
                  <a:gd name="T51" fmla="*/ 1686 h 1812"/>
                  <a:gd name="T52" fmla="*/ 1271 w 1811"/>
                  <a:gd name="T53" fmla="*/ 1690 h 1812"/>
                  <a:gd name="T54" fmla="*/ 1090 w 1811"/>
                  <a:gd name="T55" fmla="*/ 1736 h 1812"/>
                  <a:gd name="T56" fmla="*/ 856 w 1811"/>
                  <a:gd name="T57" fmla="*/ 1800 h 1812"/>
                  <a:gd name="T58" fmla="*/ 840 w 1811"/>
                  <a:gd name="T59" fmla="*/ 1801 h 1812"/>
                  <a:gd name="T60" fmla="*/ 675 w 1811"/>
                  <a:gd name="T61" fmla="*/ 1798 h 1812"/>
                  <a:gd name="T62" fmla="*/ 575 w 1811"/>
                  <a:gd name="T63" fmla="*/ 1757 h 1812"/>
                  <a:gd name="T64" fmla="*/ 415 w 1811"/>
                  <a:gd name="T65" fmla="*/ 1618 h 1812"/>
                  <a:gd name="T66" fmla="*/ 406 w 1811"/>
                  <a:gd name="T67" fmla="*/ 1603 h 1812"/>
                  <a:gd name="T68" fmla="*/ 212 w 1811"/>
                  <a:gd name="T69" fmla="*/ 1409 h 1812"/>
                  <a:gd name="T70" fmla="*/ 197 w 1811"/>
                  <a:gd name="T71" fmla="*/ 1400 h 1812"/>
                  <a:gd name="T72" fmla="*/ 81 w 1811"/>
                  <a:gd name="T73" fmla="*/ 1277 h 1812"/>
                  <a:gd name="T74" fmla="*/ 18 w 1811"/>
                  <a:gd name="T75" fmla="*/ 1151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1" h="1812">
                    <a:moveTo>
                      <a:pt x="18" y="1151"/>
                    </a:moveTo>
                    <a:cubicBezTo>
                      <a:pt x="0" y="1093"/>
                      <a:pt x="1" y="1034"/>
                      <a:pt x="9" y="975"/>
                    </a:cubicBezTo>
                    <a:cubicBezTo>
                      <a:pt x="21" y="930"/>
                      <a:pt x="32" y="884"/>
                      <a:pt x="44" y="838"/>
                    </a:cubicBezTo>
                    <a:cubicBezTo>
                      <a:pt x="78" y="711"/>
                      <a:pt x="112" y="584"/>
                      <a:pt x="146" y="456"/>
                    </a:cubicBezTo>
                    <a:cubicBezTo>
                      <a:pt x="160" y="404"/>
                      <a:pt x="176" y="354"/>
                      <a:pt x="205" y="309"/>
                    </a:cubicBezTo>
                    <a:cubicBezTo>
                      <a:pt x="257" y="231"/>
                      <a:pt x="328" y="179"/>
                      <a:pt x="417" y="155"/>
                    </a:cubicBezTo>
                    <a:cubicBezTo>
                      <a:pt x="576" y="110"/>
                      <a:pt x="737" y="69"/>
                      <a:pt x="897" y="26"/>
                    </a:cubicBezTo>
                    <a:cubicBezTo>
                      <a:pt x="917" y="21"/>
                      <a:pt x="938" y="16"/>
                      <a:pt x="959" y="11"/>
                    </a:cubicBezTo>
                    <a:cubicBezTo>
                      <a:pt x="1006" y="7"/>
                      <a:pt x="1054" y="4"/>
                      <a:pt x="1101" y="0"/>
                    </a:cubicBezTo>
                    <a:cubicBezTo>
                      <a:pt x="1176" y="10"/>
                      <a:pt x="1240" y="44"/>
                      <a:pt x="1299" y="90"/>
                    </a:cubicBezTo>
                    <a:cubicBezTo>
                      <a:pt x="1300" y="93"/>
                      <a:pt x="1301" y="96"/>
                      <a:pt x="1303" y="98"/>
                    </a:cubicBezTo>
                    <a:cubicBezTo>
                      <a:pt x="1338" y="133"/>
                      <a:pt x="1372" y="168"/>
                      <a:pt x="1407" y="203"/>
                    </a:cubicBezTo>
                    <a:cubicBezTo>
                      <a:pt x="1474" y="270"/>
                      <a:pt x="1541" y="337"/>
                      <a:pt x="1609" y="404"/>
                    </a:cubicBezTo>
                    <a:cubicBezTo>
                      <a:pt x="1636" y="431"/>
                      <a:pt x="1664" y="459"/>
                      <a:pt x="1692" y="486"/>
                    </a:cubicBezTo>
                    <a:cubicBezTo>
                      <a:pt x="1702" y="495"/>
                      <a:pt x="1711" y="504"/>
                      <a:pt x="1721" y="513"/>
                    </a:cubicBezTo>
                    <a:cubicBezTo>
                      <a:pt x="1753" y="554"/>
                      <a:pt x="1783" y="597"/>
                      <a:pt x="1798" y="648"/>
                    </a:cubicBezTo>
                    <a:cubicBezTo>
                      <a:pt x="1800" y="654"/>
                      <a:pt x="1801" y="661"/>
                      <a:pt x="1802" y="667"/>
                    </a:cubicBezTo>
                    <a:cubicBezTo>
                      <a:pt x="1805" y="699"/>
                      <a:pt x="1809" y="730"/>
                      <a:pt x="1810" y="762"/>
                    </a:cubicBezTo>
                    <a:cubicBezTo>
                      <a:pt x="1811" y="787"/>
                      <a:pt x="1808" y="813"/>
                      <a:pt x="1807" y="839"/>
                    </a:cubicBezTo>
                    <a:cubicBezTo>
                      <a:pt x="1794" y="886"/>
                      <a:pt x="1782" y="933"/>
                      <a:pt x="1770" y="980"/>
                    </a:cubicBezTo>
                    <a:cubicBezTo>
                      <a:pt x="1749" y="1058"/>
                      <a:pt x="1727" y="1136"/>
                      <a:pt x="1706" y="1215"/>
                    </a:cubicBezTo>
                    <a:cubicBezTo>
                      <a:pt x="1705" y="1217"/>
                      <a:pt x="1704" y="1220"/>
                      <a:pt x="1703" y="1222"/>
                    </a:cubicBezTo>
                    <a:cubicBezTo>
                      <a:pt x="1693" y="1259"/>
                      <a:pt x="1684" y="1297"/>
                      <a:pt x="1675" y="1335"/>
                    </a:cubicBezTo>
                    <a:cubicBezTo>
                      <a:pt x="1655" y="1430"/>
                      <a:pt x="1615" y="1515"/>
                      <a:pt x="1539" y="1580"/>
                    </a:cubicBezTo>
                    <a:cubicBezTo>
                      <a:pt x="1492" y="1619"/>
                      <a:pt x="1438" y="1644"/>
                      <a:pt x="1380" y="1660"/>
                    </a:cubicBezTo>
                    <a:cubicBezTo>
                      <a:pt x="1344" y="1668"/>
                      <a:pt x="1309" y="1677"/>
                      <a:pt x="1273" y="1686"/>
                    </a:cubicBezTo>
                    <a:cubicBezTo>
                      <a:pt x="1272" y="1686"/>
                      <a:pt x="1271" y="1689"/>
                      <a:pt x="1271" y="1690"/>
                    </a:cubicBezTo>
                    <a:cubicBezTo>
                      <a:pt x="1210" y="1705"/>
                      <a:pt x="1150" y="1720"/>
                      <a:pt x="1090" y="1736"/>
                    </a:cubicBezTo>
                    <a:cubicBezTo>
                      <a:pt x="1012" y="1757"/>
                      <a:pt x="934" y="1778"/>
                      <a:pt x="856" y="1800"/>
                    </a:cubicBezTo>
                    <a:cubicBezTo>
                      <a:pt x="851" y="1800"/>
                      <a:pt x="845" y="1799"/>
                      <a:pt x="840" y="1801"/>
                    </a:cubicBezTo>
                    <a:cubicBezTo>
                      <a:pt x="785" y="1812"/>
                      <a:pt x="730" y="1810"/>
                      <a:pt x="675" y="1798"/>
                    </a:cubicBezTo>
                    <a:cubicBezTo>
                      <a:pt x="641" y="1785"/>
                      <a:pt x="606" y="1774"/>
                      <a:pt x="575" y="1757"/>
                    </a:cubicBezTo>
                    <a:cubicBezTo>
                      <a:pt x="511" y="1723"/>
                      <a:pt x="466" y="1667"/>
                      <a:pt x="415" y="1618"/>
                    </a:cubicBezTo>
                    <a:cubicBezTo>
                      <a:pt x="412" y="1613"/>
                      <a:pt x="410" y="1607"/>
                      <a:pt x="406" y="1603"/>
                    </a:cubicBezTo>
                    <a:cubicBezTo>
                      <a:pt x="342" y="1538"/>
                      <a:pt x="277" y="1473"/>
                      <a:pt x="212" y="1409"/>
                    </a:cubicBezTo>
                    <a:cubicBezTo>
                      <a:pt x="208" y="1405"/>
                      <a:pt x="202" y="1403"/>
                      <a:pt x="197" y="1400"/>
                    </a:cubicBezTo>
                    <a:cubicBezTo>
                      <a:pt x="158" y="1359"/>
                      <a:pt x="118" y="1320"/>
                      <a:pt x="81" y="1277"/>
                    </a:cubicBezTo>
                    <a:cubicBezTo>
                      <a:pt x="50" y="1241"/>
                      <a:pt x="29" y="1198"/>
                      <a:pt x="18" y="1151"/>
                    </a:cubicBezTo>
                    <a:close/>
                  </a:path>
                </a:pathLst>
              </a:custGeom>
              <a:noFill/>
              <a:ln>
                <a:solidFill>
                  <a:schemeClr val="bg1"/>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grpSp>
        <p:sp>
          <p:nvSpPr>
            <p:cNvPr id="2051" name="文本框 9"/>
            <p:cNvSpPr txBox="1"/>
            <p:nvPr/>
          </p:nvSpPr>
          <p:spPr>
            <a:xfrm>
              <a:off x="4305302" y="2009650"/>
              <a:ext cx="3561080" cy="2838702"/>
            </a:xfrm>
            <a:prstGeom prst="rect">
              <a:avLst/>
            </a:prstGeom>
            <a:noFill/>
            <a:effectLst>
              <a:outerShdw dist="63500" dir="2700000" algn="tl" rotWithShape="0">
                <a:schemeClr val="bg1">
                  <a:alpha val="40000"/>
                </a:schemeClr>
              </a:outerShdw>
            </a:effectLst>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600" b="1" i="0" u="none" strike="noStrike" cap="none" spc="0" normalizeH="0" baseline="0">
                  <a:ln>
                    <a:noFill/>
                  </a:ln>
                  <a:solidFill>
                    <a:schemeClr val="accent1"/>
                  </a:solidFill>
                  <a:effectLst>
                    <a:outerShdw dist="76200" dir="2700000" algn="tl" rotWithShape="0">
                      <a:prstClr val="white">
                        <a:alpha val="40000"/>
                      </a:prstClr>
                    </a:outerShdw>
                  </a:effectLst>
                  <a:uLnTx/>
                  <a:uFillTx/>
                  <a:latin typeface="Arial" panose="020B0604020202090204"/>
                  <a:ea typeface="微软雅黑"/>
                  <a:cs typeface="汉仪雅酷黑 65W" panose="020B0604020202020204" charset="-122"/>
                </a:defRPr>
              </a:lvl1pPr>
            </a:lstStyle>
            <a:p>
              <a:r>
                <a:rPr lang="en-US" altLang="zh-CN" sz="960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sym typeface="+mn-lt"/>
                </a:rPr>
                <a:t>01</a:t>
              </a:r>
            </a:p>
          </p:txBody>
        </p:sp>
      </p:grpSp>
      <p:sp>
        <p:nvSpPr>
          <p:cNvPr id="2056" name="文本框 14"/>
          <p:cNvSpPr txBox="1"/>
          <p:nvPr/>
        </p:nvSpPr>
        <p:spPr>
          <a:xfrm>
            <a:off x="-16768" y="2922912"/>
            <a:ext cx="12208768" cy="923330"/>
          </a:xfrm>
          <a:prstGeom prst="rect">
            <a:avLst/>
          </a:prstGeom>
          <a:noFill/>
        </p:spPr>
        <p:txBody>
          <a:bodyPr wrap="square" rtlCol="0">
            <a:spAutoFit/>
          </a:bodyPr>
          <a:lstStyle/>
          <a:p>
            <a:pPr algn="ctr"/>
            <a:r>
              <a:rPr lang="zh-CN" altLang="en-US" sz="54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研 究 背 景</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21"/>
          <p:cNvSpPr>
            <a:spLocks noGrp="1"/>
          </p:cNvSpPr>
          <p:nvPr>
            <p:ph type="sldNum" sz="quarter" idx="12"/>
          </p:nvPr>
        </p:nvSpPr>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5</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32" name="图片 31"/>
          <p:cNvPicPr>
            <a:picLocks noChangeAspect="1"/>
          </p:cNvPicPr>
          <p:nvPr/>
        </p:nvPicPr>
        <p:blipFill rotWithShape="1">
          <a:blip r:embed="rId3"/>
          <a:srcRect r="50443"/>
          <a:stretch>
            <a:fillRect/>
          </a:stretch>
        </p:blipFill>
        <p:spPr>
          <a:xfrm>
            <a:off x="6509566" y="2087418"/>
            <a:ext cx="3832824" cy="2182843"/>
          </a:xfrm>
          <a:prstGeom prst="rect">
            <a:avLst/>
          </a:prstGeom>
        </p:spPr>
      </p:pic>
      <p:pic>
        <p:nvPicPr>
          <p:cNvPr id="33" name="图片 32"/>
          <p:cNvPicPr>
            <a:picLocks noChangeAspect="1"/>
          </p:cNvPicPr>
          <p:nvPr/>
        </p:nvPicPr>
        <p:blipFill rotWithShape="1">
          <a:blip r:embed="rId4"/>
          <a:srcRect r="50443"/>
          <a:stretch>
            <a:fillRect/>
          </a:stretch>
        </p:blipFill>
        <p:spPr>
          <a:xfrm>
            <a:off x="6509566" y="4292994"/>
            <a:ext cx="3835822" cy="2182843"/>
          </a:xfrm>
          <a:prstGeom prst="rect">
            <a:avLst/>
          </a:prstGeom>
        </p:spPr>
      </p:pic>
      <p:pic>
        <p:nvPicPr>
          <p:cNvPr id="34" name="Picture 4" descr="结核 的图像结果"/>
          <p:cNvPicPr>
            <a:picLocks noChangeAspect="1" noChangeArrowheads="1"/>
          </p:cNvPicPr>
          <p:nvPr/>
        </p:nvPicPr>
        <p:blipFill rotWithShape="1">
          <a:blip r:embed="rId5">
            <a:extLst>
              <a:ext uri="{28A0092B-C50C-407E-A947-70E740481C1C}">
                <a14:useLocalDpi xmlns:a14="http://schemas.microsoft.com/office/drawing/2010/main" val="0"/>
              </a:ext>
            </a:extLst>
          </a:blip>
          <a:srcRect l="358" t="-2361" r="-358" b="2361"/>
          <a:stretch>
            <a:fillRect/>
          </a:stretch>
        </p:blipFill>
        <p:spPr bwMode="auto">
          <a:xfrm>
            <a:off x="893920" y="1121563"/>
            <a:ext cx="3705597" cy="424845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p:cNvSpPr txBox="1"/>
          <p:nvPr/>
        </p:nvSpPr>
        <p:spPr>
          <a:xfrm>
            <a:off x="564252" y="6569788"/>
            <a:ext cx="6915150" cy="246221"/>
          </a:xfrm>
          <a:prstGeom prst="rect">
            <a:avLst/>
          </a:prstGeom>
          <a:noFill/>
          <a:ln w="19050">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 WHO. Global tuberculosis report, 2024.</a:t>
            </a:r>
          </a:p>
        </p:txBody>
      </p:sp>
      <p:sp>
        <p:nvSpPr>
          <p:cNvPr id="3" name="文本框 2"/>
          <p:cNvSpPr txBox="1"/>
          <p:nvPr/>
        </p:nvSpPr>
        <p:spPr>
          <a:xfrm>
            <a:off x="7606378" y="6460062"/>
            <a:ext cx="3633704" cy="338554"/>
          </a:xfrm>
          <a:prstGeom prst="rect">
            <a:avLst/>
          </a:prstGeom>
          <a:noFill/>
          <a:ln w="19050">
            <a:noFill/>
          </a:ln>
        </p:spPr>
        <p:txBody>
          <a:bodyPr wrap="square">
            <a:spAutoFit/>
          </a:bodyPr>
          <a:lstStyle/>
          <a:p>
            <a:r>
              <a:rPr lang="zh-CN" altLang="en-US" sz="16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结核病全球疾病负担</a:t>
            </a:r>
            <a:r>
              <a:rPr lang="en-US" altLang="zh-CN" sz="1600" baseline="300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[1]</a:t>
            </a:r>
            <a:endParaRPr lang="zh-CN" altLang="en-US" sz="1600" baseline="300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 name="文本框 3"/>
          <p:cNvSpPr txBox="1"/>
          <p:nvPr/>
        </p:nvSpPr>
        <p:spPr>
          <a:xfrm>
            <a:off x="564252" y="5458214"/>
            <a:ext cx="4364935" cy="874663"/>
          </a:xfrm>
          <a:prstGeom prst="rect">
            <a:avLst/>
          </a:prstGeom>
          <a:noFill/>
          <a:ln w="19050">
            <a:noFill/>
          </a:ln>
        </p:spPr>
        <p:txBody>
          <a:bodyPr wrap="square">
            <a:spAutoFit/>
          </a:bodyPr>
          <a:lstStyle/>
          <a:p>
            <a:pPr>
              <a:lnSpc>
                <a:spcPct val="150000"/>
              </a:lnSpc>
            </a:pPr>
            <a:r>
              <a:rPr lang="zh-CN" altLang="zh-CN" b="1" dirty="0">
                <a:effectLst/>
                <a:latin typeface="Times New Roman" panose="02020503050405090304" pitchFamily="18" charset="0"/>
                <a:ea typeface="Microsoft YaHei UI" panose="020B0503020204020204" pitchFamily="34" charset="-122"/>
                <a:cs typeface="Times New Roman" panose="02020503050405090304" pitchFamily="18" charset="0"/>
              </a:rPr>
              <a:t>结核病是由结核分枝杆菌引起的一种慢性传染性疾病</a:t>
            </a:r>
            <a:r>
              <a:rPr lang="zh-CN" altLang="en-US" b="1" dirty="0">
                <a:effectLst/>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b="1" dirty="0">
                <a:effectLst/>
                <a:latin typeface="Times New Roman" panose="02020503050405090304" pitchFamily="18" charset="0"/>
                <a:ea typeface="Microsoft YaHei UI" panose="020B0503020204020204" pitchFamily="34" charset="-122"/>
                <a:cs typeface="Times New Roman" panose="02020503050405090304" pitchFamily="18" charset="0"/>
              </a:rPr>
              <a:t>主要侵袭肺组织导致肺结核</a:t>
            </a:r>
            <a:endParaRPr lang="zh-CN" altLang="en-US" b="1" dirty="0">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9" name="图片 8"/>
          <p:cNvPicPr>
            <a:picLocks noChangeAspect="1"/>
          </p:cNvPicPr>
          <p:nvPr/>
        </p:nvPicPr>
        <p:blipFill>
          <a:blip r:embed="rId6"/>
          <a:stretch>
            <a:fillRect/>
          </a:stretch>
        </p:blipFill>
        <p:spPr>
          <a:xfrm>
            <a:off x="6114788" y="698371"/>
            <a:ext cx="4983464" cy="1306640"/>
          </a:xfrm>
          <a:prstGeom prst="rect">
            <a:avLst/>
          </a:prstGeom>
        </p:spPr>
      </p:pic>
      <p:sp>
        <p:nvSpPr>
          <p:cNvPr id="8" name="圆角矩形 7"/>
          <p:cNvSpPr/>
          <p:nvPr/>
        </p:nvSpPr>
        <p:spPr>
          <a:xfrm>
            <a:off x="6630262" y="1208528"/>
            <a:ext cx="4467990" cy="813517"/>
          </a:xfrm>
          <a:prstGeom prst="roundRect">
            <a:avLst>
              <a:gd name="adj" fmla="val 6395"/>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cxnSp>
        <p:nvCxnSpPr>
          <p:cNvPr id="14" name="直线箭头连接符 13"/>
          <p:cNvCxnSpPr/>
          <p:nvPr/>
        </p:nvCxnSpPr>
        <p:spPr>
          <a:xfrm flipH="1">
            <a:off x="10158413" y="2641600"/>
            <a:ext cx="258762" cy="301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10342390" y="2464541"/>
            <a:ext cx="1800493" cy="369332"/>
          </a:xfrm>
          <a:prstGeom prst="rect">
            <a:avLst/>
          </a:prstGeom>
          <a:noFill/>
          <a:ln w="19050">
            <a:noFill/>
          </a:ln>
        </p:spPr>
        <p:txBody>
          <a:bodyPr wrap="none" rtlCol="0">
            <a:spAutoFit/>
          </a:bodyPr>
          <a:lstStyle/>
          <a:p>
            <a:pPr algn="l"/>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新发病例</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1080</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万</a:t>
            </a:r>
          </a:p>
        </p:txBody>
      </p:sp>
      <p:cxnSp>
        <p:nvCxnSpPr>
          <p:cNvPr id="19" name="直线箭头连接符 18"/>
          <p:cNvCxnSpPr/>
          <p:nvPr/>
        </p:nvCxnSpPr>
        <p:spPr>
          <a:xfrm flipH="1">
            <a:off x="10153301" y="5242653"/>
            <a:ext cx="258762" cy="3016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372554" y="5068474"/>
            <a:ext cx="1742785" cy="369332"/>
          </a:xfrm>
          <a:prstGeom prst="rect">
            <a:avLst/>
          </a:prstGeom>
          <a:noFill/>
          <a:ln w="19050">
            <a:noFill/>
          </a:ln>
        </p:spPr>
        <p:txBody>
          <a:bodyPr wrap="none" rtlCol="0">
            <a:spAutoFit/>
          </a:bodyPr>
          <a:lstStyle/>
          <a:p>
            <a:pPr algn="l"/>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死亡病例</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125</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万</a:t>
            </a:r>
          </a:p>
        </p:txBody>
      </p:sp>
      <p:sp>
        <p:nvSpPr>
          <p:cNvPr id="21" name="椭圆 20"/>
          <p:cNvSpPr>
            <a:spLocks noChangeAspect="1"/>
          </p:cNvSpPr>
          <p:nvPr/>
        </p:nvSpPr>
        <p:spPr>
          <a:xfrm>
            <a:off x="10099417" y="2647635"/>
            <a:ext cx="54000" cy="54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3" name="椭圆 22"/>
          <p:cNvSpPr>
            <a:spLocks noChangeAspect="1"/>
          </p:cNvSpPr>
          <p:nvPr/>
        </p:nvSpPr>
        <p:spPr>
          <a:xfrm>
            <a:off x="10108942" y="5243166"/>
            <a:ext cx="54000" cy="54000"/>
          </a:xfrm>
          <a:prstGeom prst="ellips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5" name="TextBox 9"/>
          <p:cNvSpPr txBox="1"/>
          <p:nvPr/>
        </p:nvSpPr>
        <p:spPr>
          <a:xfrm>
            <a:off x="168677" y="770349"/>
            <a:ext cx="2408980"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结核病全球负担重</a:t>
            </a:r>
          </a:p>
        </p:txBody>
      </p:sp>
      <p:grpSp>
        <p:nvGrpSpPr>
          <p:cNvPr id="28" name="组合 27"/>
          <p:cNvGrpSpPr/>
          <p:nvPr/>
        </p:nvGrpSpPr>
        <p:grpSpPr>
          <a:xfrm>
            <a:off x="-10048" y="-309462"/>
            <a:ext cx="12202049" cy="991435"/>
            <a:chOff x="-10048" y="-309462"/>
            <a:chExt cx="12202049" cy="991435"/>
          </a:xfrm>
        </p:grpSpPr>
        <p:sp>
          <p:nvSpPr>
            <p:cNvPr id="2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0" name="矩形 23"/>
            <p:cNvSpPr/>
            <p:nvPr/>
          </p:nvSpPr>
          <p:spPr>
            <a:xfrm>
              <a:off x="2566711" y="-28981"/>
              <a:ext cx="1827768"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1" name="TextBox 6"/>
            <p:cNvSpPr txBox="1"/>
            <p:nvPr/>
          </p:nvSpPr>
          <p:spPr>
            <a:xfrm>
              <a:off x="2531994" y="26782"/>
              <a:ext cx="1897201"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sp>
          <p:nvSpPr>
            <p:cNvPr id="35" name="TextBox 9"/>
            <p:cNvSpPr txBox="1"/>
            <p:nvPr/>
          </p:nvSpPr>
          <p:spPr>
            <a:xfrm>
              <a:off x="499703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pic>
          <p:nvPicPr>
            <p:cNvPr id="36" name="图片 5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088" y="-309462"/>
              <a:ext cx="2169355" cy="991435"/>
            </a:xfrm>
            <a:prstGeom prst="rect">
              <a:avLst/>
            </a:prstGeom>
          </p:spPr>
        </p:pic>
        <p:sp>
          <p:nvSpPr>
            <p:cNvPr id="37" name="TextBox 9"/>
            <p:cNvSpPr txBox="1"/>
            <p:nvPr/>
          </p:nvSpPr>
          <p:spPr>
            <a:xfrm>
              <a:off x="740329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38"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41975" y="882801"/>
            <a:ext cx="5123606"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肺结核预后模型改善预后，降低疾病负担</a:t>
            </a:r>
          </a:p>
        </p:txBody>
      </p:sp>
      <p:grpSp>
        <p:nvGrpSpPr>
          <p:cNvPr id="42" name="组合 41"/>
          <p:cNvGrpSpPr/>
          <p:nvPr/>
        </p:nvGrpSpPr>
        <p:grpSpPr>
          <a:xfrm>
            <a:off x="461884" y="1726963"/>
            <a:ext cx="4844498" cy="4450377"/>
            <a:chOff x="6790020" y="915987"/>
            <a:chExt cx="4844498" cy="4450377"/>
          </a:xfrm>
        </p:grpSpPr>
        <p:sp>
          <p:nvSpPr>
            <p:cNvPr id="14" name="文本框 13"/>
            <p:cNvSpPr txBox="1"/>
            <p:nvPr/>
          </p:nvSpPr>
          <p:spPr>
            <a:xfrm>
              <a:off x="6790020" y="1385752"/>
              <a:ext cx="1612800" cy="400110"/>
            </a:xfrm>
            <a:prstGeom prst="rect">
              <a:avLst/>
            </a:prstGeom>
            <a:noFill/>
            <a:ln w="19050">
              <a:solidFill>
                <a:schemeClr val="tx1">
                  <a:lumMod val="85000"/>
                  <a:lumOff val="15000"/>
                </a:schemeClr>
              </a:solidFill>
            </a:ln>
          </p:spPr>
          <p:txBody>
            <a:bodyPr wrap="square">
              <a:spAutoFit/>
            </a:bodyPr>
            <a:lstStyle/>
            <a:p>
              <a:pPr algn="ctr"/>
              <a:r>
                <a:rPr lang="zh-CN" altLang="zh-CN" sz="2000" b="1" dirty="0">
                  <a:effectLst/>
                  <a:latin typeface="Times New Roman" panose="02020503050405090304" pitchFamily="18" charset="0"/>
                  <a:ea typeface="Microsoft YaHei UI" panose="020B0503020204020204" pitchFamily="34" charset="-122"/>
                  <a:cs typeface="Times New Roman" panose="02020503050405090304" pitchFamily="18" charset="0"/>
                </a:rPr>
                <a:t>治疗失败</a:t>
              </a:r>
              <a:endPar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9" name="文本框 18"/>
            <p:cNvSpPr txBox="1"/>
            <p:nvPr/>
          </p:nvSpPr>
          <p:spPr>
            <a:xfrm>
              <a:off x="8405869" y="1385752"/>
              <a:ext cx="1612800" cy="400110"/>
            </a:xfrm>
            <a:prstGeom prst="rect">
              <a:avLst/>
            </a:prstGeom>
            <a:noFill/>
            <a:ln w="19050">
              <a:solidFill>
                <a:schemeClr val="tx1">
                  <a:lumMod val="85000"/>
                  <a:lumOff val="15000"/>
                </a:schemeClr>
              </a:solidFill>
            </a:ln>
          </p:spPr>
          <p:txBody>
            <a:bodyPr wrap="square">
              <a:spAutoFit/>
            </a:bodyPr>
            <a:lstStyle/>
            <a:p>
              <a:pPr algn="ct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复发</a:t>
              </a:r>
            </a:p>
          </p:txBody>
        </p:sp>
        <p:sp>
          <p:nvSpPr>
            <p:cNvPr id="20" name="文本框 19"/>
            <p:cNvSpPr txBox="1"/>
            <p:nvPr/>
          </p:nvSpPr>
          <p:spPr>
            <a:xfrm>
              <a:off x="10021718" y="1385752"/>
              <a:ext cx="1612800" cy="400110"/>
            </a:xfrm>
            <a:prstGeom prst="rect">
              <a:avLst/>
            </a:prstGeom>
            <a:noFill/>
            <a:ln w="19050">
              <a:solidFill>
                <a:schemeClr val="tx1">
                  <a:lumMod val="85000"/>
                  <a:lumOff val="15000"/>
                </a:schemeClr>
              </a:solidFill>
            </a:ln>
          </p:spPr>
          <p:txBody>
            <a:bodyPr wrap="square">
              <a:spAutoFit/>
            </a:bodyPr>
            <a:lstStyle/>
            <a:p>
              <a:pPr algn="ct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死亡</a:t>
              </a:r>
            </a:p>
          </p:txBody>
        </p:sp>
        <p:sp>
          <p:nvSpPr>
            <p:cNvPr id="21" name="文本框 20"/>
            <p:cNvSpPr txBox="1"/>
            <p:nvPr/>
          </p:nvSpPr>
          <p:spPr>
            <a:xfrm>
              <a:off x="6797957" y="915987"/>
              <a:ext cx="4832592" cy="461665"/>
            </a:xfrm>
            <a:prstGeom prst="rect">
              <a:avLst/>
            </a:prstGeom>
            <a:noFill/>
            <a:ln w="19050">
              <a:solidFill>
                <a:schemeClr val="tx1">
                  <a:lumMod val="85000"/>
                  <a:lumOff val="15000"/>
                </a:schemeClr>
              </a:solidFill>
            </a:ln>
          </p:spPr>
          <p:txBody>
            <a:bodyPr wrap="square">
              <a:spAutoFit/>
            </a:bodyPr>
            <a:lstStyle/>
            <a:p>
              <a:pPr algn="ctr"/>
              <a:r>
                <a:rPr lang="zh-CN" altLang="en-US" sz="2400" b="1"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不良治疗结局</a:t>
              </a:r>
              <a:endParaRPr lang="zh-CN" altLang="en-US" sz="2400" b="1"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7" name="下箭头 26"/>
            <p:cNvSpPr/>
            <p:nvPr/>
          </p:nvSpPr>
          <p:spPr>
            <a:xfrm flipH="1">
              <a:off x="8224831" y="1891077"/>
              <a:ext cx="358124" cy="682825"/>
            </a:xfrm>
            <a:prstGeom prst="downArrow">
              <a:avLst>
                <a:gd name="adj1" fmla="val 50000"/>
                <a:gd name="adj2" fmla="val 46946"/>
              </a:avLst>
            </a:prstGeom>
            <a:solidFill>
              <a:srgbClr val="0149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0" name="文本框 29"/>
            <p:cNvSpPr txBox="1"/>
            <p:nvPr/>
          </p:nvSpPr>
          <p:spPr>
            <a:xfrm>
              <a:off x="6797957" y="4904699"/>
              <a:ext cx="4832592" cy="461665"/>
            </a:xfrm>
            <a:prstGeom prst="rect">
              <a:avLst/>
            </a:prstGeom>
            <a:noFill/>
            <a:ln w="19050">
              <a:solidFill>
                <a:schemeClr val="tx1">
                  <a:lumMod val="85000"/>
                  <a:lumOff val="15000"/>
                </a:schemeClr>
              </a:solidFill>
            </a:ln>
          </p:spPr>
          <p:txBody>
            <a:bodyPr wrap="square">
              <a:spAutoFit/>
            </a:bodyPr>
            <a:lstStyle/>
            <a:p>
              <a:pPr algn="ctr"/>
              <a:r>
                <a:rPr lang="zh-CN" altLang="en-US" sz="2400" b="1"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个人、家庭和社会疾病负担增加</a:t>
              </a:r>
              <a:r>
                <a:rPr lang="en-US" altLang="zh-CN" sz="2400" b="1" baseline="30000"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rPr>
                <a:t>[1,2]</a:t>
              </a:r>
              <a:endParaRPr lang="zh-CN" altLang="en-US" sz="2400" b="1" baseline="30000"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2" name="下箭头 31"/>
            <p:cNvSpPr/>
            <p:nvPr/>
          </p:nvSpPr>
          <p:spPr>
            <a:xfrm flipH="1">
              <a:off x="8224831" y="4153738"/>
              <a:ext cx="358124" cy="707682"/>
            </a:xfrm>
            <a:prstGeom prst="downArrow">
              <a:avLst>
                <a:gd name="adj1" fmla="val 50000"/>
                <a:gd name="adj2" fmla="val 46946"/>
              </a:avLst>
            </a:prstGeom>
            <a:solidFill>
              <a:srgbClr val="0149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6" name="文本框 35"/>
            <p:cNvSpPr txBox="1"/>
            <p:nvPr/>
          </p:nvSpPr>
          <p:spPr>
            <a:xfrm>
              <a:off x="7201544" y="2639354"/>
              <a:ext cx="2431341" cy="1423210"/>
            </a:xfrm>
            <a:prstGeom prst="rect">
              <a:avLst/>
            </a:prstGeom>
            <a:noFill/>
            <a:ln w="19050">
              <a:solidFill>
                <a:schemeClr val="tx1">
                  <a:lumMod val="85000"/>
                  <a:lumOff val="15000"/>
                </a:schemeClr>
              </a:solidFill>
            </a:ln>
          </p:spPr>
          <p:txBody>
            <a:bodyPr wrap="square">
              <a:spAutoFit/>
            </a:bodyPr>
            <a:lstStyle/>
            <a:p>
              <a:pPr algn="ctr">
                <a:lnSpc>
                  <a:spcPct val="150000"/>
                </a:lnSpc>
              </a:pP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治疗费用增加</a:t>
              </a:r>
              <a:endParaRPr lang="en-US" altLang="zh-CN" sz="2000" b="1" dirty="0">
                <a:latin typeface="Times New Roman" panose="02020503050405090304" pitchFamily="18" charset="0"/>
                <a:ea typeface="Microsoft YaHei UI" panose="020B0503020204020204" pitchFamily="34" charset="-122"/>
                <a:cs typeface="Times New Roman" panose="02020503050405090304" pitchFamily="18" charset="0"/>
              </a:endParaRPr>
            </a:p>
            <a:p>
              <a:pPr algn="ctr">
                <a:lnSpc>
                  <a:spcPct val="150000"/>
                </a:lnSpc>
              </a:pP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劳动能力下降</a:t>
              </a:r>
            </a:p>
            <a:p>
              <a:pPr algn="ctr">
                <a:lnSpc>
                  <a:spcPct val="150000"/>
                </a:lnSpc>
              </a:pPr>
              <a:r>
                <a:rPr lang="zh-CN" altLang="en-US" sz="2000" b="1" dirty="0">
                  <a:effectLst/>
                  <a:latin typeface="Times New Roman" panose="02020503050405090304" pitchFamily="18" charset="0"/>
                  <a:ea typeface="Microsoft YaHei UI" panose="020B0503020204020204" pitchFamily="34" charset="-122"/>
                  <a:cs typeface="Times New Roman" panose="02020503050405090304" pitchFamily="18" charset="0"/>
                </a:rPr>
                <a:t>人际传播增加</a:t>
              </a:r>
              <a:endParaRPr lang="en-US" altLang="zh-CN" sz="2000" b="1" dirty="0">
                <a:effectLst/>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8" name="文本框 37"/>
            <p:cNvSpPr txBox="1"/>
            <p:nvPr/>
          </p:nvSpPr>
          <p:spPr>
            <a:xfrm>
              <a:off x="10119631" y="3182488"/>
              <a:ext cx="1471898" cy="400110"/>
            </a:xfrm>
            <a:prstGeom prst="rect">
              <a:avLst/>
            </a:prstGeom>
            <a:noFill/>
            <a:ln w="19050">
              <a:solidFill>
                <a:schemeClr val="tx1">
                  <a:lumMod val="85000"/>
                  <a:lumOff val="15000"/>
                </a:schemeClr>
              </a:solidFill>
            </a:ln>
          </p:spPr>
          <p:txBody>
            <a:bodyPr wrap="square">
              <a:spAutoFit/>
            </a:bodyPr>
            <a:lstStyle/>
            <a:p>
              <a:pPr algn="ctr"/>
              <a:r>
                <a:rPr lang="zh-CN" altLang="en-US" sz="2000" b="1" dirty="0">
                  <a:effectLst/>
                  <a:latin typeface="Times New Roman" panose="02020503050405090304" pitchFamily="18" charset="0"/>
                  <a:ea typeface="Microsoft YaHei UI" panose="020B0503020204020204" pitchFamily="34" charset="-122"/>
                  <a:cs typeface="Times New Roman" panose="02020503050405090304" pitchFamily="18" charset="0"/>
                </a:rPr>
                <a:t>劳动力减少</a:t>
              </a:r>
              <a:endPar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9" name="下箭头 38"/>
            <p:cNvSpPr/>
            <p:nvPr/>
          </p:nvSpPr>
          <p:spPr>
            <a:xfrm flipH="1">
              <a:off x="10616241" y="1843152"/>
              <a:ext cx="358124" cy="1264811"/>
            </a:xfrm>
            <a:prstGeom prst="downArrow">
              <a:avLst>
                <a:gd name="adj1" fmla="val 50000"/>
                <a:gd name="adj2" fmla="val 46946"/>
              </a:avLst>
            </a:prstGeom>
            <a:solidFill>
              <a:srgbClr val="0149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1" name="下箭头 40"/>
            <p:cNvSpPr/>
            <p:nvPr/>
          </p:nvSpPr>
          <p:spPr>
            <a:xfrm flipH="1">
              <a:off x="10649056" y="3625877"/>
              <a:ext cx="358124" cy="1235543"/>
            </a:xfrm>
            <a:prstGeom prst="downArrow">
              <a:avLst>
                <a:gd name="adj1" fmla="val 50000"/>
                <a:gd name="adj2" fmla="val 46946"/>
              </a:avLst>
            </a:prstGeom>
            <a:solidFill>
              <a:srgbClr val="0149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b="1">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1074" name="组合 1073"/>
          <p:cNvGrpSpPr/>
          <p:nvPr/>
        </p:nvGrpSpPr>
        <p:grpSpPr>
          <a:xfrm>
            <a:off x="5988792" y="1625017"/>
            <a:ext cx="5597525" cy="4465730"/>
            <a:chOff x="6002016" y="1468199"/>
            <a:chExt cx="5597525" cy="4465730"/>
          </a:xfrm>
        </p:grpSpPr>
        <p:sp>
          <p:nvSpPr>
            <p:cNvPr id="1063" name="矩形 1062"/>
            <p:cNvSpPr/>
            <p:nvPr/>
          </p:nvSpPr>
          <p:spPr>
            <a:xfrm>
              <a:off x="6002016" y="5322741"/>
              <a:ext cx="5588000" cy="611188"/>
            </a:xfrm>
            <a:prstGeom prst="rect">
              <a:avLst/>
            </a:prstGeom>
            <a:solidFill>
              <a:srgbClr val="E11F28"/>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0" i="0" u="none" strike="noStrike" kern="0" cap="none" spc="0" normalizeH="0" baseline="0" noProof="1">
                <a:ln>
                  <a:noFill/>
                </a:ln>
                <a:solidFill>
                  <a:srgbClr val="E11F28"/>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64" name="矩形 1063"/>
            <p:cNvSpPr/>
            <p:nvPr/>
          </p:nvSpPr>
          <p:spPr>
            <a:xfrm>
              <a:off x="6717978" y="4462316"/>
              <a:ext cx="4175125" cy="612775"/>
            </a:xfrm>
            <a:prstGeom prst="rect">
              <a:avLst/>
            </a:prstGeom>
            <a:solidFill>
              <a:srgbClr val="E11F28"/>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0" i="0" u="none" strike="noStrike" kern="0" cap="none" spc="0" normalizeH="0" baseline="0" noProof="1">
                <a:ln>
                  <a:noFill/>
                </a:ln>
                <a:solidFill>
                  <a:srgbClr val="E11F28"/>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65" name="矩形 1064"/>
            <p:cNvSpPr/>
            <p:nvPr/>
          </p:nvSpPr>
          <p:spPr>
            <a:xfrm>
              <a:off x="7365678" y="3613003"/>
              <a:ext cx="2879725" cy="612775"/>
            </a:xfrm>
            <a:prstGeom prst="rect">
              <a:avLst/>
            </a:prstGeom>
            <a:solidFill>
              <a:srgbClr val="E11F28"/>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0" i="0" u="none" strike="noStrike" kern="0" cap="none" spc="0" normalizeH="0" baseline="0" noProof="1">
                <a:ln>
                  <a:noFill/>
                </a:ln>
                <a:solidFill>
                  <a:srgbClr val="E11F28"/>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66" name="任意多边形 5"/>
            <p:cNvSpPr/>
            <p:nvPr/>
          </p:nvSpPr>
          <p:spPr>
            <a:xfrm>
              <a:off x="6011541" y="5068741"/>
              <a:ext cx="5588000" cy="257175"/>
            </a:xfrm>
            <a:custGeom>
              <a:avLst/>
              <a:gdLst>
                <a:gd name="connsiteX0" fmla="*/ 1138 w 8800"/>
                <a:gd name="connsiteY0" fmla="*/ 0 h 405"/>
                <a:gd name="connsiteX1" fmla="*/ 7738 w 8800"/>
                <a:gd name="connsiteY1" fmla="*/ 0 h 405"/>
                <a:gd name="connsiteX2" fmla="*/ 8800 w 8800"/>
                <a:gd name="connsiteY2" fmla="*/ 405 h 405"/>
                <a:gd name="connsiteX3" fmla="*/ 0 w 8800"/>
                <a:gd name="connsiteY3" fmla="*/ 405 h 405"/>
                <a:gd name="connsiteX4" fmla="*/ 1138 w 8800"/>
                <a:gd name="connsiteY4" fmla="*/ 0 h 4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00" h="405">
                  <a:moveTo>
                    <a:pt x="1138" y="0"/>
                  </a:moveTo>
                  <a:lnTo>
                    <a:pt x="7738" y="0"/>
                  </a:lnTo>
                  <a:lnTo>
                    <a:pt x="8800" y="405"/>
                  </a:lnTo>
                  <a:lnTo>
                    <a:pt x="0" y="405"/>
                  </a:lnTo>
                  <a:lnTo>
                    <a:pt x="1138" y="0"/>
                  </a:lnTo>
                  <a:close/>
                </a:path>
              </a:pathLst>
            </a:custGeom>
            <a:solidFill>
              <a:srgbClr val="E11F28">
                <a:lumMod val="5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0" i="0" u="none" strike="noStrike" kern="0" cap="none" spc="0" normalizeH="0" baseline="0" noProof="1">
                <a:ln>
                  <a:noFill/>
                </a:ln>
                <a:solidFill>
                  <a:srgbClr val="E11F28"/>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67" name="任意多边形 6"/>
            <p:cNvSpPr/>
            <p:nvPr/>
          </p:nvSpPr>
          <p:spPr>
            <a:xfrm>
              <a:off x="6702103" y="4208316"/>
              <a:ext cx="4211638" cy="254000"/>
            </a:xfrm>
            <a:custGeom>
              <a:avLst/>
              <a:gdLst>
                <a:gd name="connsiteX0" fmla="*/ 1075 w 6633"/>
                <a:gd name="connsiteY0" fmla="*/ 25 h 400"/>
                <a:gd name="connsiteX1" fmla="*/ 5575 w 6633"/>
                <a:gd name="connsiteY1" fmla="*/ 0 h 400"/>
                <a:gd name="connsiteX2" fmla="*/ 6633 w 6633"/>
                <a:gd name="connsiteY2" fmla="*/ 400 h 400"/>
                <a:gd name="connsiteX3" fmla="*/ 0 w 6633"/>
                <a:gd name="connsiteY3" fmla="*/ 400 h 400"/>
                <a:gd name="connsiteX4" fmla="*/ 1075 w 6633"/>
                <a:gd name="connsiteY4" fmla="*/ 25 h 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3" h="400">
                  <a:moveTo>
                    <a:pt x="1075" y="25"/>
                  </a:moveTo>
                  <a:lnTo>
                    <a:pt x="5575" y="0"/>
                  </a:lnTo>
                  <a:lnTo>
                    <a:pt x="6633" y="400"/>
                  </a:lnTo>
                  <a:lnTo>
                    <a:pt x="0" y="400"/>
                  </a:lnTo>
                  <a:lnTo>
                    <a:pt x="1075" y="25"/>
                  </a:lnTo>
                  <a:close/>
                </a:path>
              </a:pathLst>
            </a:custGeom>
            <a:solidFill>
              <a:srgbClr val="E11F28">
                <a:lumMod val="5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0" i="0" u="none" strike="noStrike" kern="0" cap="none" spc="0" normalizeH="0" baseline="0" noProof="1">
                <a:ln>
                  <a:noFill/>
                </a:ln>
                <a:solidFill>
                  <a:srgbClr val="E11F28"/>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68" name="右箭头 8"/>
            <p:cNvSpPr/>
            <p:nvPr/>
          </p:nvSpPr>
          <p:spPr>
            <a:xfrm rot="16200000">
              <a:off x="7843470" y="1017395"/>
              <a:ext cx="1906679" cy="2808288"/>
            </a:xfrm>
            <a:prstGeom prst="rightArrow">
              <a:avLst>
                <a:gd name="adj1" fmla="val 71174"/>
                <a:gd name="adj2" fmla="val 66350"/>
              </a:avLst>
            </a:prstGeom>
            <a:solidFill>
              <a:srgbClr val="E11F28"/>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0" i="0" u="none" strike="noStrike" kern="0" cap="none" spc="0" normalizeH="0" baseline="0" noProof="1">
                <a:ln>
                  <a:noFill/>
                </a:ln>
                <a:solidFill>
                  <a:srgbClr val="E11F28"/>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69" name="任意多边形 9"/>
            <p:cNvSpPr/>
            <p:nvPr/>
          </p:nvSpPr>
          <p:spPr>
            <a:xfrm>
              <a:off x="7365678" y="3359003"/>
              <a:ext cx="2843213" cy="254000"/>
            </a:xfrm>
            <a:custGeom>
              <a:avLst/>
              <a:gdLst>
                <a:gd name="connsiteX0" fmla="*/ 1075 w 6633"/>
                <a:gd name="connsiteY0" fmla="*/ 25 h 400"/>
                <a:gd name="connsiteX1" fmla="*/ 5575 w 6633"/>
                <a:gd name="connsiteY1" fmla="*/ 0 h 400"/>
                <a:gd name="connsiteX2" fmla="*/ 6633 w 6633"/>
                <a:gd name="connsiteY2" fmla="*/ 400 h 400"/>
                <a:gd name="connsiteX3" fmla="*/ 0 w 6633"/>
                <a:gd name="connsiteY3" fmla="*/ 400 h 400"/>
                <a:gd name="connsiteX4" fmla="*/ 1075 w 6633"/>
                <a:gd name="connsiteY4" fmla="*/ 25 h 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33" h="400">
                  <a:moveTo>
                    <a:pt x="1075" y="25"/>
                  </a:moveTo>
                  <a:lnTo>
                    <a:pt x="5575" y="0"/>
                  </a:lnTo>
                  <a:lnTo>
                    <a:pt x="6633" y="400"/>
                  </a:lnTo>
                  <a:lnTo>
                    <a:pt x="0" y="400"/>
                  </a:lnTo>
                  <a:lnTo>
                    <a:pt x="1075" y="25"/>
                  </a:lnTo>
                  <a:close/>
                </a:path>
              </a:pathLst>
            </a:custGeom>
            <a:solidFill>
              <a:srgbClr val="E11F28">
                <a:lumMod val="50000"/>
              </a:srgbClr>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1800" b="0" i="0" u="none" strike="noStrike" kern="0" cap="none" spc="0" normalizeH="0" baseline="0" noProof="1">
                <a:ln>
                  <a:noFill/>
                </a:ln>
                <a:solidFill>
                  <a:srgbClr val="E11F28"/>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70" name="文本框 20"/>
            <p:cNvSpPr txBox="1"/>
            <p:nvPr/>
          </p:nvSpPr>
          <p:spPr>
            <a:xfrm flipH="1">
              <a:off x="8108112" y="2214542"/>
              <a:ext cx="1415770" cy="954107"/>
            </a:xfrm>
            <a:prstGeom prst="rect">
              <a:avLst/>
            </a:prstGeom>
            <a:noFill/>
            <a:ln w="9525">
              <a:noFill/>
            </a:ln>
            <a:effectLst>
              <a:outerShdw sx="999" sy="999" algn="ctr" rotWithShape="0">
                <a:srgbClr val="000000"/>
              </a:outerShdw>
            </a:effectLst>
          </p:spPr>
          <p:txBody>
            <a:bodyPr wrap="square" anchor="t">
              <a:spAutoFit/>
            </a:bodyPr>
            <a:lstStyle/>
            <a:p>
              <a:pPr algn="ctr" fontAlgn="base">
                <a:spcBef>
                  <a:spcPct val="0"/>
                </a:spcBef>
                <a:spcAft>
                  <a:spcPct val="0"/>
                </a:spcAft>
                <a:buFont typeface="Arial" panose="020B0604020202090204" pitchFamily="34" charset="0"/>
                <a:buNone/>
              </a:pPr>
              <a:r>
                <a:rPr lang="zh-CN" altLang="en-US" sz="2800" b="1" dirty="0">
                  <a:solidFill>
                    <a:srgbClr val="FFFFFF"/>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pitchFamily="34" charset="0"/>
                </a:rPr>
                <a:t>降低疾病负担</a:t>
              </a:r>
            </a:p>
          </p:txBody>
        </p:sp>
        <p:sp>
          <p:nvSpPr>
            <p:cNvPr id="1071" name="文本框 20"/>
            <p:cNvSpPr txBox="1"/>
            <p:nvPr/>
          </p:nvSpPr>
          <p:spPr>
            <a:xfrm flipH="1">
              <a:off x="7689469" y="3699820"/>
              <a:ext cx="2238916" cy="461665"/>
            </a:xfrm>
            <a:prstGeom prst="rect">
              <a:avLst/>
            </a:prstGeom>
            <a:noFill/>
            <a:ln w="9525">
              <a:noFill/>
            </a:ln>
            <a:effectLst>
              <a:outerShdw sx="999" sy="999" algn="ctr" rotWithShape="0">
                <a:srgbClr val="000000"/>
              </a:outerShdw>
            </a:effectLst>
          </p:spPr>
          <p:txBody>
            <a:bodyPr wrap="square" anchor="t">
              <a:spAutoFit/>
            </a:bodyPr>
            <a:lstStyle/>
            <a:p>
              <a:pPr algn="ctr" fontAlgn="base">
                <a:spcBef>
                  <a:spcPct val="0"/>
                </a:spcBef>
                <a:spcAft>
                  <a:spcPct val="0"/>
                </a:spcAft>
                <a:buFont typeface="Arial" panose="020B0604020202090204" pitchFamily="34" charset="0"/>
                <a:buNone/>
              </a:pPr>
              <a:r>
                <a:rPr lang="zh-CN" altLang="en-US" sz="2400" b="1" dirty="0">
                  <a:solidFill>
                    <a:srgbClr val="FFFFFF"/>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pitchFamily="34" charset="0"/>
                </a:rPr>
                <a:t>改善患者预后</a:t>
              </a:r>
            </a:p>
          </p:txBody>
        </p:sp>
        <p:sp>
          <p:nvSpPr>
            <p:cNvPr id="1072" name="文本框 20"/>
            <p:cNvSpPr txBox="1"/>
            <p:nvPr/>
          </p:nvSpPr>
          <p:spPr>
            <a:xfrm flipH="1">
              <a:off x="7486349" y="4545875"/>
              <a:ext cx="2694713" cy="461665"/>
            </a:xfrm>
            <a:prstGeom prst="rect">
              <a:avLst/>
            </a:prstGeom>
            <a:noFill/>
            <a:ln w="9525">
              <a:noFill/>
            </a:ln>
            <a:effectLst>
              <a:outerShdw sx="999" sy="999" algn="ctr" rotWithShape="0">
                <a:srgbClr val="000000"/>
              </a:outerShdw>
            </a:effectLst>
          </p:spPr>
          <p:txBody>
            <a:bodyPr wrap="square" anchor="t">
              <a:spAutoFit/>
            </a:bodyPr>
            <a:lstStyle/>
            <a:p>
              <a:pPr algn="ctr" fontAlgn="base">
                <a:spcBef>
                  <a:spcPct val="0"/>
                </a:spcBef>
                <a:spcAft>
                  <a:spcPct val="0"/>
                </a:spcAft>
                <a:buFont typeface="Arial" panose="020B0604020202090204" pitchFamily="34" charset="0"/>
                <a:buNone/>
              </a:pPr>
              <a:r>
                <a:rPr lang="zh-CN" altLang="en-US" sz="2400" b="1" dirty="0">
                  <a:solidFill>
                    <a:srgbClr val="FFFFFF"/>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pitchFamily="34" charset="0"/>
                </a:rPr>
                <a:t>早期发现高危人群</a:t>
              </a:r>
            </a:p>
          </p:txBody>
        </p:sp>
        <p:sp>
          <p:nvSpPr>
            <p:cNvPr id="1073" name="文本框 20"/>
            <p:cNvSpPr txBox="1"/>
            <p:nvPr/>
          </p:nvSpPr>
          <p:spPr>
            <a:xfrm flipH="1">
              <a:off x="6707446" y="5347566"/>
              <a:ext cx="4196191" cy="523220"/>
            </a:xfrm>
            <a:prstGeom prst="rect">
              <a:avLst/>
            </a:prstGeom>
            <a:noFill/>
            <a:ln w="9525">
              <a:noFill/>
            </a:ln>
            <a:effectLst>
              <a:outerShdw sx="999" sy="999" algn="ctr" rotWithShape="0">
                <a:srgbClr val="000000"/>
              </a:outerShdw>
            </a:effectLst>
          </p:spPr>
          <p:txBody>
            <a:bodyPr wrap="square" anchor="t">
              <a:spAutoFit/>
            </a:bodyPr>
            <a:lstStyle/>
            <a:p>
              <a:pPr algn="ctr" fontAlgn="base">
                <a:spcBef>
                  <a:spcPct val="0"/>
                </a:spcBef>
                <a:spcAft>
                  <a:spcPct val="0"/>
                </a:spcAft>
                <a:buFont typeface="Arial" panose="020B0604020202090204" pitchFamily="34" charset="0"/>
                <a:buNone/>
              </a:pPr>
              <a:r>
                <a:rPr lang="zh-CN" altLang="en-US" sz="2800" b="1" dirty="0">
                  <a:solidFill>
                    <a:srgbClr val="FFFFFF"/>
                  </a:solidFill>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pitchFamily="34" charset="0"/>
                </a:rPr>
                <a:t>构建肺结核预后模型</a:t>
              </a:r>
            </a:p>
          </p:txBody>
        </p:sp>
      </p:grpSp>
      <p:sp>
        <p:nvSpPr>
          <p:cNvPr id="2" name="文本框 1"/>
          <p:cNvSpPr txBox="1"/>
          <p:nvPr/>
        </p:nvSpPr>
        <p:spPr>
          <a:xfrm>
            <a:off x="557975" y="6457890"/>
            <a:ext cx="6915150" cy="400110"/>
          </a:xfrm>
          <a:prstGeom prst="rect">
            <a:avLst/>
          </a:prstGeom>
          <a:noFill/>
          <a:ln w="19050">
            <a:noFill/>
          </a:ln>
        </p:spPr>
        <p:txBody>
          <a:bodyPr wrap="square">
            <a:spAutoFit/>
          </a:bodyPr>
          <a:lstStyle/>
          <a:p>
            <a:pPr marL="243840" indent="-243840">
              <a:tabLst>
                <a:tab pos="241300" algn="l"/>
              </a:tabLst>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 </a:t>
            </a:r>
            <a:r>
              <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Portnoy A, et al. The Lancet. Global Health, 2023</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Dheda</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K, et al. The Lancet. Respiratory Medicine, 2017</a:t>
            </a:r>
            <a:r>
              <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p>
        </p:txBody>
      </p:sp>
      <p:grpSp>
        <p:nvGrpSpPr>
          <p:cNvPr id="4" name="组合 3"/>
          <p:cNvGrpSpPr/>
          <p:nvPr/>
        </p:nvGrpSpPr>
        <p:grpSpPr>
          <a:xfrm>
            <a:off x="-10048" y="-309462"/>
            <a:ext cx="12202049" cy="991435"/>
            <a:chOff x="-10048" y="-309462"/>
            <a:chExt cx="12202049" cy="991435"/>
          </a:xfrm>
        </p:grpSpPr>
        <p:sp>
          <p:nvSpPr>
            <p:cNvPr id="5"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 name="矩形 23"/>
            <p:cNvSpPr/>
            <p:nvPr/>
          </p:nvSpPr>
          <p:spPr>
            <a:xfrm>
              <a:off x="2566711" y="-28981"/>
              <a:ext cx="1827768"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7" name="TextBox 6"/>
            <p:cNvSpPr txBox="1"/>
            <p:nvPr/>
          </p:nvSpPr>
          <p:spPr>
            <a:xfrm>
              <a:off x="2531994" y="26782"/>
              <a:ext cx="1897201"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sp>
          <p:nvSpPr>
            <p:cNvPr id="8" name="TextBox 9"/>
            <p:cNvSpPr txBox="1"/>
            <p:nvPr/>
          </p:nvSpPr>
          <p:spPr>
            <a:xfrm>
              <a:off x="499703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pic>
          <p:nvPicPr>
            <p:cNvPr id="9"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1088" y="-309462"/>
              <a:ext cx="2169355" cy="991435"/>
            </a:xfrm>
            <a:prstGeom prst="rect">
              <a:avLst/>
            </a:prstGeom>
          </p:spPr>
        </p:pic>
        <p:sp>
          <p:nvSpPr>
            <p:cNvPr id="11" name="TextBox 9"/>
            <p:cNvSpPr txBox="1"/>
            <p:nvPr/>
          </p:nvSpPr>
          <p:spPr>
            <a:xfrm>
              <a:off x="740329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12"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13" name="灯片编号占位符 21"/>
          <p:cNvSpPr>
            <a:spLocks noGrp="1"/>
          </p:cNvSpPr>
          <p:nvPr>
            <p:ph type="sldNum" sz="quarter" idx="12"/>
          </p:nvPr>
        </p:nvSpPr>
        <p:spPr>
          <a:xfrm>
            <a:off x="8610600" y="6356350"/>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6</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34195" y="842023"/>
            <a:ext cx="4709268"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炎症反应与结核病的发生发展密切相关 </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7" y="1660366"/>
            <a:ext cx="5353051" cy="303944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7409" y="2090614"/>
            <a:ext cx="5541204" cy="2417591"/>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p:cNvSpPr txBox="1"/>
          <p:nvPr/>
        </p:nvSpPr>
        <p:spPr>
          <a:xfrm>
            <a:off x="514510" y="5248086"/>
            <a:ext cx="11152931" cy="961866"/>
          </a:xfrm>
          <a:prstGeom prst="rect">
            <a:avLst/>
          </a:prstGeom>
          <a:noFill/>
          <a:ln w="19050">
            <a:noFill/>
          </a:ln>
        </p:spPr>
        <p:txBody>
          <a:bodyPr wrap="square">
            <a:spAutoFit/>
          </a:bodyPr>
          <a:lstStyle/>
          <a:p>
            <a:pPr>
              <a:lnSpc>
                <a:spcPct val="150000"/>
              </a:lnSpc>
            </a:pP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促炎机制旨在杀死、减缓和隔离病原体</a:t>
            </a:r>
            <a:r>
              <a:rPr lang="en-US" altLang="zh-CN" sz="2000" b="1" baseline="30000" dirty="0">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，控制感染，然而，长期、过度的促炎反应可能导致肉芽肿扩大和组织损伤，为结核病的发生和进展提供了有利条件</a:t>
            </a:r>
            <a:r>
              <a:rPr lang="en-US" altLang="zh-CN" sz="2000" b="1" baseline="30000" dirty="0">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en-US" sz="2000" b="1" baseline="30000" dirty="0">
                <a:latin typeface="Times New Roman" panose="02020503050405090304" pitchFamily="18" charset="0"/>
                <a:ea typeface="Microsoft YaHei UI" panose="020B0503020204020204" pitchFamily="34" charset="-122"/>
                <a:cs typeface="Times New Roman" panose="02020503050405090304" pitchFamily="18" charset="0"/>
              </a:rPr>
              <a:t> </a:t>
            </a:r>
          </a:p>
        </p:txBody>
      </p:sp>
      <p:sp>
        <p:nvSpPr>
          <p:cNvPr id="4" name="文本框 3"/>
          <p:cNvSpPr txBox="1"/>
          <p:nvPr/>
        </p:nvSpPr>
        <p:spPr>
          <a:xfrm>
            <a:off x="1449099" y="4779445"/>
            <a:ext cx="3633704" cy="338554"/>
          </a:xfrm>
          <a:prstGeom prst="rect">
            <a:avLst/>
          </a:prstGeom>
          <a:noFill/>
          <a:ln w="19050">
            <a:noFill/>
          </a:ln>
        </p:spPr>
        <p:txBody>
          <a:bodyPr wrap="square">
            <a:spAutoFit/>
          </a:bodyPr>
          <a:lstStyle/>
          <a:p>
            <a:r>
              <a:rPr lang="zh-CN" altLang="en-US" sz="1600" dirty="0">
                <a:solidFill>
                  <a:schemeClr val="tx1">
                    <a:lumMod val="50000"/>
                    <a:lumOff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结核分枝杆菌感染后的炎症机制</a:t>
            </a:r>
            <a:r>
              <a:rPr lang="en-US" altLang="zh-CN" sz="1600" baseline="30000" dirty="0">
                <a:solidFill>
                  <a:schemeClr val="tx1">
                    <a:lumMod val="50000"/>
                    <a:lumOff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a:t>
            </a:r>
            <a:endParaRPr lang="zh-CN" altLang="en-US" sz="1600" baseline="30000" dirty="0">
              <a:solidFill>
                <a:schemeClr val="tx1">
                  <a:lumMod val="50000"/>
                  <a:lumOff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 name="文本框 4"/>
          <p:cNvSpPr txBox="1"/>
          <p:nvPr/>
        </p:nvSpPr>
        <p:spPr>
          <a:xfrm>
            <a:off x="7682044" y="4735992"/>
            <a:ext cx="3633704" cy="338554"/>
          </a:xfrm>
          <a:prstGeom prst="rect">
            <a:avLst/>
          </a:prstGeom>
          <a:noFill/>
          <a:ln w="19050">
            <a:noFill/>
          </a:ln>
        </p:spPr>
        <p:txBody>
          <a:bodyPr wrap="square">
            <a:spAutoFit/>
          </a:bodyPr>
          <a:lstStyle/>
          <a:p>
            <a:r>
              <a:rPr lang="zh-CN" altLang="en-US" sz="1600" dirty="0">
                <a:solidFill>
                  <a:schemeClr val="tx1">
                    <a:lumMod val="50000"/>
                    <a:lumOff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过度炎症引起肺部损伤和细菌扩散</a:t>
            </a:r>
            <a:r>
              <a:rPr lang="en-US" altLang="zh-CN" sz="1600" baseline="30000" dirty="0">
                <a:solidFill>
                  <a:schemeClr val="tx1">
                    <a:lumMod val="50000"/>
                    <a:lumOff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a:t>
            </a:r>
            <a:endParaRPr lang="zh-CN" altLang="en-US" sz="1600" baseline="30000" dirty="0">
              <a:solidFill>
                <a:schemeClr val="tx1">
                  <a:lumMod val="50000"/>
                  <a:lumOff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9" name="文本框 8"/>
          <p:cNvSpPr txBox="1"/>
          <p:nvPr/>
        </p:nvSpPr>
        <p:spPr>
          <a:xfrm>
            <a:off x="605682" y="6401557"/>
            <a:ext cx="6915150" cy="400110"/>
          </a:xfrm>
          <a:prstGeom prst="rect">
            <a:avLst/>
          </a:prstGeom>
          <a:noFill/>
          <a:ln w="19050">
            <a:noFill/>
          </a:ln>
        </p:spPr>
        <p:txBody>
          <a:bodyPr wrap="square">
            <a:spAutoFit/>
          </a:bodyPr>
          <a:lstStyle/>
          <a:p>
            <a:pPr marL="243840" indent="-243840">
              <a:tabLst>
                <a:tab pos="241300" algn="l"/>
              </a:tabLst>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 </a:t>
            </a:r>
            <a:r>
              <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Krug S, </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et al</a:t>
            </a:r>
            <a:r>
              <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Frontiers in Immunology, 2021</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endPar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[2]Amaral E P, et al. Antioxidants &amp; Redox Signaling, 2021.</a:t>
            </a:r>
          </a:p>
        </p:txBody>
      </p:sp>
      <p:grpSp>
        <p:nvGrpSpPr>
          <p:cNvPr id="7" name="组合 6"/>
          <p:cNvGrpSpPr/>
          <p:nvPr/>
        </p:nvGrpSpPr>
        <p:grpSpPr>
          <a:xfrm>
            <a:off x="-10048" y="-309462"/>
            <a:ext cx="12202049" cy="991435"/>
            <a:chOff x="-10048" y="-309462"/>
            <a:chExt cx="12202049" cy="991435"/>
          </a:xfrm>
        </p:grpSpPr>
        <p:sp>
          <p:nvSpPr>
            <p:cNvPr id="12"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3" name="矩形 23"/>
            <p:cNvSpPr/>
            <p:nvPr/>
          </p:nvSpPr>
          <p:spPr>
            <a:xfrm>
              <a:off x="2566711" y="-28981"/>
              <a:ext cx="1827768"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9" name="TextBox 6"/>
            <p:cNvSpPr txBox="1"/>
            <p:nvPr/>
          </p:nvSpPr>
          <p:spPr>
            <a:xfrm>
              <a:off x="2531994" y="26782"/>
              <a:ext cx="1897201"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sp>
          <p:nvSpPr>
            <p:cNvPr id="20" name="TextBox 9"/>
            <p:cNvSpPr txBox="1"/>
            <p:nvPr/>
          </p:nvSpPr>
          <p:spPr>
            <a:xfrm>
              <a:off x="499703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pic>
          <p:nvPicPr>
            <p:cNvPr id="21" name="图片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088" y="-309462"/>
              <a:ext cx="2169355" cy="991435"/>
            </a:xfrm>
            <a:prstGeom prst="rect">
              <a:avLst/>
            </a:prstGeom>
          </p:spPr>
        </p:pic>
        <p:sp>
          <p:nvSpPr>
            <p:cNvPr id="22" name="TextBox 9"/>
            <p:cNvSpPr txBox="1"/>
            <p:nvPr/>
          </p:nvSpPr>
          <p:spPr>
            <a:xfrm>
              <a:off x="740329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23"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24" name="灯片编号占位符 21"/>
          <p:cNvSpPr>
            <a:spLocks noGrp="1"/>
          </p:cNvSpPr>
          <p:nvPr>
            <p:ph type="sldNum" sz="quarter" idx="12"/>
          </p:nvPr>
        </p:nvSpPr>
        <p:spPr>
          <a:xfrm>
            <a:off x="8610600" y="6356350"/>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7</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706015" y="6163661"/>
            <a:ext cx="6915150" cy="707886"/>
          </a:xfrm>
          <a:prstGeom prst="rect">
            <a:avLst/>
          </a:prstGeom>
          <a:noFill/>
          <a:ln w="19050">
            <a:noFill/>
          </a:ln>
        </p:spPr>
        <p:txBody>
          <a:bodyPr wrap="square">
            <a:spAutoFit/>
          </a:bodyPr>
          <a:lstStyle/>
          <a:p>
            <a:pPr marL="243840" indent="-243840">
              <a:tabLst>
                <a:tab pos="241300" algn="l"/>
              </a:tabLst>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 </a:t>
            </a:r>
            <a:r>
              <a:rPr lang="en-GB"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Ciccacci</a:t>
            </a:r>
            <a:r>
              <a:rPr lang="en-GB"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F, et al. International journal of infectious diseases, 2021</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p>
          <a:p>
            <a:pPr marL="243840" indent="-243840">
              <a:tabLst>
                <a:tab pos="241300" algn="l"/>
              </a:tabLst>
            </a:pPr>
            <a:r>
              <a:rPr lang="en-GB"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 Yu Q, et al. Frontiers in Cellular and Infection Microbiology, 2023</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[3] Chen Y, et al. Frontiers in Immunology, 2024, </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[4] Ma F, et al. Journal of Neuroinflammation, 2023.</a:t>
            </a:r>
          </a:p>
        </p:txBody>
      </p:sp>
      <p:grpSp>
        <p:nvGrpSpPr>
          <p:cNvPr id="3" name="组合 2"/>
          <p:cNvGrpSpPr/>
          <p:nvPr/>
        </p:nvGrpSpPr>
        <p:grpSpPr>
          <a:xfrm>
            <a:off x="468281" y="1424838"/>
            <a:ext cx="10940339" cy="1822068"/>
            <a:chOff x="396845" y="1067646"/>
            <a:chExt cx="10940339" cy="1822068"/>
          </a:xfrm>
        </p:grpSpPr>
        <p:sp>
          <p:nvSpPr>
            <p:cNvPr id="11" name="文本框 10"/>
            <p:cNvSpPr txBox="1"/>
            <p:nvPr/>
          </p:nvSpPr>
          <p:spPr>
            <a:xfrm>
              <a:off x="6758793" y="1173526"/>
              <a:ext cx="4578391" cy="1705660"/>
            </a:xfrm>
            <a:prstGeom prst="rect">
              <a:avLst/>
            </a:prstGeom>
            <a:noFill/>
            <a:ln w="19050">
              <a:solidFill>
                <a:srgbClr val="014924"/>
              </a:solidFill>
            </a:ln>
          </p:spPr>
          <p:txBody>
            <a:bodyPr wrap="square">
              <a:spAutoFit/>
            </a:bodyPr>
            <a:lstStyle/>
            <a:p>
              <a:pPr marL="285750" indent="-285750">
                <a:lnSpc>
                  <a:spcPct val="150000"/>
                </a:lnSpc>
                <a:buFont typeface="Wingdings" panose="05000000000000000000" pitchFamily="2" charset="2"/>
                <a:buChar char="Ø"/>
              </a:pP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CRP</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与 </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HIV </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阳性</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TB</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患者的短期死亡率显著相关</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OR:6.60</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95% CI</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3.87–11.52</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baseline="30000" dirty="0">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b="1" baseline="30000" dirty="0">
                  <a:latin typeface="Times New Roman" panose="02020503050405090304" pitchFamily="18" charset="0"/>
                  <a:ea typeface="Microsoft YaHei UI" panose="020B0503020204020204" pitchFamily="34" charset="-122"/>
                  <a:cs typeface="Times New Roman" panose="02020503050405090304" pitchFamily="18" charset="0"/>
                </a:rPr>
                <a:t>1</a:t>
              </a:r>
              <a:r>
                <a:rPr lang="en-GB" altLang="zh-CN" b="1" baseline="30000" dirty="0">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GB" b="1" baseline="30000" dirty="0">
                  <a:latin typeface="Times New Roman" panose="02020503050405090304" pitchFamily="18" charset="0"/>
                  <a:ea typeface="Microsoft YaHei UI" panose="020B0503020204020204" pitchFamily="34" charset="-122"/>
                  <a:cs typeface="Times New Roman" panose="02020503050405090304" pitchFamily="18" charset="0"/>
                </a:rPr>
                <a:t> </a:t>
              </a:r>
              <a:endParaRPr lang="en-US" altLang="zh-CN" b="1" baseline="30000" dirty="0">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模型预测</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RR/MDR</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患者死亡率的性能良好</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AUC</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0.82</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95%CI</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0.77-0.88</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baseline="30000" dirty="0">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b="1" baseline="30000" dirty="0">
                  <a:latin typeface="Times New Roman" panose="02020503050405090304" pitchFamily="18" charset="0"/>
                  <a:ea typeface="Microsoft YaHei UI" panose="020B0503020204020204" pitchFamily="34" charset="-122"/>
                  <a:cs typeface="Times New Roman" panose="02020503050405090304" pitchFamily="18" charset="0"/>
                </a:rPr>
                <a:t>2</a:t>
              </a:r>
              <a:r>
                <a:rPr lang="en-GB" altLang="zh-CN" b="1" baseline="30000" dirty="0">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GB" b="1" baseline="30000" dirty="0">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b="1" baseline="300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49" name="组合 48"/>
            <p:cNvGrpSpPr/>
            <p:nvPr/>
          </p:nvGrpSpPr>
          <p:grpSpPr>
            <a:xfrm>
              <a:off x="396845" y="1174943"/>
              <a:ext cx="4401669" cy="1714771"/>
              <a:chOff x="276518" y="1618459"/>
              <a:chExt cx="4401669" cy="1714771"/>
            </a:xfrm>
          </p:grpSpPr>
          <p:sp>
            <p:nvSpPr>
              <p:cNvPr id="6" name="文本框 5"/>
              <p:cNvSpPr txBox="1"/>
              <p:nvPr/>
            </p:nvSpPr>
            <p:spPr>
              <a:xfrm>
                <a:off x="1004401" y="1627570"/>
                <a:ext cx="3673786" cy="1705660"/>
              </a:xfrm>
              <a:prstGeom prst="rect">
                <a:avLst/>
              </a:prstGeom>
              <a:noFill/>
              <a:ln w="19050">
                <a:solidFill>
                  <a:srgbClr val="014924"/>
                </a:solidFill>
              </a:ln>
            </p:spPr>
            <p:txBody>
              <a:bodyPr wrap="square">
                <a:spAutoFit/>
              </a:bodyPr>
              <a:lstStyle/>
              <a:p>
                <a:pPr>
                  <a:lnSpc>
                    <a:spcPct val="150000"/>
                  </a:lnSpc>
                </a:pP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MLR</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：单核细胞与淋巴细胞比值 </a:t>
                </a:r>
                <a:endParaRPr lang="en-US" altLang="zh-CN" b="1" dirty="0">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NLR</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：中性粒细胞与淋巴细胞比值 </a:t>
                </a:r>
                <a:endParaRPr lang="en-US" altLang="zh-CN" b="1" dirty="0">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PLR</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：血小板与淋巴细胞比值 </a:t>
                </a:r>
                <a:endParaRPr lang="en-US" altLang="zh-CN" b="1" dirty="0">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CRP</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C</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反应蛋白</a:t>
                </a:r>
              </a:p>
            </p:txBody>
          </p:sp>
          <p:sp>
            <p:nvSpPr>
              <p:cNvPr id="14" name="矩形 13"/>
              <p:cNvSpPr/>
              <p:nvPr/>
            </p:nvSpPr>
            <p:spPr>
              <a:xfrm>
                <a:off x="276518" y="1618459"/>
                <a:ext cx="720000" cy="1714771"/>
              </a:xfrm>
              <a:prstGeom prst="rect">
                <a:avLst/>
              </a:prstGeom>
              <a:solidFill>
                <a:srgbClr val="0149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临床常规检测</a:t>
                </a:r>
              </a:p>
            </p:txBody>
          </p:sp>
        </p:grpSp>
        <p:sp>
          <p:nvSpPr>
            <p:cNvPr id="15" name="下箭头 14"/>
            <p:cNvSpPr/>
            <p:nvPr/>
          </p:nvSpPr>
          <p:spPr>
            <a:xfrm rot="16200000" flipH="1">
              <a:off x="5595059" y="1114605"/>
              <a:ext cx="350238" cy="1828799"/>
            </a:xfrm>
            <a:prstGeom prst="downArrow">
              <a:avLst>
                <a:gd name="adj1" fmla="val 50000"/>
                <a:gd name="adj2" fmla="val 46946"/>
              </a:avLst>
            </a:prstGeom>
            <a:solidFill>
              <a:srgbClr val="01492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7" name="文本框 16"/>
            <p:cNvSpPr txBox="1"/>
            <p:nvPr/>
          </p:nvSpPr>
          <p:spPr>
            <a:xfrm>
              <a:off x="4781563" y="1067646"/>
              <a:ext cx="1828800" cy="874663"/>
            </a:xfrm>
            <a:prstGeom prst="rect">
              <a:avLst/>
            </a:prstGeom>
            <a:noFill/>
            <a:ln w="19050">
              <a:noFill/>
            </a:ln>
          </p:spPr>
          <p:txBody>
            <a:bodyPr wrap="square">
              <a:spAutoFit/>
            </a:bodyPr>
            <a:lstStyle/>
            <a:p>
              <a:pPr algn="ctr">
                <a:lnSpc>
                  <a:spcPct val="150000"/>
                </a:lnSpc>
              </a:pP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逐渐应用于结核病治疗效果评估</a:t>
              </a:r>
            </a:p>
          </p:txBody>
        </p:sp>
      </p:grpSp>
      <p:grpSp>
        <p:nvGrpSpPr>
          <p:cNvPr id="5" name="组合 4"/>
          <p:cNvGrpSpPr/>
          <p:nvPr/>
        </p:nvGrpSpPr>
        <p:grpSpPr>
          <a:xfrm>
            <a:off x="685319" y="3350029"/>
            <a:ext cx="10651865" cy="2106598"/>
            <a:chOff x="685319" y="3350029"/>
            <a:chExt cx="10651865" cy="2106598"/>
          </a:xfrm>
        </p:grpSpPr>
        <p:sp>
          <p:nvSpPr>
            <p:cNvPr id="23" name="文本框 22"/>
            <p:cNvSpPr txBox="1"/>
            <p:nvPr/>
          </p:nvSpPr>
          <p:spPr>
            <a:xfrm>
              <a:off x="6733341" y="3350029"/>
              <a:ext cx="4603843" cy="1705660"/>
            </a:xfrm>
            <a:prstGeom prst="rect">
              <a:avLst/>
            </a:prstGeom>
            <a:noFill/>
            <a:ln w="19050">
              <a:noFill/>
            </a:ln>
          </p:spPr>
          <p:txBody>
            <a:bodyPr wrap="square">
              <a:spAutoFit/>
            </a:bodyPr>
            <a:lstStyle/>
            <a:p>
              <a:pPr>
                <a:lnSpc>
                  <a:spcPct val="150000"/>
                </a:lnSpc>
              </a:pPr>
              <a:r>
                <a:rPr lang="zh-CN" altLang="zh-CN" b="1" dirty="0">
                  <a:latin typeface="Times New Roman" panose="02020503050405090304" pitchFamily="18" charset="0"/>
                  <a:ea typeface="Microsoft YaHei UI" panose="020B0503020204020204" pitchFamily="34" charset="-122"/>
                  <a:cs typeface="Times New Roman" panose="02020503050405090304" pitchFamily="18" charset="0"/>
                </a:rPr>
                <a:t>全身免疫炎症指数</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(SII)</a:t>
              </a:r>
              <a:r>
                <a:rPr lang="zh-CN" altLang="zh-CN" b="1" dirty="0">
                  <a:latin typeface="Times New Roman" panose="02020503050405090304" pitchFamily="18" charset="0"/>
                  <a:ea typeface="Microsoft YaHei UI" panose="020B0503020204020204" pitchFamily="34" charset="-122"/>
                  <a:cs typeface="Times New Roman" panose="02020503050405090304" pitchFamily="18" charset="0"/>
                </a:rPr>
                <a:t>、全身炎症反应指数</a:t>
              </a: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(SIRI)</a:t>
              </a:r>
              <a:r>
                <a:rPr lang="zh-CN" altLang="zh-CN" b="1" dirty="0">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可</a:t>
              </a:r>
              <a:r>
                <a:rPr lang="zh-CN" altLang="zh-CN" b="1" dirty="0">
                  <a:latin typeface="Times New Roman" panose="02020503050405090304" pitchFamily="18" charset="0"/>
                  <a:ea typeface="Microsoft YaHei UI" panose="020B0503020204020204" pitchFamily="34" charset="-122"/>
                  <a:cs typeface="Times New Roman" panose="02020503050405090304" pitchFamily="18" charset="0"/>
                </a:rPr>
                <a:t>更准确反映身体局部免疫反应和全身炎症状态 </a:t>
              </a:r>
              <a:r>
                <a:rPr lang="en-US" altLang="zh-CN" b="1" baseline="30000" dirty="0">
                  <a:latin typeface="Times New Roman" panose="02020503050405090304" pitchFamily="18" charset="0"/>
                  <a:ea typeface="Microsoft YaHei UI" panose="020B0503020204020204" pitchFamily="34" charset="-122"/>
                  <a:cs typeface="Times New Roman" panose="02020503050405090304" pitchFamily="18" charset="0"/>
                </a:rPr>
                <a:t>[3,4]</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b="1"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rPr>
                <a:t>尚无研究评估综合性新炎症</a:t>
              </a:r>
              <a:r>
                <a:rPr lang="zh-CN" altLang="en-US" b="1"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rPr>
                <a:t>指标对结核病预后</a:t>
              </a:r>
              <a:r>
                <a:rPr lang="zh-CN" altLang="zh-CN" sz="1800" b="1"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的</a:t>
              </a:r>
              <a:r>
                <a:rPr lang="zh-CN" altLang="en-US" b="1"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rPr>
                <a:t>影响</a:t>
              </a:r>
            </a:p>
          </p:txBody>
        </p:sp>
        <p:grpSp>
          <p:nvGrpSpPr>
            <p:cNvPr id="4" name="组合 3"/>
            <p:cNvGrpSpPr/>
            <p:nvPr/>
          </p:nvGrpSpPr>
          <p:grpSpPr>
            <a:xfrm>
              <a:off x="685319" y="3721225"/>
              <a:ext cx="10651865" cy="1735402"/>
              <a:chOff x="547473" y="3338984"/>
              <a:chExt cx="10651865" cy="1735402"/>
            </a:xfrm>
          </p:grpSpPr>
          <p:grpSp>
            <p:nvGrpSpPr>
              <p:cNvPr id="45" name="组合 44"/>
              <p:cNvGrpSpPr>
                <a:grpSpLocks noChangeAspect="1"/>
              </p:cNvGrpSpPr>
              <p:nvPr/>
            </p:nvGrpSpPr>
            <p:grpSpPr>
              <a:xfrm>
                <a:off x="547473" y="3338984"/>
                <a:ext cx="10651865" cy="1735402"/>
                <a:chOff x="-4004354" y="1926787"/>
                <a:chExt cx="20471148" cy="3335160"/>
              </a:xfrm>
            </p:grpSpPr>
            <p:sp>
              <p:nvSpPr>
                <p:cNvPr id="30" name="同侧圆角矩形 29"/>
                <p:cNvSpPr/>
                <p:nvPr/>
              </p:nvSpPr>
              <p:spPr>
                <a:xfrm rot="5400000" flipH="1">
                  <a:off x="10653639" y="-221056"/>
                  <a:ext cx="864827" cy="10101175"/>
                </a:xfrm>
                <a:prstGeom prst="round2SameRect">
                  <a:avLst>
                    <a:gd name="adj1" fmla="val 50000"/>
                    <a:gd name="adj2" fmla="val 0"/>
                  </a:avLst>
                </a:prstGeom>
                <a:solidFill>
                  <a:srgbClr val="014924">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lnSpc>
                      <a:spcPct val="130000"/>
                    </a:lnSpc>
                  </a:pP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2" name="同侧圆角矩形 31"/>
                <p:cNvSpPr/>
                <p:nvPr/>
              </p:nvSpPr>
              <p:spPr>
                <a:xfrm rot="16200000">
                  <a:off x="612145" y="-2618511"/>
                  <a:ext cx="868178" cy="10101176"/>
                </a:xfrm>
                <a:prstGeom prst="round2SameRect">
                  <a:avLst>
                    <a:gd name="adj1" fmla="val 50000"/>
                    <a:gd name="adj2" fmla="val 0"/>
                  </a:avLst>
                </a:prstGeom>
                <a:solidFill>
                  <a:srgbClr val="014924">
                    <a:alpha val="6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6" tIns="45718" rIns="91436" bIns="45718" rtlCol="0" anchor="ctr"/>
                <a:lstStyle/>
                <a:p>
                  <a:pPr algn="ctr">
                    <a:lnSpc>
                      <a:spcPct val="130000"/>
                    </a:lnSpc>
                  </a:pP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3" name="圆角矩形 20"/>
                <p:cNvSpPr/>
                <p:nvPr/>
              </p:nvSpPr>
              <p:spPr>
                <a:xfrm>
                  <a:off x="4357761" y="1988122"/>
                  <a:ext cx="3306471" cy="3273825"/>
                </a:xfrm>
                <a:prstGeom prst="ellipse">
                  <a:avLst/>
                </a:prstGeom>
                <a:solidFill>
                  <a:schemeClr val="bg1"/>
                </a:solidFill>
                <a:ln w="15875">
                  <a:solidFill>
                    <a:srgbClr val="4472C4"/>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40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4" name="圆角矩形 20"/>
                <p:cNvSpPr/>
                <p:nvPr/>
              </p:nvSpPr>
              <p:spPr>
                <a:xfrm>
                  <a:off x="4490373" y="2119427"/>
                  <a:ext cx="3041243" cy="3011215"/>
                </a:xfrm>
                <a:prstGeom prst="ellipse">
                  <a:avLst/>
                </a:prstGeom>
                <a:solidFill>
                  <a:srgbClr val="014924">
                    <a:alpha val="75961"/>
                  </a:srgbClr>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a:lnSpc>
                      <a:spcPct val="130000"/>
                    </a:lnSpc>
                  </a:pPr>
                  <a:endParaRPr lang="zh-CN" altLang="en-US" sz="3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7" name="矩形 36"/>
                <p:cNvSpPr/>
                <p:nvPr/>
              </p:nvSpPr>
              <p:spPr>
                <a:xfrm>
                  <a:off x="-3482983" y="1926787"/>
                  <a:ext cx="2329474" cy="871342"/>
                </a:xfrm>
                <a:prstGeom prst="rect">
                  <a:avLst/>
                </a:prstGeom>
              </p:spPr>
              <p:txBody>
                <a:bodyPr wrap="square" lIns="91436" tIns="45718" rIns="91436" bIns="45718">
                  <a:spAutoFit/>
                </a:bodyPr>
                <a:lstStyle/>
                <a:p>
                  <a:pPr>
                    <a:lnSpc>
                      <a:spcPct val="130000"/>
                    </a:lnSpc>
                  </a:pPr>
                  <a:r>
                    <a:rPr lang="en-US" altLang="zh-CN"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GAP1</a:t>
                  </a:r>
                </a:p>
              </p:txBody>
            </p:sp>
            <p:sp>
              <p:nvSpPr>
                <p:cNvPr id="38" name="矩形 37"/>
                <p:cNvSpPr/>
                <p:nvPr/>
              </p:nvSpPr>
              <p:spPr>
                <a:xfrm>
                  <a:off x="13871555" y="4317328"/>
                  <a:ext cx="2595239" cy="871342"/>
                </a:xfrm>
                <a:prstGeom prst="rect">
                  <a:avLst/>
                </a:prstGeom>
              </p:spPr>
              <p:txBody>
                <a:bodyPr wrap="square" lIns="91436" tIns="45718" rIns="91436" bIns="45718">
                  <a:spAutoFit/>
                </a:bodyPr>
                <a:lstStyle/>
                <a:p>
                  <a:pPr>
                    <a:lnSpc>
                      <a:spcPct val="130000"/>
                    </a:lnSpc>
                  </a:pPr>
                  <a:r>
                    <a:rPr lang="en-US" altLang="zh-CN"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GAP2</a:t>
                  </a:r>
                </a:p>
              </p:txBody>
            </p:sp>
            <p:cxnSp>
              <p:nvCxnSpPr>
                <p:cNvPr id="43" name="直接连接符 39"/>
                <p:cNvCxnSpPr/>
                <p:nvPr/>
              </p:nvCxnSpPr>
              <p:spPr>
                <a:xfrm flipH="1">
                  <a:off x="8154625" y="3305368"/>
                  <a:ext cx="1005177" cy="0"/>
                </a:xfrm>
                <a:prstGeom prst="line">
                  <a:avLst/>
                </a:prstGeom>
                <a:ln w="3175">
                  <a:solidFill>
                    <a:schemeClr val="tx1">
                      <a:lumMod val="50000"/>
                      <a:lumOff val="50000"/>
                      <a:alpha val="33000"/>
                    </a:schemeClr>
                  </a:solidFill>
                  <a:headEnd type="diamond"/>
                  <a:tailEnd type="diamond"/>
                </a:ln>
              </p:spPr>
              <p:style>
                <a:lnRef idx="1">
                  <a:schemeClr val="accent1"/>
                </a:lnRef>
                <a:fillRef idx="0">
                  <a:schemeClr val="accent1"/>
                </a:fillRef>
                <a:effectRef idx="0">
                  <a:schemeClr val="accent1"/>
                </a:effectRef>
                <a:fontRef idx="minor">
                  <a:schemeClr val="tx1"/>
                </a:fontRef>
              </p:style>
            </p:cxnSp>
          </p:grpSp>
          <p:pic>
            <p:nvPicPr>
              <p:cNvPr id="27" name="图片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9521" y="3594883"/>
                <a:ext cx="1347782" cy="1347782"/>
              </a:xfrm>
              <a:prstGeom prst="rect">
                <a:avLst/>
              </a:prstGeom>
            </p:spPr>
          </p:pic>
        </p:grpSp>
        <p:sp>
          <p:nvSpPr>
            <p:cNvPr id="48" name="文本框 47"/>
            <p:cNvSpPr txBox="1"/>
            <p:nvPr/>
          </p:nvSpPr>
          <p:spPr>
            <a:xfrm>
              <a:off x="698069" y="4342428"/>
              <a:ext cx="4496553" cy="459165"/>
            </a:xfrm>
            <a:prstGeom prst="rect">
              <a:avLst/>
            </a:prstGeom>
            <a:noFill/>
            <a:ln w="19050">
              <a:noFill/>
              <a:prstDash val="dash"/>
            </a:ln>
          </p:spPr>
          <p:txBody>
            <a:bodyPr wrap="square">
              <a:spAutoFit/>
            </a:bodyPr>
            <a:lstStyle/>
            <a:p>
              <a:pPr>
                <a:lnSpc>
                  <a:spcPct val="150000"/>
                </a:lnSpc>
              </a:pPr>
              <a:r>
                <a:rPr lang="zh-CN" altLang="zh-CN" sz="1800" b="1"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仅关注</a:t>
              </a:r>
              <a:r>
                <a:rPr lang="zh-CN" altLang="zh-CN" sz="1800" b="1" dirty="0">
                  <a:effectLst/>
                  <a:latin typeface="Times New Roman" panose="02020503050405090304" pitchFamily="18" charset="0"/>
                  <a:ea typeface="Microsoft YaHei UI" panose="020B0503020204020204" pitchFamily="34" charset="-122"/>
                  <a:cs typeface="Times New Roman" panose="02020503050405090304" pitchFamily="18" charset="0"/>
                </a:rPr>
                <a:t>合并</a:t>
              </a:r>
              <a:r>
                <a:rPr lang="en-US" altLang="zh-CN" sz="1800" b="1" dirty="0">
                  <a:effectLst/>
                  <a:latin typeface="Times New Roman" panose="02020503050405090304" pitchFamily="18" charset="0"/>
                  <a:ea typeface="Microsoft YaHei UI" panose="020B0503020204020204" pitchFamily="34" charset="-122"/>
                  <a:cs typeface="Times New Roman" panose="02020503050405090304" pitchFamily="18" charset="0"/>
                </a:rPr>
                <a:t>HIV</a:t>
              </a:r>
              <a:r>
                <a:rPr lang="zh-CN" altLang="zh-CN" sz="1800" b="1" dirty="0">
                  <a:effectLst/>
                  <a:latin typeface="Times New Roman" panose="02020503050405090304" pitchFamily="18" charset="0"/>
                  <a:ea typeface="Microsoft YaHei UI" panose="020B0503020204020204" pitchFamily="34" charset="-122"/>
                  <a:cs typeface="Times New Roman" panose="02020503050405090304" pitchFamily="18" charset="0"/>
                </a:rPr>
                <a:t>或耐药结核病</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等</a:t>
              </a:r>
              <a:r>
                <a:rPr lang="zh-CN" altLang="zh-CN" sz="1800" b="1"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特殊人群</a:t>
              </a:r>
              <a:endParaRPr lang="en-US" altLang="zh-CN" sz="1800" b="1" dirty="0">
                <a:effectLst/>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52" name="文本框 51"/>
          <p:cNvSpPr txBox="1"/>
          <p:nvPr/>
        </p:nvSpPr>
        <p:spPr>
          <a:xfrm>
            <a:off x="-80276" y="5590113"/>
            <a:ext cx="12191999" cy="520271"/>
          </a:xfrm>
          <a:prstGeom prst="rect">
            <a:avLst/>
          </a:prstGeom>
          <a:noFill/>
          <a:ln w="19050">
            <a:noFill/>
          </a:ln>
        </p:spPr>
        <p:txBody>
          <a:bodyPr wrap="square">
            <a:spAutoFit/>
          </a:bodyPr>
          <a:lstStyle/>
          <a:p>
            <a:pPr algn="ctr">
              <a:lnSpc>
                <a:spcPct val="150000"/>
              </a:lnSpc>
            </a:pPr>
            <a:r>
              <a:rPr lang="zh-CN" altLang="zh-CN" sz="2100" b="1"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了解</a:t>
            </a:r>
            <a:r>
              <a:rPr lang="zh-CN" altLang="en-US" sz="2100" b="1"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血液炎症状态</a:t>
            </a:r>
            <a:r>
              <a:rPr lang="zh-CN" altLang="zh-CN" sz="2100" b="1"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对肺结核预后的影响，并开发基于炎症的预后模型对于肺结核治疗决策至关重要</a:t>
            </a:r>
          </a:p>
        </p:txBody>
      </p:sp>
      <p:sp>
        <p:nvSpPr>
          <p:cNvPr id="2" name="TextBox 9"/>
          <p:cNvSpPr txBox="1"/>
          <p:nvPr/>
        </p:nvSpPr>
        <p:spPr>
          <a:xfrm>
            <a:off x="85905" y="813688"/>
            <a:ext cx="5855414"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廉价且易获得的血常规是评估炎症状态的重要工具</a:t>
            </a:r>
          </a:p>
        </p:txBody>
      </p:sp>
      <p:grpSp>
        <p:nvGrpSpPr>
          <p:cNvPr id="7" name="组合 6"/>
          <p:cNvGrpSpPr/>
          <p:nvPr/>
        </p:nvGrpSpPr>
        <p:grpSpPr>
          <a:xfrm>
            <a:off x="-10048" y="-309462"/>
            <a:ext cx="12202049" cy="991435"/>
            <a:chOff x="-10048" y="-309462"/>
            <a:chExt cx="12202049" cy="991435"/>
          </a:xfrm>
        </p:grpSpPr>
        <p:sp>
          <p:nvSpPr>
            <p:cNvPr id="12"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3" name="矩形 23"/>
            <p:cNvSpPr/>
            <p:nvPr/>
          </p:nvSpPr>
          <p:spPr>
            <a:xfrm>
              <a:off x="2566711" y="-28981"/>
              <a:ext cx="1827768"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4" name="TextBox 6"/>
            <p:cNvSpPr txBox="1"/>
            <p:nvPr/>
          </p:nvSpPr>
          <p:spPr>
            <a:xfrm>
              <a:off x="2531994" y="26782"/>
              <a:ext cx="1897201"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sp>
          <p:nvSpPr>
            <p:cNvPr id="25" name="TextBox 9"/>
            <p:cNvSpPr txBox="1"/>
            <p:nvPr/>
          </p:nvSpPr>
          <p:spPr>
            <a:xfrm>
              <a:off x="499703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pic>
          <p:nvPicPr>
            <p:cNvPr id="26"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088" y="-309462"/>
              <a:ext cx="2169355" cy="991435"/>
            </a:xfrm>
            <a:prstGeom prst="rect">
              <a:avLst/>
            </a:prstGeom>
          </p:spPr>
        </p:pic>
        <p:sp>
          <p:nvSpPr>
            <p:cNvPr id="28" name="TextBox 9"/>
            <p:cNvSpPr txBox="1"/>
            <p:nvPr/>
          </p:nvSpPr>
          <p:spPr>
            <a:xfrm>
              <a:off x="740329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29"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31" name="灯片编号占位符 21"/>
          <p:cNvSpPr>
            <a:spLocks noGrp="1"/>
          </p:cNvSpPr>
          <p:nvPr>
            <p:ph type="sldNum" sz="quarter" idx="12"/>
          </p:nvPr>
        </p:nvSpPr>
        <p:spPr>
          <a:xfrm>
            <a:off x="8610600" y="6356350"/>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8</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文本框 103"/>
          <p:cNvSpPr txBox="1"/>
          <p:nvPr/>
        </p:nvSpPr>
        <p:spPr>
          <a:xfrm>
            <a:off x="786912" y="6171561"/>
            <a:ext cx="3600000" cy="553998"/>
          </a:xfrm>
          <a:prstGeom prst="rect">
            <a:avLst/>
          </a:prstGeom>
          <a:noFill/>
          <a:ln w="19050">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 </a:t>
            </a:r>
            <a:r>
              <a:rPr kumimoji="0" lang="en-US" altLang="zh-CN" sz="1000" b="0" i="0" u="none" strike="noStrike" kern="100" cap="none" spc="0" normalizeH="0" baseline="0" noProof="0" dirty="0" err="1">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Peetluk</a:t>
            </a: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L S, et al. BMJ Open, 2021</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[2]Sauer C M, et al. </a:t>
            </a:r>
            <a:r>
              <a:rPr kumimoji="0" lang="en-US" altLang="zh-CN" sz="1000" b="0" i="0" u="none" strike="noStrike" kern="100" cap="none" spc="0" normalizeH="0" baseline="0" noProof="0" dirty="0" err="1">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PloS</a:t>
            </a: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One, 2018.</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[3]Peng A-Z, et al. Scientific Reports, 2024.</a:t>
            </a:r>
          </a:p>
        </p:txBody>
      </p:sp>
      <p:grpSp>
        <p:nvGrpSpPr>
          <p:cNvPr id="13" name="组合 12"/>
          <p:cNvGrpSpPr/>
          <p:nvPr/>
        </p:nvGrpSpPr>
        <p:grpSpPr>
          <a:xfrm>
            <a:off x="1966822" y="1190381"/>
            <a:ext cx="10632458" cy="769168"/>
            <a:chOff x="2661271" y="832949"/>
            <a:chExt cx="10632458" cy="769168"/>
          </a:xfrm>
        </p:grpSpPr>
        <p:grpSp>
          <p:nvGrpSpPr>
            <p:cNvPr id="141" name="组合 140"/>
            <p:cNvGrpSpPr/>
            <p:nvPr/>
          </p:nvGrpSpPr>
          <p:grpSpPr>
            <a:xfrm>
              <a:off x="2661271" y="883309"/>
              <a:ext cx="593128" cy="593128"/>
              <a:chOff x="-488441" y="1859216"/>
              <a:chExt cx="593128" cy="593128"/>
            </a:xfrm>
          </p:grpSpPr>
          <p:sp>
            <p:nvSpPr>
              <p:cNvPr id="145" name="椭圆 144"/>
              <p:cNvSpPr/>
              <p:nvPr/>
            </p:nvSpPr>
            <p:spPr>
              <a:xfrm>
                <a:off x="-488441" y="1859216"/>
                <a:ext cx="593128" cy="593128"/>
              </a:xfrm>
              <a:prstGeom prst="ellipse">
                <a:avLst/>
              </a:prstGeom>
              <a:solidFill>
                <a:srgbClr val="0052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46" name="文本框 145"/>
              <p:cNvSpPr txBox="1"/>
              <p:nvPr/>
            </p:nvSpPr>
            <p:spPr>
              <a:xfrm>
                <a:off x="-487152" y="1924948"/>
                <a:ext cx="590551" cy="461665"/>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01</a:t>
                </a:r>
                <a:endParaRPr kumimoji="0" lang="zh-CN" altLang="en-US" sz="2400" b="1"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143" name="矩形: 圆角 38"/>
            <p:cNvSpPr/>
            <p:nvPr/>
          </p:nvSpPr>
          <p:spPr>
            <a:xfrm>
              <a:off x="3253111" y="832949"/>
              <a:ext cx="1941117" cy="432000"/>
            </a:xfrm>
            <a:prstGeom prst="roundRect">
              <a:avLst>
                <a:gd name="adj" fmla="val 50000"/>
              </a:avLst>
            </a:prstGeom>
            <a:no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Predictors</a:t>
              </a:r>
              <a:endParaRPr kumimoji="0" lang="zh-CN" altLang="en-US" sz="2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44" name="PA-矩形 4"/>
            <p:cNvSpPr>
              <a:spLocks noChangeArrowheads="1"/>
            </p:cNvSpPr>
            <p:nvPr>
              <p:custDataLst>
                <p:tags r:id="rId3"/>
              </p:custDataLst>
            </p:nvPr>
          </p:nvSpPr>
          <p:spPr bwMode="auto">
            <a:xfrm>
              <a:off x="3556460" y="1325118"/>
              <a:ext cx="973726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Ø"/>
                <a:defRPr/>
              </a:pP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92%</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的结核病预后模型采用临床和流行病学特征作为预测因子</a:t>
              </a:r>
              <a:r>
                <a:rPr kumimoji="0" lang="en-US" altLang="zh-CN"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a:t>
              </a:r>
              <a:r>
                <a:rPr kumimoji="0" lang="zh-CN" altLang="en-US" b="0" i="0" u="none" strike="noStrike" kern="1200" cap="none" spc="0" normalizeH="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zh-CN" altLang="en-US" b="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炎症指标应用有限</a:t>
              </a:r>
              <a:endParaRPr kumimoji="0" lang="en-US" altLang="zh-CN" b="0" i="0" u="none" strike="noStrike" kern="1200" cap="none" spc="0" normalizeH="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147" name="组合 146"/>
          <p:cNvGrpSpPr/>
          <p:nvPr/>
        </p:nvGrpSpPr>
        <p:grpSpPr>
          <a:xfrm>
            <a:off x="-10048" y="-309462"/>
            <a:ext cx="12202049" cy="991435"/>
            <a:chOff x="-10048" y="-309462"/>
            <a:chExt cx="12202049" cy="991435"/>
          </a:xfrm>
        </p:grpSpPr>
        <p:sp>
          <p:nvSpPr>
            <p:cNvPr id="148"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49" name="矩形 23"/>
            <p:cNvSpPr/>
            <p:nvPr/>
          </p:nvSpPr>
          <p:spPr>
            <a:xfrm>
              <a:off x="2566711" y="-28981"/>
              <a:ext cx="1827768"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50" name="TextBox 6"/>
            <p:cNvSpPr txBox="1"/>
            <p:nvPr/>
          </p:nvSpPr>
          <p:spPr>
            <a:xfrm>
              <a:off x="2531994" y="26782"/>
              <a:ext cx="1897201"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sp>
          <p:nvSpPr>
            <p:cNvPr id="151" name="TextBox 9"/>
            <p:cNvSpPr txBox="1"/>
            <p:nvPr/>
          </p:nvSpPr>
          <p:spPr>
            <a:xfrm>
              <a:off x="499703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pic>
          <p:nvPicPr>
            <p:cNvPr id="152" name="图片 5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1088" y="-309462"/>
              <a:ext cx="2169355" cy="991435"/>
            </a:xfrm>
            <a:prstGeom prst="rect">
              <a:avLst/>
            </a:prstGeom>
          </p:spPr>
        </p:pic>
        <p:sp>
          <p:nvSpPr>
            <p:cNvPr id="153" name="TextBox 9"/>
            <p:cNvSpPr txBox="1"/>
            <p:nvPr/>
          </p:nvSpPr>
          <p:spPr>
            <a:xfrm>
              <a:off x="740329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154"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grpSp>
        <p:nvGrpSpPr>
          <p:cNvPr id="15" name="组合 14"/>
          <p:cNvGrpSpPr/>
          <p:nvPr/>
        </p:nvGrpSpPr>
        <p:grpSpPr>
          <a:xfrm>
            <a:off x="2173667" y="3830419"/>
            <a:ext cx="9323578" cy="1557570"/>
            <a:chOff x="2661271" y="3425393"/>
            <a:chExt cx="9323578" cy="1557570"/>
          </a:xfrm>
        </p:grpSpPr>
        <p:grpSp>
          <p:nvGrpSpPr>
            <p:cNvPr id="7" name="组合 6"/>
            <p:cNvGrpSpPr/>
            <p:nvPr/>
          </p:nvGrpSpPr>
          <p:grpSpPr>
            <a:xfrm>
              <a:off x="2661271" y="3470911"/>
              <a:ext cx="593128" cy="593128"/>
              <a:chOff x="498090" y="1435413"/>
              <a:chExt cx="593128" cy="593128"/>
            </a:xfrm>
          </p:grpSpPr>
          <p:sp>
            <p:nvSpPr>
              <p:cNvPr id="11" name="椭圆 10"/>
              <p:cNvSpPr/>
              <p:nvPr/>
            </p:nvSpPr>
            <p:spPr>
              <a:xfrm>
                <a:off x="498090" y="1435413"/>
                <a:ext cx="593128" cy="593128"/>
              </a:xfrm>
              <a:prstGeom prst="ellipse">
                <a:avLst/>
              </a:prstGeom>
              <a:solidFill>
                <a:srgbClr val="0052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2" name="文本框 11"/>
              <p:cNvSpPr txBox="1"/>
              <p:nvPr/>
            </p:nvSpPr>
            <p:spPr>
              <a:xfrm>
                <a:off x="499379" y="1501145"/>
                <a:ext cx="590551" cy="461665"/>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03</a:t>
                </a:r>
                <a:endParaRPr kumimoji="0" lang="zh-CN" altLang="en-US" sz="2400" b="1"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9" name="矩形: 圆角 32"/>
            <p:cNvSpPr/>
            <p:nvPr/>
          </p:nvSpPr>
          <p:spPr>
            <a:xfrm>
              <a:off x="3253111" y="3425393"/>
              <a:ext cx="2915851" cy="432000"/>
            </a:xfrm>
            <a:prstGeom prst="roundRect">
              <a:avLst>
                <a:gd name="adj" fmla="val 50000"/>
              </a:avLst>
            </a:prstGeom>
            <a:noFill/>
            <a:ln w="12700" cap="flat" cmpd="sng" algn="ctr">
              <a:noFill/>
              <a:prstDash val="solid"/>
              <a:miter lim="800000"/>
            </a:ln>
            <a:effectLst/>
          </p:spPr>
          <p:txBody>
            <a:bodyPr rtlCol="0" anchor="ctr"/>
            <a:lstStyle/>
            <a:p>
              <a:pPr algn="ctr">
                <a:defRPr/>
              </a:pPr>
              <a:r>
                <a:rPr kumimoji="0" lang="en-GB" altLang="zh-CN" sz="2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Class</a:t>
              </a:r>
              <a:r>
                <a:rPr kumimoji="0" lang="zh-CN" altLang="en-US" sz="2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r>
                <a:rPr kumimoji="0" lang="en-US" altLang="zh-CN" sz="2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Imbalance</a:t>
              </a:r>
              <a:endParaRPr kumimoji="0" lang="zh-CN" altLang="en-US" sz="2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 name="PA-矩形 4"/>
            <p:cNvSpPr>
              <a:spLocks noChangeArrowheads="1"/>
            </p:cNvSpPr>
            <p:nvPr>
              <p:custDataLst>
                <p:tags r:id="rId2"/>
              </p:custDataLst>
            </p:nvPr>
          </p:nvSpPr>
          <p:spPr bwMode="auto">
            <a:xfrm>
              <a:off x="3349615" y="3905424"/>
              <a:ext cx="8635234" cy="107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285750" indent="-285750" eaLnBrk="1" hangingPunct="1">
                <a:lnSpc>
                  <a:spcPct val="114000"/>
                </a:lnSpc>
                <a:spcAft>
                  <a:spcPts val="1200"/>
                </a:spcAft>
                <a:buFont typeface="Wingdings" panose="05000000000000000000" pitchFamily="2" charset="2"/>
                <a:buChar char="Ø"/>
                <a:defRPr/>
              </a:pPr>
              <a:r>
                <a:rPr lang="zh-CN" altLang="en-US" kern="100" dirty="0">
                  <a:latin typeface="Times New Roman" panose="02020503050405090304" pitchFamily="18" charset="0"/>
                  <a:ea typeface="Microsoft YaHei UI" panose="020B0503020204020204" pitchFamily="34" charset="-122"/>
                  <a:cs typeface="Times New Roman" panose="02020503050405090304" pitchFamily="18" charset="0"/>
                </a:rPr>
                <a:t>目前结核病</a:t>
              </a:r>
              <a:r>
                <a:rPr lang="zh-CN" altLang="zh-CN" kern="100" dirty="0">
                  <a:effectLst/>
                  <a:latin typeface="Times New Roman" panose="02020503050405090304" pitchFamily="18" charset="0"/>
                  <a:ea typeface="Microsoft YaHei UI" panose="020B0503020204020204" pitchFamily="34" charset="-122"/>
                  <a:cs typeface="Times New Roman" panose="02020503050405090304" pitchFamily="18" charset="0"/>
                </a:rPr>
                <a:t>治疗成功率已</a:t>
              </a:r>
              <a:r>
                <a:rPr lang="zh-CN" altLang="en-US" kern="100" dirty="0">
                  <a:effectLst/>
                  <a:latin typeface="Times New Roman" panose="02020503050405090304" pitchFamily="18" charset="0"/>
                  <a:ea typeface="Microsoft YaHei UI" panose="020B0503020204020204" pitchFamily="34" charset="-122"/>
                  <a:cs typeface="Times New Roman" panose="02020503050405090304" pitchFamily="18" charset="0"/>
                </a:rPr>
                <a:t>达到</a:t>
              </a:r>
              <a:r>
                <a:rPr lang="en-US" altLang="zh-CN" kern="100" dirty="0">
                  <a:effectLst/>
                  <a:latin typeface="Times New Roman" panose="02020503050405090304" pitchFamily="18" charset="0"/>
                  <a:ea typeface="Microsoft YaHei UI" panose="020B0503020204020204" pitchFamily="34" charset="-122"/>
                  <a:cs typeface="Times New Roman" panose="02020503050405090304" pitchFamily="18" charset="0"/>
                </a:rPr>
                <a:t>88%</a:t>
              </a:r>
              <a:r>
                <a:rPr lang="en-US" altLang="zh-CN" kern="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[5]</a:t>
              </a:r>
              <a:r>
                <a:rPr lang="zh-CN" altLang="zh-CN" kern="100" dirty="0">
                  <a:effectLst/>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kern="100" dirty="0">
                  <a:effectLst/>
                  <a:latin typeface="Times New Roman" panose="02020503050405090304" pitchFamily="18" charset="0"/>
                  <a:ea typeface="Microsoft YaHei UI" panose="020B0503020204020204" pitchFamily="34" charset="-122"/>
                  <a:cs typeface="Times New Roman" panose="02020503050405090304" pitchFamily="18" charset="0"/>
                </a:rPr>
                <a:t>提示</a:t>
              </a:r>
              <a:r>
                <a:rPr lang="zh-CN" altLang="en-US" kern="100"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预后数据</a:t>
              </a:r>
              <a:r>
                <a:rPr lang="zh-CN" altLang="zh-CN" kern="100"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存在显著的类别不平衡</a:t>
              </a:r>
              <a:endParaRPr lang="en-US" altLang="zh-CN" kern="100"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eaLnBrk="1" hangingPunct="1">
                <a:lnSpc>
                  <a:spcPct val="114000"/>
                </a:lnSpc>
                <a:spcAft>
                  <a:spcPts val="1200"/>
                </a:spcAft>
                <a:buFont typeface="Wingdings" panose="05000000000000000000" pitchFamily="2" charset="2"/>
                <a:buChar char="Ø"/>
                <a:defRPr/>
              </a:pP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现有</a:t>
              </a:r>
              <a:r>
                <a:rPr lang="zh-CN" altLang="zh-CN" kern="100" dirty="0">
                  <a:effectLst/>
                  <a:latin typeface="Times New Roman" panose="02020503050405090304" pitchFamily="18" charset="0"/>
                  <a:ea typeface="Microsoft YaHei UI" panose="020B0503020204020204" pitchFamily="34" charset="-122"/>
                  <a:cs typeface="Times New Roman" panose="02020503050405090304" pitchFamily="18" charset="0"/>
                </a:rPr>
                <a:t>基于机器学习的结核病预后模型研究多在特定人群中开展</a:t>
              </a:r>
              <a:r>
                <a:rPr lang="en-US" altLang="zh-CN" kern="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[6–8]</a:t>
              </a:r>
              <a:r>
                <a:rPr lang="zh-CN" altLang="zh-CN" kern="100" dirty="0">
                  <a:effectLst/>
                  <a:latin typeface="Times New Roman" panose="02020503050405090304" pitchFamily="18" charset="0"/>
                  <a:ea typeface="Microsoft YaHei UI" panose="020B0503020204020204" pitchFamily="34" charset="-122"/>
                  <a:cs typeface="Times New Roman" panose="02020503050405090304" pitchFamily="18" charset="0"/>
                </a:rPr>
                <a:t>，未能充分反映类别不平衡的影响，或者</a:t>
              </a:r>
              <a:r>
                <a:rPr lang="zh-CN" altLang="zh-CN" kern="100"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未对这种不平衡性进行有效处理</a:t>
              </a:r>
              <a:r>
                <a:rPr lang="en-US" altLang="zh-CN" kern="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[9]</a:t>
              </a:r>
              <a:r>
                <a:rPr lang="zh-CN" altLang="zh-CN" kern="100" dirty="0">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lang="en-US" altLang="zh-CN"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16" name="组合 15"/>
          <p:cNvGrpSpPr/>
          <p:nvPr/>
        </p:nvGrpSpPr>
        <p:grpSpPr>
          <a:xfrm>
            <a:off x="-176587" y="1336334"/>
            <a:ext cx="3241378" cy="3241378"/>
            <a:chOff x="251999" y="1298016"/>
            <a:chExt cx="3241378" cy="3241378"/>
          </a:xfrm>
        </p:grpSpPr>
        <p:sp>
          <p:nvSpPr>
            <p:cNvPr id="17" name="圆角矩形 16"/>
            <p:cNvSpPr/>
            <p:nvPr/>
          </p:nvSpPr>
          <p:spPr>
            <a:xfrm rot="2700000">
              <a:off x="1007329" y="1998066"/>
              <a:ext cx="1841279" cy="1841279"/>
            </a:xfrm>
            <a:prstGeom prst="roundRect">
              <a:avLst>
                <a:gd name="adj" fmla="val 50000"/>
              </a:avLst>
            </a:prstGeom>
            <a:solidFill>
              <a:srgbClr val="005229"/>
            </a:solidFill>
            <a:ln w="19050">
              <a:solidFill>
                <a:schemeClr val="bg1"/>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8" name="圆角矩形 17"/>
            <p:cNvSpPr/>
            <p:nvPr/>
          </p:nvSpPr>
          <p:spPr>
            <a:xfrm rot="2700000">
              <a:off x="1051864" y="2042602"/>
              <a:ext cx="1752208" cy="1752206"/>
            </a:xfrm>
            <a:prstGeom prst="roundRect">
              <a:avLst>
                <a:gd name="adj" fmla="val 50000"/>
              </a:avLst>
            </a:prstGeom>
            <a:noFill/>
            <a:ln>
              <a:solidFill>
                <a:schemeClr val="bg1"/>
              </a:solidFill>
              <a:prstDash val="dash"/>
            </a:ln>
            <a:effectLst>
              <a:outerShdw blurRad="2540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0" name="椭圆 19"/>
            <p:cNvSpPr/>
            <p:nvPr/>
          </p:nvSpPr>
          <p:spPr>
            <a:xfrm>
              <a:off x="251999" y="1298016"/>
              <a:ext cx="3241378" cy="3241378"/>
            </a:xfrm>
            <a:prstGeom prst="ellipse">
              <a:avLst/>
            </a:prstGeom>
            <a:noFill/>
            <a:ln>
              <a:gradFill>
                <a:gsLst>
                  <a:gs pos="29000">
                    <a:schemeClr val="accent1">
                      <a:lumMod val="5000"/>
                      <a:lumOff val="95000"/>
                      <a:alpha val="0"/>
                    </a:schemeClr>
                  </a:gs>
                  <a:gs pos="100000">
                    <a:srgbClr val="4F577B">
                      <a:alpha val="46000"/>
                    </a:srgb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1" name="文本框 20"/>
            <p:cNvSpPr txBox="1"/>
            <p:nvPr/>
          </p:nvSpPr>
          <p:spPr>
            <a:xfrm>
              <a:off x="1322674" y="2244150"/>
              <a:ext cx="1210588" cy="1323439"/>
            </a:xfrm>
            <a:prstGeom prst="rect">
              <a:avLst/>
            </a:prstGeom>
            <a:noFill/>
          </p:spPr>
          <p:txBody>
            <a:bodyPr wrap="none" rtlCol="0">
              <a:spAutoFit/>
            </a:bodyPr>
            <a:lstStyle/>
            <a:p>
              <a:r>
                <a:rPr lang="zh-CN" altLang="en-US" sz="4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机器</a:t>
              </a:r>
              <a:endParaRPr lang="en-US" altLang="zh-CN" sz="4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a:p>
              <a:r>
                <a:rPr lang="zh-CN" altLang="en-US" sz="4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学习</a:t>
              </a:r>
            </a:p>
          </p:txBody>
        </p:sp>
      </p:grpSp>
      <p:sp>
        <p:nvSpPr>
          <p:cNvPr id="23" name="文本框 22"/>
          <p:cNvSpPr txBox="1"/>
          <p:nvPr/>
        </p:nvSpPr>
        <p:spPr>
          <a:xfrm>
            <a:off x="4087152" y="6171561"/>
            <a:ext cx="3600000" cy="553998"/>
          </a:xfrm>
          <a:prstGeom prst="rect">
            <a:avLst/>
          </a:prstGeom>
          <a:noFill/>
          <a:ln w="19050">
            <a:noFill/>
          </a:ln>
        </p:spPr>
        <p:txBody>
          <a:bodyPr wrap="square">
            <a:spAutoFit/>
          </a:bodyPr>
          <a:lstStyle/>
          <a:p>
            <a:pPr>
              <a:defRPr/>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[4]Swaminathan S, et al. Clinical Infectious Diseases, 2016.</a:t>
            </a:r>
          </a:p>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0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0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5</a:t>
            </a:r>
            <a:r>
              <a:rPr kumimoji="0" lang="en-GB" altLang="zh-CN" sz="10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]WHO. Global tuberculosis report 2024[EB/OL].</a:t>
            </a:r>
          </a:p>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0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0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6</a:t>
            </a:r>
            <a:r>
              <a:rPr kumimoji="0" lang="en-GB" altLang="zh-CN" sz="10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]Sauer C M, et al. </a:t>
            </a:r>
            <a:r>
              <a:rPr kumimoji="0" lang="en-GB" altLang="zh-CN" sz="1000" b="0" i="0" u="none" strike="noStrike" kern="1200" cap="none" spc="0" normalizeH="0" baseline="0" noProof="0" dirty="0" err="1">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PloS</a:t>
            </a:r>
            <a:r>
              <a:rPr kumimoji="0" lang="en-GB" altLang="zh-CN" sz="10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One, 2018. </a:t>
            </a:r>
          </a:p>
        </p:txBody>
      </p:sp>
      <p:sp>
        <p:nvSpPr>
          <p:cNvPr id="25" name="文本框 24"/>
          <p:cNvSpPr txBox="1"/>
          <p:nvPr/>
        </p:nvSpPr>
        <p:spPr>
          <a:xfrm>
            <a:off x="8047976" y="6171561"/>
            <a:ext cx="3600000" cy="553998"/>
          </a:xfrm>
          <a:prstGeom prst="rect">
            <a:avLst/>
          </a:prstGeom>
          <a:noFill/>
          <a:ln w="19050">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7</a:t>
            </a:r>
            <a:r>
              <a:rPr kumimoji="0" lang="en-GB"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]Peng A-Z, et al. Scientific Reports, 2024. </a:t>
            </a:r>
          </a:p>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8</a:t>
            </a:r>
            <a:r>
              <a:rPr kumimoji="0" lang="en-GB"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000" b="0" i="0" u="none" strike="noStrike" kern="1200" cap="none" spc="0" normalizeH="0" baseline="0" noProof="0" dirty="0" err="1">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Sambarey</a:t>
            </a:r>
            <a:r>
              <a:rPr kumimoji="0" lang="en-GB"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 et al. </a:t>
            </a:r>
            <a:r>
              <a:rPr kumimoji="0" lang="en-GB" altLang="zh-CN" sz="1000" b="0" i="0" u="none" strike="noStrike" kern="1200" cap="none" spc="0" normalizeH="0" baseline="0" noProof="0" dirty="0" err="1">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IScience</a:t>
            </a:r>
            <a:r>
              <a:rPr kumimoji="0" lang="en-GB"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2024. </a:t>
            </a:r>
          </a:p>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9</a:t>
            </a:r>
            <a:r>
              <a:rPr kumimoji="0" lang="en-GB" altLang="zh-CN" sz="1000" b="0" i="0" u="none" strike="noStrike" kern="12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Hussain et al. Inform Health Soc Care. 2019.</a:t>
            </a:r>
          </a:p>
        </p:txBody>
      </p:sp>
      <p:sp>
        <p:nvSpPr>
          <p:cNvPr id="26" name="灯片编号占位符 21"/>
          <p:cNvSpPr>
            <a:spLocks noGrp="1"/>
          </p:cNvSpPr>
          <p:nvPr>
            <p:ph type="sldNum" sz="quarter" idx="12"/>
          </p:nvPr>
        </p:nvSpPr>
        <p:spPr>
          <a:xfrm>
            <a:off x="8610600" y="6356350"/>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9</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4" name="组合 13"/>
          <p:cNvGrpSpPr/>
          <p:nvPr/>
        </p:nvGrpSpPr>
        <p:grpSpPr>
          <a:xfrm>
            <a:off x="2705400" y="2177341"/>
            <a:ext cx="9120284" cy="1544137"/>
            <a:chOff x="2661271" y="1757271"/>
            <a:chExt cx="9120284" cy="1544137"/>
          </a:xfrm>
        </p:grpSpPr>
        <p:grpSp>
          <p:nvGrpSpPr>
            <p:cNvPr id="135" name="组合 134"/>
            <p:cNvGrpSpPr/>
            <p:nvPr/>
          </p:nvGrpSpPr>
          <p:grpSpPr>
            <a:xfrm>
              <a:off x="2661271" y="1762462"/>
              <a:ext cx="593128" cy="593128"/>
              <a:chOff x="498090" y="1435413"/>
              <a:chExt cx="593128" cy="593128"/>
            </a:xfrm>
          </p:grpSpPr>
          <p:sp>
            <p:nvSpPr>
              <p:cNvPr id="139" name="椭圆 138"/>
              <p:cNvSpPr/>
              <p:nvPr/>
            </p:nvSpPr>
            <p:spPr>
              <a:xfrm>
                <a:off x="498090" y="1435413"/>
                <a:ext cx="593128" cy="593128"/>
              </a:xfrm>
              <a:prstGeom prst="ellipse">
                <a:avLst/>
              </a:prstGeom>
              <a:solidFill>
                <a:srgbClr val="00522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600" b="0"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40" name="文本框 139"/>
              <p:cNvSpPr txBox="1"/>
              <p:nvPr/>
            </p:nvSpPr>
            <p:spPr>
              <a:xfrm>
                <a:off x="499379" y="1501145"/>
                <a:ext cx="590551" cy="461665"/>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en-US" altLang="zh-CN" sz="2400" b="1"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02</a:t>
                </a:r>
                <a:endParaRPr kumimoji="0" lang="zh-CN" altLang="en-US" sz="2400" b="1" i="0" u="none" strike="noStrike" kern="0" cap="none" spc="0" normalizeH="0" baseline="0" noProof="0" dirty="0">
                  <a:ln>
                    <a:noFill/>
                  </a:ln>
                  <a:solidFill>
                    <a:prstClr val="white"/>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137" name="矩形: 圆角 32"/>
            <p:cNvSpPr/>
            <p:nvPr/>
          </p:nvSpPr>
          <p:spPr>
            <a:xfrm>
              <a:off x="3253111" y="1757271"/>
              <a:ext cx="2071027" cy="432000"/>
            </a:xfrm>
            <a:prstGeom prst="roundRect">
              <a:avLst>
                <a:gd name="adj" fmla="val 50000"/>
              </a:avLst>
            </a:prstGeom>
            <a:noFill/>
            <a:ln w="12700" cap="flat" cmpd="sng" algn="ctr">
              <a:noFill/>
              <a:prstDash val="solid"/>
              <a:miter lim="800000"/>
            </a:ln>
            <a:effectLst/>
          </p:spPr>
          <p:txBody>
            <a:bodyPr rtlCol="0" anchor="ctr"/>
            <a:lstStyle/>
            <a:p>
              <a:pPr algn="ctr">
                <a:defRPr/>
              </a:pPr>
              <a:r>
                <a:rPr kumimoji="0" lang="en-GB" altLang="zh-CN" sz="2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Algorithm</a:t>
              </a:r>
              <a:endParaRPr kumimoji="0" lang="zh-CN" altLang="en-US" sz="28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38" name="PA-矩形 4"/>
            <p:cNvSpPr>
              <a:spLocks noChangeArrowheads="1"/>
            </p:cNvSpPr>
            <p:nvPr>
              <p:custDataLst>
                <p:tags r:id="rId1"/>
              </p:custDataLst>
            </p:nvPr>
          </p:nvSpPr>
          <p:spPr bwMode="auto">
            <a:xfrm>
              <a:off x="3349615" y="2223869"/>
              <a:ext cx="8431940" cy="1077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285750" marR="0" lvl="0" indent="-285750" algn="l" defTabSz="914400" rtl="0" eaLnBrk="1" fontAlgn="auto" latinLnBrk="0" hangingPunct="1">
                <a:lnSpc>
                  <a:spcPct val="114000"/>
                </a:lnSpc>
                <a:spcAft>
                  <a:spcPts val="1200"/>
                </a:spcAft>
                <a:buClrTx/>
                <a:buSzTx/>
                <a:buFont typeface="Wingdings" panose="05000000000000000000" pitchFamily="2" charset="2"/>
                <a:buChar char="Ø"/>
                <a:defRPr/>
              </a:pP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logistic</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回归是最常见的结核病预后模型算法</a:t>
              </a:r>
              <a:r>
                <a:rPr kumimoji="0" lang="en-US" altLang="zh-CN"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kern="100"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rPr>
                <a:t>非线性建模算法应用有限</a:t>
              </a:r>
              <a:endParaRPr lang="en-US" altLang="zh-CN" kern="100"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endParaRPr>
            </a:p>
            <a:p>
              <a:pPr marL="285750" marR="0" lvl="0" indent="-285750" algn="l" defTabSz="914400" rtl="0" eaLnBrk="1" fontAlgn="auto" latinLnBrk="0" hangingPunct="1">
                <a:lnSpc>
                  <a:spcPct val="114000"/>
                </a:lnSpc>
                <a:spcAft>
                  <a:spcPts val="1200"/>
                </a:spcAft>
                <a:buClrTx/>
                <a:buSzTx/>
                <a:buFont typeface="Wingdings" panose="05000000000000000000" pitchFamily="2" charset="2"/>
                <a:buChar char="Ø"/>
                <a:defRPr/>
              </a:pP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在使用非</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logistic</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算法构建结核病预后模型的研究中，研究对象、数据模式各异，</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报告的最佳算法也不尽相同</a:t>
              </a:r>
              <a:r>
                <a:rPr kumimoji="0" lang="en-US" altLang="zh-CN"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[2–4]</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 ，因此需根据特定的数据和环境构建模型</a:t>
              </a:r>
              <a:endParaRPr kumimoji="0" lang="en-US" altLang="zh-CN"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152598" y="3093758"/>
            <a:ext cx="2977242" cy="756636"/>
            <a:chOff x="483928" y="2654131"/>
            <a:chExt cx="2977242" cy="756636"/>
          </a:xfrm>
        </p:grpSpPr>
        <p:cxnSp>
          <p:nvCxnSpPr>
            <p:cNvPr id="59" name="直接连接符 23"/>
            <p:cNvCxnSpPr/>
            <p:nvPr/>
          </p:nvCxnSpPr>
          <p:spPr>
            <a:xfrm rot="60000" flipH="1">
              <a:off x="483928" y="3372019"/>
              <a:ext cx="2977242" cy="38748"/>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518543" y="2654131"/>
              <a:ext cx="2871596" cy="707886"/>
            </a:xfrm>
            <a:prstGeom prst="rect">
              <a:avLst/>
            </a:prstGeom>
            <a:noFill/>
            <a:ln w="19050">
              <a:noFill/>
            </a:ln>
          </p:spPr>
          <p:txBody>
            <a:bodyPr wrap="square">
              <a:spAutoFit/>
            </a:bodyPr>
            <a:lstStyle/>
            <a:p>
              <a:pPr algn="ct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多采用临床和流行病学特征作为预测因子</a:t>
              </a:r>
            </a:p>
          </p:txBody>
        </p:sp>
      </p:grpSp>
      <p:grpSp>
        <p:nvGrpSpPr>
          <p:cNvPr id="57" name="组合 56"/>
          <p:cNvGrpSpPr/>
          <p:nvPr/>
        </p:nvGrpSpPr>
        <p:grpSpPr>
          <a:xfrm>
            <a:off x="734861" y="1401268"/>
            <a:ext cx="3096363" cy="907163"/>
            <a:chOff x="717829" y="1427659"/>
            <a:chExt cx="3096363" cy="907163"/>
          </a:xfrm>
        </p:grpSpPr>
        <p:grpSp>
          <p:nvGrpSpPr>
            <p:cNvPr id="40" name="组合 39"/>
            <p:cNvGrpSpPr/>
            <p:nvPr/>
          </p:nvGrpSpPr>
          <p:grpSpPr>
            <a:xfrm flipH="1">
              <a:off x="717830" y="2125744"/>
              <a:ext cx="3004081" cy="209078"/>
              <a:chOff x="6968561" y="1713295"/>
              <a:chExt cx="3004081" cy="209078"/>
            </a:xfrm>
          </p:grpSpPr>
          <p:cxnSp>
            <p:nvCxnSpPr>
              <p:cNvPr id="38" name="直接连接符 22"/>
              <p:cNvCxnSpPr/>
              <p:nvPr/>
            </p:nvCxnSpPr>
            <p:spPr>
              <a:xfrm flipV="1">
                <a:off x="6968561" y="1713295"/>
                <a:ext cx="62985" cy="209078"/>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39" name="直接连接符 23"/>
              <p:cNvCxnSpPr/>
              <p:nvPr/>
            </p:nvCxnSpPr>
            <p:spPr>
              <a:xfrm>
                <a:off x="7029165" y="1720438"/>
                <a:ext cx="2943477" cy="29011"/>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45" name="文本框 44"/>
            <p:cNvSpPr txBox="1"/>
            <p:nvPr/>
          </p:nvSpPr>
          <p:spPr>
            <a:xfrm>
              <a:off x="717829" y="1427659"/>
              <a:ext cx="3096363" cy="707886"/>
            </a:xfrm>
            <a:prstGeom prst="rect">
              <a:avLst/>
            </a:prstGeom>
            <a:noFill/>
            <a:ln w="19050">
              <a:noFill/>
            </a:ln>
          </p:spPr>
          <p:txBody>
            <a:bodyPr wrap="square">
              <a:spAutoFit/>
            </a:bodyPr>
            <a:lstStyle/>
            <a:p>
              <a:pPr algn="ct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未阐明炎症指标与肺结核不良预后风险的关联形式</a:t>
              </a:r>
            </a:p>
          </p:txBody>
        </p:sp>
      </p:grpSp>
      <p:grpSp>
        <p:nvGrpSpPr>
          <p:cNvPr id="56" name="组合 55"/>
          <p:cNvGrpSpPr/>
          <p:nvPr/>
        </p:nvGrpSpPr>
        <p:grpSpPr>
          <a:xfrm>
            <a:off x="201501" y="2204201"/>
            <a:ext cx="2857308" cy="707886"/>
            <a:chOff x="603862" y="2665433"/>
            <a:chExt cx="2857308" cy="707886"/>
          </a:xfrm>
        </p:grpSpPr>
        <p:cxnSp>
          <p:nvCxnSpPr>
            <p:cNvPr id="48" name="直接连接符 23"/>
            <p:cNvCxnSpPr/>
            <p:nvPr/>
          </p:nvCxnSpPr>
          <p:spPr>
            <a:xfrm flipH="1">
              <a:off x="603862" y="3372019"/>
              <a:ext cx="2857308"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800788" y="2665433"/>
              <a:ext cx="2610649" cy="707886"/>
            </a:xfrm>
            <a:prstGeom prst="rect">
              <a:avLst/>
            </a:prstGeom>
            <a:noFill/>
            <a:ln w="19050">
              <a:noFill/>
            </a:ln>
          </p:spPr>
          <p:txBody>
            <a:bodyPr wrap="square">
              <a:spAutoFit/>
            </a:bodyPr>
            <a:lstStyle/>
            <a:p>
              <a:pPr algn="ct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多在特定人群中开展预后危险因素分析</a:t>
              </a:r>
            </a:p>
          </p:txBody>
        </p:sp>
      </p:grpSp>
      <p:grpSp>
        <p:nvGrpSpPr>
          <p:cNvPr id="65" name="组合 64"/>
          <p:cNvGrpSpPr/>
          <p:nvPr/>
        </p:nvGrpSpPr>
        <p:grpSpPr>
          <a:xfrm>
            <a:off x="517271" y="4615173"/>
            <a:ext cx="3249022" cy="707886"/>
            <a:chOff x="447730" y="4405014"/>
            <a:chExt cx="3249022" cy="707886"/>
          </a:xfrm>
        </p:grpSpPr>
        <p:grpSp>
          <p:nvGrpSpPr>
            <p:cNvPr id="51" name="组合 50"/>
            <p:cNvGrpSpPr/>
            <p:nvPr/>
          </p:nvGrpSpPr>
          <p:grpSpPr>
            <a:xfrm flipH="1" flipV="1">
              <a:off x="447730" y="4893208"/>
              <a:ext cx="3249022" cy="209078"/>
              <a:chOff x="6968561" y="1713295"/>
              <a:chExt cx="3249022" cy="209078"/>
            </a:xfrm>
          </p:grpSpPr>
          <p:cxnSp>
            <p:nvCxnSpPr>
              <p:cNvPr id="52" name="直接连接符 22"/>
              <p:cNvCxnSpPr/>
              <p:nvPr/>
            </p:nvCxnSpPr>
            <p:spPr>
              <a:xfrm flipV="1">
                <a:off x="6968561" y="1713295"/>
                <a:ext cx="62985" cy="209078"/>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23"/>
              <p:cNvCxnSpPr/>
              <p:nvPr/>
            </p:nvCxnSpPr>
            <p:spPr>
              <a:xfrm flipV="1">
                <a:off x="7029165" y="1720438"/>
                <a:ext cx="3188418" cy="0"/>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grpSp>
        <p:sp>
          <p:nvSpPr>
            <p:cNvPr id="54" name="文本框 53"/>
            <p:cNvSpPr txBox="1"/>
            <p:nvPr/>
          </p:nvSpPr>
          <p:spPr>
            <a:xfrm>
              <a:off x="604717" y="4405014"/>
              <a:ext cx="2872063" cy="707886"/>
            </a:xfrm>
            <a:prstGeom prst="rect">
              <a:avLst/>
            </a:prstGeom>
            <a:noFill/>
            <a:ln w="19050">
              <a:noFill/>
            </a:ln>
          </p:spPr>
          <p:txBody>
            <a:bodyPr wrap="square">
              <a:spAutoFit/>
            </a:bodyPr>
            <a:lstStyle/>
            <a:p>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未有效处理肺结核预后数据的类别不平衡问题</a:t>
              </a:r>
            </a:p>
          </p:txBody>
        </p:sp>
      </p:grpSp>
      <p:grpSp>
        <p:nvGrpSpPr>
          <p:cNvPr id="55" name="组合 54"/>
          <p:cNvGrpSpPr/>
          <p:nvPr/>
        </p:nvGrpSpPr>
        <p:grpSpPr>
          <a:xfrm>
            <a:off x="3282726" y="1816284"/>
            <a:ext cx="5676174" cy="4000730"/>
            <a:chOff x="3282726" y="1580310"/>
            <a:chExt cx="5676174" cy="4000730"/>
          </a:xfrm>
        </p:grpSpPr>
        <p:sp>
          <p:nvSpPr>
            <p:cNvPr id="35" name="Freeform 15"/>
            <p:cNvSpPr>
              <a:spLocks noChangeAspect="1" noEditPoints="1"/>
            </p:cNvSpPr>
            <p:nvPr/>
          </p:nvSpPr>
          <p:spPr bwMode="auto">
            <a:xfrm>
              <a:off x="4331828" y="2680876"/>
              <a:ext cx="681372" cy="684000"/>
            </a:xfrm>
            <a:custGeom>
              <a:avLst/>
              <a:gdLst>
                <a:gd name="T0" fmla="*/ 246 w 672"/>
                <a:gd name="T1" fmla="*/ 46 h 672"/>
                <a:gd name="T2" fmla="*/ 104 w 672"/>
                <a:gd name="T3" fmla="*/ 104 h 672"/>
                <a:gd name="T4" fmla="*/ 46 w 672"/>
                <a:gd name="T5" fmla="*/ 246 h 672"/>
                <a:gd name="T6" fmla="*/ 104 w 672"/>
                <a:gd name="T7" fmla="*/ 387 h 672"/>
                <a:gd name="T8" fmla="*/ 246 w 672"/>
                <a:gd name="T9" fmla="*/ 445 h 672"/>
                <a:gd name="T10" fmla="*/ 387 w 672"/>
                <a:gd name="T11" fmla="*/ 387 h 672"/>
                <a:gd name="T12" fmla="*/ 387 w 672"/>
                <a:gd name="T13" fmla="*/ 104 h 672"/>
                <a:gd name="T14" fmla="*/ 246 w 672"/>
                <a:gd name="T15" fmla="*/ 46 h 672"/>
                <a:gd name="T16" fmla="*/ 246 w 672"/>
                <a:gd name="T17" fmla="*/ 491 h 672"/>
                <a:gd name="T18" fmla="*/ 72 w 672"/>
                <a:gd name="T19" fmla="*/ 419 h 672"/>
                <a:gd name="T20" fmla="*/ 0 w 672"/>
                <a:gd name="T21" fmla="*/ 246 h 672"/>
                <a:gd name="T22" fmla="*/ 72 w 672"/>
                <a:gd name="T23" fmla="*/ 72 h 672"/>
                <a:gd name="T24" fmla="*/ 246 w 672"/>
                <a:gd name="T25" fmla="*/ 0 h 672"/>
                <a:gd name="T26" fmla="*/ 419 w 672"/>
                <a:gd name="T27" fmla="*/ 72 h 672"/>
                <a:gd name="T28" fmla="*/ 419 w 672"/>
                <a:gd name="T29" fmla="*/ 419 h 672"/>
                <a:gd name="T30" fmla="*/ 246 w 672"/>
                <a:gd name="T31" fmla="*/ 491 h 672"/>
                <a:gd name="T32" fmla="*/ 459 w 672"/>
                <a:gd name="T33" fmla="*/ 388 h 672"/>
                <a:gd name="T34" fmla="*/ 459 w 672"/>
                <a:gd name="T35" fmla="*/ 419 h 672"/>
                <a:gd name="T36" fmla="*/ 419 w 672"/>
                <a:gd name="T37" fmla="*/ 458 h 672"/>
                <a:gd name="T38" fmla="*/ 388 w 672"/>
                <a:gd name="T39" fmla="*/ 458 h 672"/>
                <a:gd name="T40" fmla="*/ 387 w 672"/>
                <a:gd name="T41" fmla="*/ 457 h 672"/>
                <a:gd name="T42" fmla="*/ 387 w 672"/>
                <a:gd name="T43" fmla="*/ 426 h 672"/>
                <a:gd name="T44" fmla="*/ 426 w 672"/>
                <a:gd name="T45" fmla="*/ 387 h 672"/>
                <a:gd name="T46" fmla="*/ 457 w 672"/>
                <a:gd name="T47" fmla="*/ 387 h 672"/>
                <a:gd name="T48" fmla="*/ 459 w 672"/>
                <a:gd name="T49" fmla="*/ 388 h 672"/>
                <a:gd name="T50" fmla="*/ 509 w 672"/>
                <a:gd name="T51" fmla="*/ 454 h 672"/>
                <a:gd name="T52" fmla="*/ 509 w 672"/>
                <a:gd name="T53" fmla="*/ 509 h 672"/>
                <a:gd name="T54" fmla="*/ 454 w 672"/>
                <a:gd name="T55" fmla="*/ 509 h 672"/>
                <a:gd name="T56" fmla="*/ 454 w 672"/>
                <a:gd name="T57" fmla="*/ 454 h 672"/>
                <a:gd name="T58" fmla="*/ 509 w 672"/>
                <a:gd name="T59" fmla="*/ 454 h 672"/>
                <a:gd name="T60" fmla="*/ 664 w 672"/>
                <a:gd name="T61" fmla="*/ 601 h 672"/>
                <a:gd name="T62" fmla="*/ 663 w 672"/>
                <a:gd name="T63" fmla="*/ 631 h 672"/>
                <a:gd name="T64" fmla="*/ 631 w 672"/>
                <a:gd name="T65" fmla="*/ 663 h 672"/>
                <a:gd name="T66" fmla="*/ 601 w 672"/>
                <a:gd name="T67" fmla="*/ 664 h 672"/>
                <a:gd name="T68" fmla="*/ 508 w 672"/>
                <a:gd name="T69" fmla="*/ 570 h 672"/>
                <a:gd name="T70" fmla="*/ 509 w 672"/>
                <a:gd name="T71" fmla="*/ 540 h 672"/>
                <a:gd name="T72" fmla="*/ 541 w 672"/>
                <a:gd name="T73" fmla="*/ 509 h 672"/>
                <a:gd name="T74" fmla="*/ 570 w 672"/>
                <a:gd name="T75" fmla="*/ 508 h 672"/>
                <a:gd name="T76" fmla="*/ 664 w 672"/>
                <a:gd name="T77" fmla="*/ 601 h 672"/>
                <a:gd name="T78" fmla="*/ 246 w 672"/>
                <a:gd name="T79" fmla="*/ 98 h 672"/>
                <a:gd name="T80" fmla="*/ 142 w 672"/>
                <a:gd name="T81" fmla="*/ 141 h 672"/>
                <a:gd name="T82" fmla="*/ 98 w 672"/>
                <a:gd name="T83" fmla="*/ 245 h 672"/>
                <a:gd name="T84" fmla="*/ 142 w 672"/>
                <a:gd name="T85" fmla="*/ 350 h 672"/>
                <a:gd name="T86" fmla="*/ 246 w 672"/>
                <a:gd name="T87" fmla="*/ 393 h 672"/>
                <a:gd name="T88" fmla="*/ 350 w 672"/>
                <a:gd name="T89" fmla="*/ 350 h 672"/>
                <a:gd name="T90" fmla="*/ 350 w 672"/>
                <a:gd name="T91" fmla="*/ 141 h 672"/>
                <a:gd name="T92" fmla="*/ 246 w 672"/>
                <a:gd name="T93" fmla="*/ 98 h 672"/>
                <a:gd name="T94" fmla="*/ 246 w 672"/>
                <a:gd name="T95" fmla="*/ 423 h 672"/>
                <a:gd name="T96" fmla="*/ 120 w 672"/>
                <a:gd name="T97" fmla="*/ 371 h 672"/>
                <a:gd name="T98" fmla="*/ 68 w 672"/>
                <a:gd name="T99" fmla="*/ 245 h 672"/>
                <a:gd name="T100" fmla="*/ 120 w 672"/>
                <a:gd name="T101" fmla="*/ 120 h 672"/>
                <a:gd name="T102" fmla="*/ 246 w 672"/>
                <a:gd name="T103" fmla="*/ 68 h 672"/>
                <a:gd name="T104" fmla="*/ 371 w 672"/>
                <a:gd name="T105" fmla="*/ 120 h 672"/>
                <a:gd name="T106" fmla="*/ 371 w 672"/>
                <a:gd name="T107" fmla="*/ 371 h 672"/>
                <a:gd name="T108" fmla="*/ 246 w 672"/>
                <a:gd name="T109" fmla="*/ 423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72" h="672">
                  <a:moveTo>
                    <a:pt x="246" y="46"/>
                  </a:moveTo>
                  <a:cubicBezTo>
                    <a:pt x="192" y="46"/>
                    <a:pt x="142" y="67"/>
                    <a:pt x="104" y="104"/>
                  </a:cubicBezTo>
                  <a:cubicBezTo>
                    <a:pt x="67" y="142"/>
                    <a:pt x="46" y="192"/>
                    <a:pt x="46" y="246"/>
                  </a:cubicBezTo>
                  <a:cubicBezTo>
                    <a:pt x="46" y="299"/>
                    <a:pt x="67" y="349"/>
                    <a:pt x="104" y="387"/>
                  </a:cubicBezTo>
                  <a:cubicBezTo>
                    <a:pt x="142" y="424"/>
                    <a:pt x="192" y="445"/>
                    <a:pt x="246" y="445"/>
                  </a:cubicBezTo>
                  <a:cubicBezTo>
                    <a:pt x="299" y="445"/>
                    <a:pt x="349" y="424"/>
                    <a:pt x="387" y="387"/>
                  </a:cubicBezTo>
                  <a:cubicBezTo>
                    <a:pt x="465" y="309"/>
                    <a:pt x="465" y="182"/>
                    <a:pt x="387" y="104"/>
                  </a:cubicBezTo>
                  <a:cubicBezTo>
                    <a:pt x="349" y="67"/>
                    <a:pt x="299" y="46"/>
                    <a:pt x="246" y="46"/>
                  </a:cubicBezTo>
                  <a:close/>
                  <a:moveTo>
                    <a:pt x="246" y="491"/>
                  </a:moveTo>
                  <a:cubicBezTo>
                    <a:pt x="180" y="491"/>
                    <a:pt x="119" y="465"/>
                    <a:pt x="72" y="419"/>
                  </a:cubicBezTo>
                  <a:cubicBezTo>
                    <a:pt x="26" y="373"/>
                    <a:pt x="0" y="311"/>
                    <a:pt x="0" y="246"/>
                  </a:cubicBezTo>
                  <a:cubicBezTo>
                    <a:pt x="0" y="180"/>
                    <a:pt x="26" y="118"/>
                    <a:pt x="72" y="72"/>
                  </a:cubicBezTo>
                  <a:cubicBezTo>
                    <a:pt x="119" y="26"/>
                    <a:pt x="180" y="0"/>
                    <a:pt x="246" y="0"/>
                  </a:cubicBezTo>
                  <a:cubicBezTo>
                    <a:pt x="311" y="0"/>
                    <a:pt x="373" y="26"/>
                    <a:pt x="419" y="72"/>
                  </a:cubicBezTo>
                  <a:cubicBezTo>
                    <a:pt x="515" y="168"/>
                    <a:pt x="515" y="323"/>
                    <a:pt x="419" y="419"/>
                  </a:cubicBezTo>
                  <a:cubicBezTo>
                    <a:pt x="373" y="465"/>
                    <a:pt x="311" y="491"/>
                    <a:pt x="246" y="491"/>
                  </a:cubicBezTo>
                  <a:close/>
                  <a:moveTo>
                    <a:pt x="459" y="388"/>
                  </a:moveTo>
                  <a:cubicBezTo>
                    <a:pt x="467" y="397"/>
                    <a:pt x="467" y="411"/>
                    <a:pt x="459" y="419"/>
                  </a:cubicBezTo>
                  <a:lnTo>
                    <a:pt x="419" y="458"/>
                  </a:lnTo>
                  <a:cubicBezTo>
                    <a:pt x="411" y="467"/>
                    <a:pt x="397" y="467"/>
                    <a:pt x="388" y="458"/>
                  </a:cubicBezTo>
                  <a:lnTo>
                    <a:pt x="387" y="457"/>
                  </a:lnTo>
                  <a:cubicBezTo>
                    <a:pt x="378" y="448"/>
                    <a:pt x="378" y="434"/>
                    <a:pt x="387" y="426"/>
                  </a:cubicBezTo>
                  <a:lnTo>
                    <a:pt x="426" y="387"/>
                  </a:lnTo>
                  <a:cubicBezTo>
                    <a:pt x="434" y="378"/>
                    <a:pt x="448" y="378"/>
                    <a:pt x="457" y="387"/>
                  </a:cubicBezTo>
                  <a:lnTo>
                    <a:pt x="459" y="388"/>
                  </a:lnTo>
                  <a:close/>
                  <a:moveTo>
                    <a:pt x="509" y="454"/>
                  </a:moveTo>
                  <a:cubicBezTo>
                    <a:pt x="524" y="469"/>
                    <a:pt x="524" y="494"/>
                    <a:pt x="509" y="509"/>
                  </a:cubicBezTo>
                  <a:cubicBezTo>
                    <a:pt x="494" y="524"/>
                    <a:pt x="470" y="524"/>
                    <a:pt x="454" y="509"/>
                  </a:cubicBezTo>
                  <a:cubicBezTo>
                    <a:pt x="439" y="494"/>
                    <a:pt x="439" y="469"/>
                    <a:pt x="454" y="454"/>
                  </a:cubicBezTo>
                  <a:cubicBezTo>
                    <a:pt x="470" y="439"/>
                    <a:pt x="494" y="439"/>
                    <a:pt x="509" y="454"/>
                  </a:cubicBezTo>
                  <a:close/>
                  <a:moveTo>
                    <a:pt x="664" y="601"/>
                  </a:moveTo>
                  <a:cubicBezTo>
                    <a:pt x="672" y="609"/>
                    <a:pt x="671" y="623"/>
                    <a:pt x="663" y="631"/>
                  </a:cubicBezTo>
                  <a:lnTo>
                    <a:pt x="631" y="663"/>
                  </a:lnTo>
                  <a:cubicBezTo>
                    <a:pt x="623" y="671"/>
                    <a:pt x="609" y="672"/>
                    <a:pt x="601" y="664"/>
                  </a:cubicBezTo>
                  <a:lnTo>
                    <a:pt x="508" y="570"/>
                  </a:lnTo>
                  <a:cubicBezTo>
                    <a:pt x="500" y="562"/>
                    <a:pt x="500" y="549"/>
                    <a:pt x="509" y="540"/>
                  </a:cubicBezTo>
                  <a:lnTo>
                    <a:pt x="541" y="509"/>
                  </a:lnTo>
                  <a:cubicBezTo>
                    <a:pt x="549" y="500"/>
                    <a:pt x="562" y="500"/>
                    <a:pt x="570" y="508"/>
                  </a:cubicBezTo>
                  <a:lnTo>
                    <a:pt x="664" y="601"/>
                  </a:lnTo>
                  <a:close/>
                  <a:moveTo>
                    <a:pt x="246" y="98"/>
                  </a:moveTo>
                  <a:cubicBezTo>
                    <a:pt x="206" y="98"/>
                    <a:pt x="169" y="114"/>
                    <a:pt x="142" y="141"/>
                  </a:cubicBezTo>
                  <a:cubicBezTo>
                    <a:pt x="114" y="169"/>
                    <a:pt x="98" y="206"/>
                    <a:pt x="98" y="245"/>
                  </a:cubicBezTo>
                  <a:cubicBezTo>
                    <a:pt x="98" y="285"/>
                    <a:pt x="114" y="322"/>
                    <a:pt x="142" y="350"/>
                  </a:cubicBezTo>
                  <a:cubicBezTo>
                    <a:pt x="169" y="377"/>
                    <a:pt x="206" y="393"/>
                    <a:pt x="246" y="393"/>
                  </a:cubicBezTo>
                  <a:cubicBezTo>
                    <a:pt x="285" y="393"/>
                    <a:pt x="322" y="377"/>
                    <a:pt x="350" y="350"/>
                  </a:cubicBezTo>
                  <a:cubicBezTo>
                    <a:pt x="407" y="292"/>
                    <a:pt x="407" y="199"/>
                    <a:pt x="350" y="141"/>
                  </a:cubicBezTo>
                  <a:cubicBezTo>
                    <a:pt x="322" y="114"/>
                    <a:pt x="285" y="98"/>
                    <a:pt x="246" y="98"/>
                  </a:cubicBezTo>
                  <a:close/>
                  <a:moveTo>
                    <a:pt x="246" y="423"/>
                  </a:moveTo>
                  <a:cubicBezTo>
                    <a:pt x="198" y="423"/>
                    <a:pt x="154" y="405"/>
                    <a:pt x="120" y="371"/>
                  </a:cubicBezTo>
                  <a:cubicBezTo>
                    <a:pt x="86" y="338"/>
                    <a:pt x="68" y="293"/>
                    <a:pt x="68" y="245"/>
                  </a:cubicBezTo>
                  <a:cubicBezTo>
                    <a:pt x="68" y="198"/>
                    <a:pt x="86" y="153"/>
                    <a:pt x="120" y="120"/>
                  </a:cubicBezTo>
                  <a:cubicBezTo>
                    <a:pt x="154" y="86"/>
                    <a:pt x="198" y="68"/>
                    <a:pt x="246" y="68"/>
                  </a:cubicBezTo>
                  <a:cubicBezTo>
                    <a:pt x="293" y="68"/>
                    <a:pt x="338" y="86"/>
                    <a:pt x="371" y="120"/>
                  </a:cubicBezTo>
                  <a:cubicBezTo>
                    <a:pt x="440" y="189"/>
                    <a:pt x="440" y="302"/>
                    <a:pt x="371" y="371"/>
                  </a:cubicBezTo>
                  <a:cubicBezTo>
                    <a:pt x="338" y="405"/>
                    <a:pt x="293" y="423"/>
                    <a:pt x="246" y="423"/>
                  </a:cubicBezTo>
                  <a:close/>
                </a:path>
              </a:pathLst>
            </a:custGeom>
            <a:solidFill>
              <a:srgbClr val="3F474C"/>
            </a:solidFill>
            <a:ln>
              <a:noFill/>
            </a:ln>
          </p:spPr>
          <p:txBody>
            <a:bodyPr vert="horz" wrap="square" lIns="91440" tIns="45720" rIns="91440" bIns="45720" numCol="1" anchor="t" anchorCtr="0" compatLnSpc="1"/>
            <a:lstStyle/>
            <a:p>
              <a:endParaRPr lang="zh-CN" altLang="en-US" b="1">
                <a:solidFill>
                  <a:schemeClr val="accent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6" name="Freeform 16"/>
            <p:cNvSpPr>
              <a:spLocks noChangeAspect="1" noEditPoints="1"/>
            </p:cNvSpPr>
            <p:nvPr/>
          </p:nvSpPr>
          <p:spPr bwMode="auto">
            <a:xfrm>
              <a:off x="7214196" y="2525143"/>
              <a:ext cx="720000" cy="911134"/>
            </a:xfrm>
            <a:custGeom>
              <a:avLst/>
              <a:gdLst>
                <a:gd name="T0" fmla="*/ 129 w 637"/>
                <a:gd name="T1" fmla="*/ 322 h 867"/>
                <a:gd name="T2" fmla="*/ 196 w 637"/>
                <a:gd name="T3" fmla="*/ 480 h 867"/>
                <a:gd name="T4" fmla="*/ 250 w 637"/>
                <a:gd name="T5" fmla="*/ 607 h 867"/>
                <a:gd name="T6" fmla="*/ 373 w 637"/>
                <a:gd name="T7" fmla="*/ 610 h 867"/>
                <a:gd name="T8" fmla="*/ 400 w 637"/>
                <a:gd name="T9" fmla="*/ 560 h 867"/>
                <a:gd name="T10" fmla="*/ 469 w 637"/>
                <a:gd name="T11" fmla="*/ 433 h 867"/>
                <a:gd name="T12" fmla="*/ 319 w 637"/>
                <a:gd name="T13" fmla="*/ 132 h 867"/>
                <a:gd name="T14" fmla="*/ 264 w 637"/>
                <a:gd name="T15" fmla="*/ 650 h 867"/>
                <a:gd name="T16" fmla="*/ 201 w 637"/>
                <a:gd name="T17" fmla="*/ 578 h 867"/>
                <a:gd name="T18" fmla="*/ 135 w 637"/>
                <a:gd name="T19" fmla="*/ 455 h 867"/>
                <a:gd name="T20" fmla="*/ 319 w 637"/>
                <a:gd name="T21" fmla="*/ 92 h 867"/>
                <a:gd name="T22" fmla="*/ 502 w 637"/>
                <a:gd name="T23" fmla="*/ 455 h 867"/>
                <a:gd name="T24" fmla="*/ 436 w 637"/>
                <a:gd name="T25" fmla="*/ 578 h 867"/>
                <a:gd name="T26" fmla="*/ 373 w 637"/>
                <a:gd name="T27" fmla="*/ 650 h 867"/>
                <a:gd name="T28" fmla="*/ 228 w 637"/>
                <a:gd name="T29" fmla="*/ 777 h 867"/>
                <a:gd name="T30" fmla="*/ 382 w 637"/>
                <a:gd name="T31" fmla="*/ 807 h 867"/>
                <a:gd name="T32" fmla="*/ 382 w 637"/>
                <a:gd name="T33" fmla="*/ 748 h 867"/>
                <a:gd name="T34" fmla="*/ 246 w 637"/>
                <a:gd name="T35" fmla="*/ 796 h 867"/>
                <a:gd name="T36" fmla="*/ 394 w 637"/>
                <a:gd name="T37" fmla="*/ 796 h 867"/>
                <a:gd name="T38" fmla="*/ 413 w 637"/>
                <a:gd name="T39" fmla="*/ 777 h 867"/>
                <a:gd name="T40" fmla="*/ 228 w 637"/>
                <a:gd name="T41" fmla="*/ 685 h 867"/>
                <a:gd name="T42" fmla="*/ 413 w 637"/>
                <a:gd name="T43" fmla="*/ 777 h 867"/>
                <a:gd name="T44" fmla="*/ 411 w 637"/>
                <a:gd name="T45" fmla="*/ 362 h 867"/>
                <a:gd name="T46" fmla="*/ 349 w 637"/>
                <a:gd name="T47" fmla="*/ 424 h 867"/>
                <a:gd name="T48" fmla="*/ 288 w 637"/>
                <a:gd name="T49" fmla="*/ 424 h 867"/>
                <a:gd name="T50" fmla="*/ 226 w 637"/>
                <a:gd name="T51" fmla="*/ 362 h 867"/>
                <a:gd name="T52" fmla="*/ 226 w 637"/>
                <a:gd name="T53" fmla="*/ 302 h 867"/>
                <a:gd name="T54" fmla="*/ 288 w 637"/>
                <a:gd name="T55" fmla="*/ 239 h 867"/>
                <a:gd name="T56" fmla="*/ 349 w 637"/>
                <a:gd name="T57" fmla="*/ 239 h 867"/>
                <a:gd name="T58" fmla="*/ 411 w 637"/>
                <a:gd name="T59" fmla="*/ 302 h 867"/>
                <a:gd name="T60" fmla="*/ 612 w 637"/>
                <a:gd name="T61" fmla="*/ 293 h 867"/>
                <a:gd name="T62" fmla="*/ 579 w 637"/>
                <a:gd name="T63" fmla="*/ 322 h 867"/>
                <a:gd name="T64" fmla="*/ 612 w 637"/>
                <a:gd name="T65" fmla="*/ 341 h 867"/>
                <a:gd name="T66" fmla="*/ 612 w 637"/>
                <a:gd name="T67" fmla="*/ 293 h 867"/>
                <a:gd name="T68" fmla="*/ 542 w 637"/>
                <a:gd name="T69" fmla="*/ 128 h 867"/>
                <a:gd name="T70" fmla="*/ 508 w 637"/>
                <a:gd name="T71" fmla="*/ 94 h 867"/>
                <a:gd name="T72" fmla="*/ 518 w 637"/>
                <a:gd name="T73" fmla="*/ 152 h 867"/>
                <a:gd name="T74" fmla="*/ 342 w 637"/>
                <a:gd name="T75" fmla="*/ 61 h 867"/>
                <a:gd name="T76" fmla="*/ 318 w 637"/>
                <a:gd name="T77" fmla="*/ 0 h 867"/>
                <a:gd name="T78" fmla="*/ 294 w 637"/>
                <a:gd name="T79" fmla="*/ 61 h 867"/>
                <a:gd name="T80" fmla="*/ 117 w 637"/>
                <a:gd name="T81" fmla="*/ 155 h 867"/>
                <a:gd name="T82" fmla="*/ 127 w 637"/>
                <a:gd name="T83" fmla="*/ 98 h 867"/>
                <a:gd name="T84" fmla="*/ 94 w 637"/>
                <a:gd name="T85" fmla="*/ 132 h 867"/>
                <a:gd name="T86" fmla="*/ 57 w 637"/>
                <a:gd name="T87" fmla="*/ 322 h 867"/>
                <a:gd name="T88" fmla="*/ 25 w 637"/>
                <a:gd name="T89" fmla="*/ 293 h 867"/>
                <a:gd name="T90" fmla="*/ 25 w 637"/>
                <a:gd name="T91" fmla="*/ 341 h 867"/>
                <a:gd name="T92" fmla="*/ 57 w 637"/>
                <a:gd name="T93" fmla="*/ 322 h 8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37" h="867">
                  <a:moveTo>
                    <a:pt x="319" y="132"/>
                  </a:moveTo>
                  <a:cubicBezTo>
                    <a:pt x="214" y="132"/>
                    <a:pt x="129" y="217"/>
                    <a:pt x="129" y="322"/>
                  </a:cubicBezTo>
                  <a:cubicBezTo>
                    <a:pt x="129" y="372"/>
                    <a:pt x="168" y="432"/>
                    <a:pt x="168" y="433"/>
                  </a:cubicBezTo>
                  <a:cubicBezTo>
                    <a:pt x="177" y="446"/>
                    <a:pt x="189" y="466"/>
                    <a:pt x="196" y="480"/>
                  </a:cubicBezTo>
                  <a:lnTo>
                    <a:pt x="237" y="560"/>
                  </a:lnTo>
                  <a:cubicBezTo>
                    <a:pt x="244" y="575"/>
                    <a:pt x="250" y="595"/>
                    <a:pt x="250" y="607"/>
                  </a:cubicBezTo>
                  <a:cubicBezTo>
                    <a:pt x="251" y="607"/>
                    <a:pt x="255" y="610"/>
                    <a:pt x="264" y="610"/>
                  </a:cubicBezTo>
                  <a:lnTo>
                    <a:pt x="373" y="610"/>
                  </a:lnTo>
                  <a:cubicBezTo>
                    <a:pt x="382" y="610"/>
                    <a:pt x="386" y="607"/>
                    <a:pt x="387" y="606"/>
                  </a:cubicBezTo>
                  <a:cubicBezTo>
                    <a:pt x="387" y="595"/>
                    <a:pt x="393" y="575"/>
                    <a:pt x="400" y="560"/>
                  </a:cubicBezTo>
                  <a:lnTo>
                    <a:pt x="441" y="480"/>
                  </a:lnTo>
                  <a:cubicBezTo>
                    <a:pt x="448" y="467"/>
                    <a:pt x="461" y="445"/>
                    <a:pt x="469" y="433"/>
                  </a:cubicBezTo>
                  <a:cubicBezTo>
                    <a:pt x="483" y="412"/>
                    <a:pt x="508" y="362"/>
                    <a:pt x="508" y="322"/>
                  </a:cubicBezTo>
                  <a:cubicBezTo>
                    <a:pt x="508" y="217"/>
                    <a:pt x="423" y="132"/>
                    <a:pt x="319" y="132"/>
                  </a:cubicBezTo>
                  <a:close/>
                  <a:moveTo>
                    <a:pt x="373" y="650"/>
                  </a:moveTo>
                  <a:lnTo>
                    <a:pt x="264" y="650"/>
                  </a:lnTo>
                  <a:cubicBezTo>
                    <a:pt x="234" y="650"/>
                    <a:pt x="211" y="631"/>
                    <a:pt x="211" y="607"/>
                  </a:cubicBezTo>
                  <a:cubicBezTo>
                    <a:pt x="211" y="603"/>
                    <a:pt x="207" y="590"/>
                    <a:pt x="201" y="578"/>
                  </a:cubicBezTo>
                  <a:lnTo>
                    <a:pt x="160" y="498"/>
                  </a:lnTo>
                  <a:cubicBezTo>
                    <a:pt x="154" y="486"/>
                    <a:pt x="143" y="466"/>
                    <a:pt x="135" y="455"/>
                  </a:cubicBezTo>
                  <a:cubicBezTo>
                    <a:pt x="130" y="448"/>
                    <a:pt x="89" y="383"/>
                    <a:pt x="89" y="322"/>
                  </a:cubicBezTo>
                  <a:cubicBezTo>
                    <a:pt x="89" y="195"/>
                    <a:pt x="192" y="92"/>
                    <a:pt x="319" y="92"/>
                  </a:cubicBezTo>
                  <a:cubicBezTo>
                    <a:pt x="445" y="92"/>
                    <a:pt x="548" y="195"/>
                    <a:pt x="548" y="322"/>
                  </a:cubicBezTo>
                  <a:cubicBezTo>
                    <a:pt x="548" y="382"/>
                    <a:pt x="507" y="447"/>
                    <a:pt x="502" y="455"/>
                  </a:cubicBezTo>
                  <a:cubicBezTo>
                    <a:pt x="495" y="466"/>
                    <a:pt x="483" y="486"/>
                    <a:pt x="477" y="498"/>
                  </a:cubicBezTo>
                  <a:lnTo>
                    <a:pt x="436" y="578"/>
                  </a:lnTo>
                  <a:cubicBezTo>
                    <a:pt x="430" y="590"/>
                    <a:pt x="427" y="603"/>
                    <a:pt x="426" y="607"/>
                  </a:cubicBezTo>
                  <a:cubicBezTo>
                    <a:pt x="426" y="631"/>
                    <a:pt x="403" y="650"/>
                    <a:pt x="373" y="650"/>
                  </a:cubicBezTo>
                  <a:close/>
                  <a:moveTo>
                    <a:pt x="258" y="748"/>
                  </a:moveTo>
                  <a:cubicBezTo>
                    <a:pt x="241" y="748"/>
                    <a:pt x="228" y="761"/>
                    <a:pt x="228" y="777"/>
                  </a:cubicBezTo>
                  <a:cubicBezTo>
                    <a:pt x="228" y="794"/>
                    <a:pt x="241" y="807"/>
                    <a:pt x="258" y="807"/>
                  </a:cubicBezTo>
                  <a:lnTo>
                    <a:pt x="382" y="807"/>
                  </a:lnTo>
                  <a:cubicBezTo>
                    <a:pt x="399" y="807"/>
                    <a:pt x="413" y="794"/>
                    <a:pt x="413" y="777"/>
                  </a:cubicBezTo>
                  <a:cubicBezTo>
                    <a:pt x="413" y="761"/>
                    <a:pt x="399" y="748"/>
                    <a:pt x="382" y="748"/>
                  </a:cubicBezTo>
                  <a:lnTo>
                    <a:pt x="258" y="748"/>
                  </a:lnTo>
                  <a:close/>
                  <a:moveTo>
                    <a:pt x="246" y="796"/>
                  </a:moveTo>
                  <a:cubicBezTo>
                    <a:pt x="248" y="835"/>
                    <a:pt x="280" y="867"/>
                    <a:pt x="320" y="867"/>
                  </a:cubicBezTo>
                  <a:cubicBezTo>
                    <a:pt x="360" y="867"/>
                    <a:pt x="393" y="835"/>
                    <a:pt x="394" y="796"/>
                  </a:cubicBezTo>
                  <a:lnTo>
                    <a:pt x="246" y="796"/>
                  </a:lnTo>
                  <a:close/>
                  <a:moveTo>
                    <a:pt x="413" y="777"/>
                  </a:moveTo>
                  <a:lnTo>
                    <a:pt x="228" y="777"/>
                  </a:lnTo>
                  <a:lnTo>
                    <a:pt x="228" y="685"/>
                  </a:lnTo>
                  <a:lnTo>
                    <a:pt x="413" y="685"/>
                  </a:lnTo>
                  <a:lnTo>
                    <a:pt x="413" y="777"/>
                  </a:lnTo>
                  <a:close/>
                  <a:moveTo>
                    <a:pt x="441" y="332"/>
                  </a:moveTo>
                  <a:cubicBezTo>
                    <a:pt x="441" y="348"/>
                    <a:pt x="428" y="362"/>
                    <a:pt x="411" y="362"/>
                  </a:cubicBezTo>
                  <a:lnTo>
                    <a:pt x="349" y="362"/>
                  </a:lnTo>
                  <a:lnTo>
                    <a:pt x="349" y="424"/>
                  </a:lnTo>
                  <a:cubicBezTo>
                    <a:pt x="349" y="441"/>
                    <a:pt x="335" y="455"/>
                    <a:pt x="319" y="455"/>
                  </a:cubicBezTo>
                  <a:cubicBezTo>
                    <a:pt x="302" y="455"/>
                    <a:pt x="288" y="441"/>
                    <a:pt x="288" y="424"/>
                  </a:cubicBezTo>
                  <a:lnTo>
                    <a:pt x="288" y="362"/>
                  </a:lnTo>
                  <a:lnTo>
                    <a:pt x="226" y="362"/>
                  </a:lnTo>
                  <a:cubicBezTo>
                    <a:pt x="209" y="362"/>
                    <a:pt x="196" y="348"/>
                    <a:pt x="196" y="332"/>
                  </a:cubicBezTo>
                  <a:cubicBezTo>
                    <a:pt x="196" y="315"/>
                    <a:pt x="209" y="302"/>
                    <a:pt x="226" y="302"/>
                  </a:cubicBezTo>
                  <a:lnTo>
                    <a:pt x="288" y="302"/>
                  </a:lnTo>
                  <a:lnTo>
                    <a:pt x="288" y="239"/>
                  </a:lnTo>
                  <a:cubicBezTo>
                    <a:pt x="288" y="223"/>
                    <a:pt x="302" y="209"/>
                    <a:pt x="319" y="209"/>
                  </a:cubicBezTo>
                  <a:cubicBezTo>
                    <a:pt x="335" y="209"/>
                    <a:pt x="349" y="223"/>
                    <a:pt x="349" y="239"/>
                  </a:cubicBezTo>
                  <a:lnTo>
                    <a:pt x="349" y="302"/>
                  </a:lnTo>
                  <a:lnTo>
                    <a:pt x="411" y="302"/>
                  </a:lnTo>
                  <a:cubicBezTo>
                    <a:pt x="428" y="302"/>
                    <a:pt x="441" y="315"/>
                    <a:pt x="441" y="332"/>
                  </a:cubicBezTo>
                  <a:close/>
                  <a:moveTo>
                    <a:pt x="612" y="293"/>
                  </a:moveTo>
                  <a:lnTo>
                    <a:pt x="578" y="293"/>
                  </a:lnTo>
                  <a:cubicBezTo>
                    <a:pt x="579" y="302"/>
                    <a:pt x="579" y="312"/>
                    <a:pt x="579" y="322"/>
                  </a:cubicBezTo>
                  <a:cubicBezTo>
                    <a:pt x="579" y="328"/>
                    <a:pt x="579" y="334"/>
                    <a:pt x="578" y="341"/>
                  </a:cubicBezTo>
                  <a:lnTo>
                    <a:pt x="612" y="341"/>
                  </a:lnTo>
                  <a:cubicBezTo>
                    <a:pt x="626" y="341"/>
                    <a:pt x="637" y="330"/>
                    <a:pt x="637" y="317"/>
                  </a:cubicBezTo>
                  <a:cubicBezTo>
                    <a:pt x="637" y="304"/>
                    <a:pt x="626" y="293"/>
                    <a:pt x="612" y="293"/>
                  </a:cubicBezTo>
                  <a:close/>
                  <a:moveTo>
                    <a:pt x="518" y="152"/>
                  </a:moveTo>
                  <a:lnTo>
                    <a:pt x="542" y="128"/>
                  </a:lnTo>
                  <a:cubicBezTo>
                    <a:pt x="552" y="118"/>
                    <a:pt x="552" y="103"/>
                    <a:pt x="543" y="93"/>
                  </a:cubicBezTo>
                  <a:cubicBezTo>
                    <a:pt x="534" y="84"/>
                    <a:pt x="518" y="84"/>
                    <a:pt x="508" y="94"/>
                  </a:cubicBezTo>
                  <a:lnTo>
                    <a:pt x="484" y="119"/>
                  </a:lnTo>
                  <a:cubicBezTo>
                    <a:pt x="496" y="129"/>
                    <a:pt x="507" y="140"/>
                    <a:pt x="518" y="152"/>
                  </a:cubicBezTo>
                  <a:close/>
                  <a:moveTo>
                    <a:pt x="318" y="60"/>
                  </a:moveTo>
                  <a:cubicBezTo>
                    <a:pt x="326" y="60"/>
                    <a:pt x="334" y="61"/>
                    <a:pt x="342" y="61"/>
                  </a:cubicBezTo>
                  <a:lnTo>
                    <a:pt x="342" y="25"/>
                  </a:lnTo>
                  <a:cubicBezTo>
                    <a:pt x="342" y="11"/>
                    <a:pt x="331" y="0"/>
                    <a:pt x="318" y="0"/>
                  </a:cubicBezTo>
                  <a:cubicBezTo>
                    <a:pt x="305" y="0"/>
                    <a:pt x="294" y="11"/>
                    <a:pt x="294" y="25"/>
                  </a:cubicBezTo>
                  <a:lnTo>
                    <a:pt x="294" y="61"/>
                  </a:lnTo>
                  <a:cubicBezTo>
                    <a:pt x="302" y="61"/>
                    <a:pt x="310" y="60"/>
                    <a:pt x="318" y="60"/>
                  </a:cubicBezTo>
                  <a:close/>
                  <a:moveTo>
                    <a:pt x="117" y="155"/>
                  </a:moveTo>
                  <a:cubicBezTo>
                    <a:pt x="127" y="143"/>
                    <a:pt x="138" y="132"/>
                    <a:pt x="151" y="122"/>
                  </a:cubicBezTo>
                  <a:lnTo>
                    <a:pt x="127" y="98"/>
                  </a:lnTo>
                  <a:cubicBezTo>
                    <a:pt x="118" y="89"/>
                    <a:pt x="102" y="88"/>
                    <a:pt x="93" y="98"/>
                  </a:cubicBezTo>
                  <a:cubicBezTo>
                    <a:pt x="84" y="107"/>
                    <a:pt x="84" y="122"/>
                    <a:pt x="94" y="132"/>
                  </a:cubicBezTo>
                  <a:lnTo>
                    <a:pt x="117" y="155"/>
                  </a:lnTo>
                  <a:close/>
                  <a:moveTo>
                    <a:pt x="57" y="322"/>
                  </a:moveTo>
                  <a:cubicBezTo>
                    <a:pt x="57" y="312"/>
                    <a:pt x="58" y="302"/>
                    <a:pt x="59" y="293"/>
                  </a:cubicBezTo>
                  <a:lnTo>
                    <a:pt x="25" y="293"/>
                  </a:lnTo>
                  <a:cubicBezTo>
                    <a:pt x="11" y="293"/>
                    <a:pt x="0" y="304"/>
                    <a:pt x="0" y="317"/>
                  </a:cubicBezTo>
                  <a:cubicBezTo>
                    <a:pt x="0" y="330"/>
                    <a:pt x="11" y="341"/>
                    <a:pt x="25" y="341"/>
                  </a:cubicBezTo>
                  <a:lnTo>
                    <a:pt x="58" y="341"/>
                  </a:lnTo>
                  <a:cubicBezTo>
                    <a:pt x="57" y="334"/>
                    <a:pt x="57" y="328"/>
                    <a:pt x="57" y="322"/>
                  </a:cubicBezTo>
                  <a:close/>
                </a:path>
              </a:pathLst>
            </a:custGeom>
            <a:solidFill>
              <a:srgbClr val="E21E28"/>
            </a:solidFill>
            <a:ln>
              <a:noFill/>
            </a:ln>
          </p:spPr>
          <p:txBody>
            <a:bodyPr vert="horz" wrap="square" lIns="91440" tIns="45720" rIns="91440" bIns="45720" numCol="1" anchor="t" anchorCtr="0" compatLnSpc="1"/>
            <a:lstStyle/>
            <a:p>
              <a:endParaRPr lang="zh-CN" altLang="en-US" b="1">
                <a:solidFill>
                  <a:schemeClr val="accent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34" name="组合 33"/>
            <p:cNvGrpSpPr/>
            <p:nvPr/>
          </p:nvGrpSpPr>
          <p:grpSpPr>
            <a:xfrm>
              <a:off x="3282726" y="1580310"/>
              <a:ext cx="5676174" cy="4000730"/>
              <a:chOff x="3282726" y="1580310"/>
              <a:chExt cx="5676174" cy="4000730"/>
            </a:xfrm>
          </p:grpSpPr>
          <p:sp>
            <p:nvSpPr>
              <p:cNvPr id="18" name="Freeform 5"/>
              <p:cNvSpPr>
                <a:spLocks noEditPoints="1"/>
              </p:cNvSpPr>
              <p:nvPr/>
            </p:nvSpPr>
            <p:spPr bwMode="auto">
              <a:xfrm>
                <a:off x="3282726" y="2046492"/>
                <a:ext cx="2779576" cy="2765014"/>
              </a:xfrm>
              <a:custGeom>
                <a:avLst/>
                <a:gdLst>
                  <a:gd name="T0" fmla="*/ 2474 w 4948"/>
                  <a:gd name="T1" fmla="*/ 4348 h 4921"/>
                  <a:gd name="T2" fmla="*/ 2474 w 4948"/>
                  <a:gd name="T3" fmla="*/ 573 h 4921"/>
                  <a:gd name="T4" fmla="*/ 2675 w 4948"/>
                  <a:gd name="T5" fmla="*/ 0 h 4921"/>
                  <a:gd name="T6" fmla="*/ 2178 w 4948"/>
                  <a:gd name="T7" fmla="*/ 391 h 4921"/>
                  <a:gd name="T8" fmla="*/ 1696 w 4948"/>
                  <a:gd name="T9" fmla="*/ 116 h 4921"/>
                  <a:gd name="T10" fmla="*/ 1393 w 4948"/>
                  <a:gd name="T11" fmla="*/ 677 h 4921"/>
                  <a:gd name="T12" fmla="*/ 867 w 4948"/>
                  <a:gd name="T13" fmla="*/ 579 h 4921"/>
                  <a:gd name="T14" fmla="*/ 801 w 4948"/>
                  <a:gd name="T15" fmla="*/ 1218 h 4921"/>
                  <a:gd name="T16" fmla="*/ 245 w 4948"/>
                  <a:gd name="T17" fmla="*/ 1374 h 4921"/>
                  <a:gd name="T18" fmla="*/ 444 w 4948"/>
                  <a:gd name="T19" fmla="*/ 1988 h 4921"/>
                  <a:gd name="T20" fmla="*/ 0 w 4948"/>
                  <a:gd name="T21" fmla="*/ 2260 h 4921"/>
                  <a:gd name="T22" fmla="*/ 412 w 4948"/>
                  <a:gd name="T23" fmla="*/ 2760 h 4921"/>
                  <a:gd name="T24" fmla="*/ 109 w 4948"/>
                  <a:gd name="T25" fmla="*/ 3210 h 4921"/>
                  <a:gd name="T26" fmla="*/ 678 w 4948"/>
                  <a:gd name="T27" fmla="*/ 3517 h 4921"/>
                  <a:gd name="T28" fmla="*/ 582 w 4948"/>
                  <a:gd name="T29" fmla="*/ 4059 h 4921"/>
                  <a:gd name="T30" fmla="*/ 1221 w 4948"/>
                  <a:gd name="T31" fmla="*/ 4127 h 4921"/>
                  <a:gd name="T32" fmla="*/ 1322 w 4948"/>
                  <a:gd name="T33" fmla="*/ 4647 h 4921"/>
                  <a:gd name="T34" fmla="*/ 1934 w 4948"/>
                  <a:gd name="T35" fmla="*/ 4479 h 4921"/>
                  <a:gd name="T36" fmla="*/ 2273 w 4948"/>
                  <a:gd name="T37" fmla="*/ 4921 h 4921"/>
                  <a:gd name="T38" fmla="*/ 2768 w 4948"/>
                  <a:gd name="T39" fmla="*/ 4536 h 4921"/>
                  <a:gd name="T40" fmla="*/ 3252 w 4948"/>
                  <a:gd name="T41" fmla="*/ 4805 h 4921"/>
                  <a:gd name="T42" fmla="*/ 3558 w 4948"/>
                  <a:gd name="T43" fmla="*/ 4267 h 4921"/>
                  <a:gd name="T44" fmla="*/ 4081 w 4948"/>
                  <a:gd name="T45" fmla="*/ 4342 h 4921"/>
                  <a:gd name="T46" fmla="*/ 4165 w 4948"/>
                  <a:gd name="T47" fmla="*/ 3735 h 4921"/>
                  <a:gd name="T48" fmla="*/ 4703 w 4948"/>
                  <a:gd name="T49" fmla="*/ 3547 h 4921"/>
                  <a:gd name="T50" fmla="*/ 4540 w 4948"/>
                  <a:gd name="T51" fmla="*/ 2959 h 4921"/>
                  <a:gd name="T52" fmla="*/ 4948 w 4948"/>
                  <a:gd name="T53" fmla="*/ 2661 h 4921"/>
                  <a:gd name="T54" fmla="*/ 4580 w 4948"/>
                  <a:gd name="T55" fmla="*/ 2173 h 4921"/>
                  <a:gd name="T56" fmla="*/ 4839 w 4948"/>
                  <a:gd name="T57" fmla="*/ 1711 h 4921"/>
                  <a:gd name="T58" fmla="*/ 4310 w 4948"/>
                  <a:gd name="T59" fmla="*/ 1399 h 4921"/>
                  <a:gd name="T60" fmla="*/ 4366 w 4948"/>
                  <a:gd name="T61" fmla="*/ 862 h 4921"/>
                  <a:gd name="T62" fmla="*/ 3752 w 4948"/>
                  <a:gd name="T63" fmla="*/ 781 h 4921"/>
                  <a:gd name="T64" fmla="*/ 3626 w 4948"/>
                  <a:gd name="T65" fmla="*/ 274 h 4921"/>
                  <a:gd name="T66" fmla="*/ 3022 w 4948"/>
                  <a:gd name="T67" fmla="*/ 433 h 4921"/>
                  <a:gd name="T68" fmla="*/ 2675 w 4948"/>
                  <a:gd name="T69" fmla="*/ 0 h 4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48" h="4921">
                    <a:moveTo>
                      <a:pt x="4362" y="2461"/>
                    </a:moveTo>
                    <a:cubicBezTo>
                      <a:pt x="4362" y="3503"/>
                      <a:pt x="3517" y="4348"/>
                      <a:pt x="2474" y="4348"/>
                    </a:cubicBezTo>
                    <a:cubicBezTo>
                      <a:pt x="1431" y="4348"/>
                      <a:pt x="586" y="3503"/>
                      <a:pt x="586" y="2461"/>
                    </a:cubicBezTo>
                    <a:cubicBezTo>
                      <a:pt x="586" y="1418"/>
                      <a:pt x="1431" y="573"/>
                      <a:pt x="2474" y="573"/>
                    </a:cubicBezTo>
                    <a:cubicBezTo>
                      <a:pt x="3517" y="573"/>
                      <a:pt x="4362" y="1418"/>
                      <a:pt x="4362" y="2461"/>
                    </a:cubicBezTo>
                    <a:close/>
                    <a:moveTo>
                      <a:pt x="2675" y="0"/>
                    </a:moveTo>
                    <a:lnTo>
                      <a:pt x="2282" y="0"/>
                    </a:lnTo>
                    <a:lnTo>
                      <a:pt x="2178" y="391"/>
                    </a:lnTo>
                    <a:cubicBezTo>
                      <a:pt x="2097" y="403"/>
                      <a:pt x="2017" y="420"/>
                      <a:pt x="1939" y="441"/>
                    </a:cubicBezTo>
                    <a:lnTo>
                      <a:pt x="1696" y="116"/>
                    </a:lnTo>
                    <a:lnTo>
                      <a:pt x="1334" y="269"/>
                    </a:lnTo>
                    <a:lnTo>
                      <a:pt x="1393" y="677"/>
                    </a:lnTo>
                    <a:cubicBezTo>
                      <a:pt x="1334" y="713"/>
                      <a:pt x="1276" y="752"/>
                      <a:pt x="1221" y="794"/>
                    </a:cubicBezTo>
                    <a:lnTo>
                      <a:pt x="867" y="579"/>
                    </a:lnTo>
                    <a:lnTo>
                      <a:pt x="588" y="856"/>
                    </a:lnTo>
                    <a:lnTo>
                      <a:pt x="801" y="1218"/>
                    </a:lnTo>
                    <a:cubicBezTo>
                      <a:pt x="751" y="1286"/>
                      <a:pt x="704" y="1357"/>
                      <a:pt x="662" y="1431"/>
                    </a:cubicBezTo>
                    <a:lnTo>
                      <a:pt x="245" y="1374"/>
                    </a:lnTo>
                    <a:lnTo>
                      <a:pt x="101" y="1738"/>
                    </a:lnTo>
                    <a:lnTo>
                      <a:pt x="444" y="1988"/>
                    </a:lnTo>
                    <a:cubicBezTo>
                      <a:pt x="431" y="2045"/>
                      <a:pt x="420" y="2103"/>
                      <a:pt x="412" y="2161"/>
                    </a:cubicBezTo>
                    <a:lnTo>
                      <a:pt x="0" y="2260"/>
                    </a:lnTo>
                    <a:lnTo>
                      <a:pt x="0" y="2652"/>
                    </a:lnTo>
                    <a:lnTo>
                      <a:pt x="412" y="2760"/>
                    </a:lnTo>
                    <a:cubicBezTo>
                      <a:pt x="421" y="2829"/>
                      <a:pt x="435" y="2897"/>
                      <a:pt x="451" y="2963"/>
                    </a:cubicBezTo>
                    <a:lnTo>
                      <a:pt x="109" y="3210"/>
                    </a:lnTo>
                    <a:lnTo>
                      <a:pt x="259" y="3572"/>
                    </a:lnTo>
                    <a:lnTo>
                      <a:pt x="678" y="3517"/>
                    </a:lnTo>
                    <a:cubicBezTo>
                      <a:pt x="715" y="3581"/>
                      <a:pt x="756" y="3643"/>
                      <a:pt x="801" y="3703"/>
                    </a:cubicBezTo>
                    <a:lnTo>
                      <a:pt x="582" y="4059"/>
                    </a:lnTo>
                    <a:lnTo>
                      <a:pt x="861" y="4336"/>
                    </a:lnTo>
                    <a:lnTo>
                      <a:pt x="1221" y="4127"/>
                    </a:lnTo>
                    <a:cubicBezTo>
                      <a:pt x="1275" y="4168"/>
                      <a:pt x="1331" y="4206"/>
                      <a:pt x="1389" y="4242"/>
                    </a:cubicBezTo>
                    <a:lnTo>
                      <a:pt x="1322" y="4647"/>
                    </a:lnTo>
                    <a:lnTo>
                      <a:pt x="1684" y="4800"/>
                    </a:lnTo>
                    <a:lnTo>
                      <a:pt x="1934" y="4479"/>
                    </a:lnTo>
                    <a:cubicBezTo>
                      <a:pt x="2014" y="4500"/>
                      <a:pt x="2095" y="4518"/>
                      <a:pt x="2178" y="4531"/>
                    </a:cubicBezTo>
                    <a:lnTo>
                      <a:pt x="2273" y="4921"/>
                    </a:lnTo>
                    <a:lnTo>
                      <a:pt x="2667" y="4921"/>
                    </a:lnTo>
                    <a:lnTo>
                      <a:pt x="2768" y="4536"/>
                    </a:lnTo>
                    <a:cubicBezTo>
                      <a:pt x="2853" y="4525"/>
                      <a:pt x="2936" y="4510"/>
                      <a:pt x="3017" y="4489"/>
                    </a:cubicBezTo>
                    <a:lnTo>
                      <a:pt x="3252" y="4805"/>
                    </a:lnTo>
                    <a:lnTo>
                      <a:pt x="3614" y="4653"/>
                    </a:lnTo>
                    <a:lnTo>
                      <a:pt x="3558" y="4267"/>
                    </a:lnTo>
                    <a:cubicBezTo>
                      <a:pt x="3625" y="4229"/>
                      <a:pt x="3689" y="4187"/>
                      <a:pt x="3750" y="4141"/>
                    </a:cubicBezTo>
                    <a:lnTo>
                      <a:pt x="4081" y="4342"/>
                    </a:lnTo>
                    <a:lnTo>
                      <a:pt x="4360" y="4065"/>
                    </a:lnTo>
                    <a:lnTo>
                      <a:pt x="4165" y="3735"/>
                    </a:lnTo>
                    <a:cubicBezTo>
                      <a:pt x="4224" y="3659"/>
                      <a:pt x="4277" y="3579"/>
                      <a:pt x="4325" y="3495"/>
                    </a:cubicBezTo>
                    <a:lnTo>
                      <a:pt x="4703" y="3547"/>
                    </a:lnTo>
                    <a:lnTo>
                      <a:pt x="4847" y="3183"/>
                    </a:lnTo>
                    <a:lnTo>
                      <a:pt x="4540" y="2959"/>
                    </a:lnTo>
                    <a:cubicBezTo>
                      <a:pt x="4557" y="2891"/>
                      <a:pt x="4570" y="2821"/>
                      <a:pt x="4580" y="2749"/>
                    </a:cubicBezTo>
                    <a:lnTo>
                      <a:pt x="4948" y="2661"/>
                    </a:lnTo>
                    <a:lnTo>
                      <a:pt x="4948" y="2269"/>
                    </a:lnTo>
                    <a:lnTo>
                      <a:pt x="4580" y="2173"/>
                    </a:lnTo>
                    <a:cubicBezTo>
                      <a:pt x="4569" y="2091"/>
                      <a:pt x="4553" y="2011"/>
                      <a:pt x="4533" y="1932"/>
                    </a:cubicBezTo>
                    <a:lnTo>
                      <a:pt x="4839" y="1711"/>
                    </a:lnTo>
                    <a:lnTo>
                      <a:pt x="4690" y="1349"/>
                    </a:lnTo>
                    <a:lnTo>
                      <a:pt x="4310" y="1399"/>
                    </a:lnTo>
                    <a:cubicBezTo>
                      <a:pt x="4266" y="1326"/>
                      <a:pt x="4218" y="1255"/>
                      <a:pt x="4166" y="1188"/>
                    </a:cubicBezTo>
                    <a:lnTo>
                      <a:pt x="4366" y="862"/>
                    </a:lnTo>
                    <a:lnTo>
                      <a:pt x="4087" y="585"/>
                    </a:lnTo>
                    <a:lnTo>
                      <a:pt x="3752" y="781"/>
                    </a:lnTo>
                    <a:cubicBezTo>
                      <a:pt x="3691" y="736"/>
                      <a:pt x="3628" y="695"/>
                      <a:pt x="3563" y="656"/>
                    </a:cubicBezTo>
                    <a:lnTo>
                      <a:pt x="3626" y="274"/>
                    </a:lnTo>
                    <a:lnTo>
                      <a:pt x="3264" y="121"/>
                    </a:lnTo>
                    <a:lnTo>
                      <a:pt x="3022" y="433"/>
                    </a:lnTo>
                    <a:cubicBezTo>
                      <a:pt x="2939" y="412"/>
                      <a:pt x="2855" y="396"/>
                      <a:pt x="2769" y="385"/>
                    </a:cubicBezTo>
                    <a:lnTo>
                      <a:pt x="2675" y="0"/>
                    </a:lnTo>
                    <a:close/>
                  </a:path>
                </a:pathLst>
              </a:custGeom>
              <a:solidFill>
                <a:srgbClr val="40474D"/>
              </a:solidFill>
              <a:ln w="28575" cap="flat">
                <a:solidFill>
                  <a:srgbClr val="FFFFFF"/>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20000"/>
                  </a:spcBef>
                  <a:spcAft>
                    <a:spcPct val="0"/>
                  </a:spcAft>
                  <a:buClrTx/>
                  <a:buSzTx/>
                  <a:buFont typeface="Arial" panose="020B0604020202090204" pitchFamily="34" charset="0"/>
                  <a:buChar char="•"/>
                  <a:defRPr/>
                </a:pPr>
                <a:endParaRPr kumimoji="0" lang="zh-CN" altLang="en-US" sz="2000" b="1" i="0" u="none" strike="noStrike" kern="0" cap="none" spc="0" normalizeH="0" baseline="0" noProof="0">
                  <a:ln>
                    <a:noFill/>
                  </a:ln>
                  <a:solidFill>
                    <a:srgbClr val="F4F4F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9" name="Freeform 6"/>
              <p:cNvSpPr>
                <a:spLocks noEditPoints="1"/>
              </p:cNvSpPr>
              <p:nvPr/>
            </p:nvSpPr>
            <p:spPr bwMode="auto">
              <a:xfrm>
                <a:off x="6179326" y="2039876"/>
                <a:ext cx="2779574" cy="2778248"/>
              </a:xfrm>
              <a:custGeom>
                <a:avLst/>
                <a:gdLst>
                  <a:gd name="T0" fmla="*/ 1417 w 4950"/>
                  <a:gd name="T1" fmla="*/ 4048 h 4943"/>
                  <a:gd name="T2" fmla="*/ 3532 w 4950"/>
                  <a:gd name="T3" fmla="*/ 895 h 4943"/>
                  <a:gd name="T4" fmla="*/ 4021 w 4950"/>
                  <a:gd name="T5" fmla="*/ 530 h 4943"/>
                  <a:gd name="T6" fmla="*/ 3388 w 4950"/>
                  <a:gd name="T7" fmla="*/ 577 h 4943"/>
                  <a:gd name="T8" fmla="*/ 3139 w 4950"/>
                  <a:gd name="T9" fmla="*/ 78 h 4943"/>
                  <a:gd name="T10" fmla="*/ 2571 w 4950"/>
                  <a:gd name="T11" fmla="*/ 376 h 4943"/>
                  <a:gd name="T12" fmla="*/ 2187 w 4950"/>
                  <a:gd name="T13" fmla="*/ 0 h 4943"/>
                  <a:gd name="T14" fmla="*/ 1774 w 4950"/>
                  <a:gd name="T15" fmla="*/ 496 h 4943"/>
                  <a:gd name="T16" fmla="*/ 1222 w 4950"/>
                  <a:gd name="T17" fmla="*/ 315 h 4943"/>
                  <a:gd name="T18" fmla="*/ 1045 w 4950"/>
                  <a:gd name="T19" fmla="*/ 940 h 4943"/>
                  <a:gd name="T20" fmla="*/ 521 w 4950"/>
                  <a:gd name="T21" fmla="*/ 918 h 4943"/>
                  <a:gd name="T22" fmla="*/ 585 w 4950"/>
                  <a:gd name="T23" fmla="*/ 1566 h 4943"/>
                  <a:gd name="T24" fmla="*/ 80 w 4950"/>
                  <a:gd name="T25" fmla="*/ 1772 h 4943"/>
                  <a:gd name="T26" fmla="*/ 383 w 4950"/>
                  <a:gd name="T27" fmla="*/ 2347 h 4943"/>
                  <a:gd name="T28" fmla="*/ 0 w 4950"/>
                  <a:gd name="T29" fmla="*/ 2746 h 4943"/>
                  <a:gd name="T30" fmla="*/ 494 w 4950"/>
                  <a:gd name="T31" fmla="*/ 3161 h 4943"/>
                  <a:gd name="T32" fmla="*/ 287 w 4950"/>
                  <a:gd name="T33" fmla="*/ 3652 h 4943"/>
                  <a:gd name="T34" fmla="*/ 893 w 4950"/>
                  <a:gd name="T35" fmla="*/ 3854 h 4943"/>
                  <a:gd name="T36" fmla="*/ 928 w 4950"/>
                  <a:gd name="T37" fmla="*/ 4413 h 4943"/>
                  <a:gd name="T38" fmla="*/ 1557 w 4950"/>
                  <a:gd name="T39" fmla="*/ 4369 h 4943"/>
                  <a:gd name="T40" fmla="*/ 1810 w 4950"/>
                  <a:gd name="T41" fmla="*/ 4865 h 4943"/>
                  <a:gd name="T42" fmla="*/ 2368 w 4950"/>
                  <a:gd name="T43" fmla="*/ 4588 h 4943"/>
                  <a:gd name="T44" fmla="*/ 2762 w 4950"/>
                  <a:gd name="T45" fmla="*/ 4943 h 4943"/>
                  <a:gd name="T46" fmla="*/ 3173 w 4950"/>
                  <a:gd name="T47" fmla="*/ 4483 h 4943"/>
                  <a:gd name="T48" fmla="*/ 3727 w 4950"/>
                  <a:gd name="T49" fmla="*/ 4628 h 4943"/>
                  <a:gd name="T50" fmla="*/ 3920 w 4950"/>
                  <a:gd name="T51" fmla="*/ 4046 h 4943"/>
                  <a:gd name="T52" fmla="*/ 4428 w 4950"/>
                  <a:gd name="T53" fmla="*/ 4025 h 4943"/>
                  <a:gd name="T54" fmla="*/ 4394 w 4950"/>
                  <a:gd name="T55" fmla="*/ 3412 h 4943"/>
                  <a:gd name="T56" fmla="*/ 4869 w 4950"/>
                  <a:gd name="T57" fmla="*/ 3171 h 4943"/>
                  <a:gd name="T58" fmla="*/ 4602 w 4950"/>
                  <a:gd name="T59" fmla="*/ 2614 h 4943"/>
                  <a:gd name="T60" fmla="*/ 4950 w 4950"/>
                  <a:gd name="T61" fmla="*/ 2197 h 4943"/>
                  <a:gd name="T62" fmla="*/ 4483 w 4950"/>
                  <a:gd name="T63" fmla="*/ 1784 h 4943"/>
                  <a:gd name="T64" fmla="*/ 4662 w 4950"/>
                  <a:gd name="T65" fmla="*/ 1291 h 4943"/>
                  <a:gd name="T66" fmla="*/ 4068 w 4950"/>
                  <a:gd name="T67" fmla="*/ 1085 h 4943"/>
                  <a:gd name="T68" fmla="*/ 4021 w 4950"/>
                  <a:gd name="T69" fmla="*/ 530 h 4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50" h="4943">
                    <a:moveTo>
                      <a:pt x="4051" y="3529"/>
                    </a:moveTo>
                    <a:cubicBezTo>
                      <a:pt x="3467" y="4400"/>
                      <a:pt x="2287" y="4632"/>
                      <a:pt x="1417" y="4048"/>
                    </a:cubicBezTo>
                    <a:cubicBezTo>
                      <a:pt x="546" y="3464"/>
                      <a:pt x="314" y="2284"/>
                      <a:pt x="898" y="1414"/>
                    </a:cubicBezTo>
                    <a:cubicBezTo>
                      <a:pt x="1482" y="543"/>
                      <a:pt x="2662" y="311"/>
                      <a:pt x="3532" y="895"/>
                    </a:cubicBezTo>
                    <a:cubicBezTo>
                      <a:pt x="4403" y="1479"/>
                      <a:pt x="4635" y="2659"/>
                      <a:pt x="4051" y="3529"/>
                    </a:cubicBezTo>
                    <a:close/>
                    <a:moveTo>
                      <a:pt x="4021" y="530"/>
                    </a:moveTo>
                    <a:lnTo>
                      <a:pt x="3693" y="309"/>
                    </a:lnTo>
                    <a:lnTo>
                      <a:pt x="3388" y="577"/>
                    </a:lnTo>
                    <a:cubicBezTo>
                      <a:pt x="3313" y="542"/>
                      <a:pt x="3236" y="511"/>
                      <a:pt x="3159" y="486"/>
                    </a:cubicBezTo>
                    <a:lnTo>
                      <a:pt x="3139" y="78"/>
                    </a:lnTo>
                    <a:lnTo>
                      <a:pt x="2751" y="2"/>
                    </a:lnTo>
                    <a:lnTo>
                      <a:pt x="2571" y="376"/>
                    </a:lnTo>
                    <a:cubicBezTo>
                      <a:pt x="2502" y="373"/>
                      <a:pt x="2432" y="374"/>
                      <a:pt x="2362" y="378"/>
                    </a:cubicBezTo>
                    <a:lnTo>
                      <a:pt x="2187" y="0"/>
                    </a:lnTo>
                    <a:lnTo>
                      <a:pt x="1799" y="75"/>
                    </a:lnTo>
                    <a:lnTo>
                      <a:pt x="1774" y="496"/>
                    </a:lnTo>
                    <a:cubicBezTo>
                      <a:pt x="1694" y="525"/>
                      <a:pt x="1615" y="558"/>
                      <a:pt x="1539" y="597"/>
                    </a:cubicBezTo>
                    <a:lnTo>
                      <a:pt x="1222" y="315"/>
                    </a:lnTo>
                    <a:lnTo>
                      <a:pt x="898" y="539"/>
                    </a:lnTo>
                    <a:lnTo>
                      <a:pt x="1045" y="940"/>
                    </a:lnTo>
                    <a:cubicBezTo>
                      <a:pt x="1002" y="980"/>
                      <a:pt x="960" y="1022"/>
                      <a:pt x="920" y="1066"/>
                    </a:cubicBezTo>
                    <a:lnTo>
                      <a:pt x="521" y="918"/>
                    </a:lnTo>
                    <a:lnTo>
                      <a:pt x="302" y="1245"/>
                    </a:lnTo>
                    <a:lnTo>
                      <a:pt x="585" y="1566"/>
                    </a:lnTo>
                    <a:cubicBezTo>
                      <a:pt x="555" y="1629"/>
                      <a:pt x="528" y="1693"/>
                      <a:pt x="504" y="1758"/>
                    </a:cubicBezTo>
                    <a:lnTo>
                      <a:pt x="80" y="1772"/>
                    </a:lnTo>
                    <a:lnTo>
                      <a:pt x="2" y="2158"/>
                    </a:lnTo>
                    <a:lnTo>
                      <a:pt x="383" y="2347"/>
                    </a:lnTo>
                    <a:cubicBezTo>
                      <a:pt x="378" y="2422"/>
                      <a:pt x="378" y="2496"/>
                      <a:pt x="381" y="2571"/>
                    </a:cubicBezTo>
                    <a:lnTo>
                      <a:pt x="0" y="2746"/>
                    </a:lnTo>
                    <a:lnTo>
                      <a:pt x="77" y="3133"/>
                    </a:lnTo>
                    <a:lnTo>
                      <a:pt x="494" y="3161"/>
                    </a:lnTo>
                    <a:cubicBezTo>
                      <a:pt x="517" y="3225"/>
                      <a:pt x="542" y="3289"/>
                      <a:pt x="570" y="3351"/>
                    </a:cubicBezTo>
                    <a:lnTo>
                      <a:pt x="287" y="3652"/>
                    </a:lnTo>
                    <a:lnTo>
                      <a:pt x="504" y="3982"/>
                    </a:lnTo>
                    <a:lnTo>
                      <a:pt x="893" y="3854"/>
                    </a:lnTo>
                    <a:cubicBezTo>
                      <a:pt x="947" y="3917"/>
                      <a:pt x="1005" y="3977"/>
                      <a:pt x="1067" y="4034"/>
                    </a:cubicBezTo>
                    <a:lnTo>
                      <a:pt x="928" y="4413"/>
                    </a:lnTo>
                    <a:lnTo>
                      <a:pt x="1257" y="4634"/>
                    </a:lnTo>
                    <a:lnTo>
                      <a:pt x="1557" y="4369"/>
                    </a:lnTo>
                    <a:cubicBezTo>
                      <a:pt x="1634" y="4408"/>
                      <a:pt x="1712" y="4441"/>
                      <a:pt x="1791" y="4470"/>
                    </a:cubicBezTo>
                    <a:lnTo>
                      <a:pt x="1810" y="4865"/>
                    </a:lnTo>
                    <a:lnTo>
                      <a:pt x="2199" y="4941"/>
                    </a:lnTo>
                    <a:lnTo>
                      <a:pt x="2368" y="4588"/>
                    </a:lnTo>
                    <a:cubicBezTo>
                      <a:pt x="2445" y="4593"/>
                      <a:pt x="2522" y="4594"/>
                      <a:pt x="2599" y="4590"/>
                    </a:cubicBezTo>
                    <a:lnTo>
                      <a:pt x="2762" y="4943"/>
                    </a:lnTo>
                    <a:lnTo>
                      <a:pt x="3150" y="4868"/>
                    </a:lnTo>
                    <a:lnTo>
                      <a:pt x="3173" y="4483"/>
                    </a:lnTo>
                    <a:cubicBezTo>
                      <a:pt x="3264" y="4452"/>
                      <a:pt x="3354" y="4416"/>
                      <a:pt x="3440" y="4373"/>
                    </a:cubicBezTo>
                    <a:lnTo>
                      <a:pt x="3727" y="4628"/>
                    </a:lnTo>
                    <a:lnTo>
                      <a:pt x="4051" y="4404"/>
                    </a:lnTo>
                    <a:lnTo>
                      <a:pt x="3920" y="4046"/>
                    </a:lnTo>
                    <a:cubicBezTo>
                      <a:pt x="3973" y="3998"/>
                      <a:pt x="4023" y="3947"/>
                      <a:pt x="4071" y="3893"/>
                    </a:cubicBezTo>
                    <a:lnTo>
                      <a:pt x="4428" y="4025"/>
                    </a:lnTo>
                    <a:lnTo>
                      <a:pt x="4648" y="3698"/>
                    </a:lnTo>
                    <a:lnTo>
                      <a:pt x="4394" y="3412"/>
                    </a:lnTo>
                    <a:cubicBezTo>
                      <a:pt x="4431" y="3337"/>
                      <a:pt x="4463" y="3261"/>
                      <a:pt x="4489" y="3183"/>
                    </a:cubicBezTo>
                    <a:lnTo>
                      <a:pt x="4869" y="3171"/>
                    </a:lnTo>
                    <a:lnTo>
                      <a:pt x="4947" y="2785"/>
                    </a:lnTo>
                    <a:lnTo>
                      <a:pt x="4602" y="2614"/>
                    </a:lnTo>
                    <a:cubicBezTo>
                      <a:pt x="4607" y="2528"/>
                      <a:pt x="4606" y="2442"/>
                      <a:pt x="4601" y="2357"/>
                    </a:cubicBezTo>
                    <a:lnTo>
                      <a:pt x="4950" y="2197"/>
                    </a:lnTo>
                    <a:lnTo>
                      <a:pt x="4872" y="1810"/>
                    </a:lnTo>
                    <a:lnTo>
                      <a:pt x="4483" y="1784"/>
                    </a:lnTo>
                    <a:cubicBezTo>
                      <a:pt x="4457" y="1713"/>
                      <a:pt x="4427" y="1643"/>
                      <a:pt x="4395" y="1575"/>
                    </a:cubicBezTo>
                    <a:lnTo>
                      <a:pt x="4662" y="1291"/>
                    </a:lnTo>
                    <a:lnTo>
                      <a:pt x="4445" y="960"/>
                    </a:lnTo>
                    <a:lnTo>
                      <a:pt x="4068" y="1085"/>
                    </a:lnTo>
                    <a:cubicBezTo>
                      <a:pt x="4011" y="1022"/>
                      <a:pt x="3949" y="961"/>
                      <a:pt x="3884" y="904"/>
                    </a:cubicBezTo>
                    <a:lnTo>
                      <a:pt x="4021" y="530"/>
                    </a:lnTo>
                    <a:close/>
                  </a:path>
                </a:pathLst>
              </a:custGeom>
              <a:solidFill>
                <a:srgbClr val="E11F28"/>
              </a:solidFill>
              <a:ln w="28575" cap="flat">
                <a:solidFill>
                  <a:srgbClr val="FFFFFF"/>
                </a:solidFill>
                <a:prstDash val="solid"/>
                <a:miter lim="800000"/>
              </a:ln>
              <a:effectLst>
                <a:outerShdw blurRad="63500" sx="102000" sy="102000" algn="ctr" rotWithShape="0">
                  <a:prstClr val="black">
                    <a:alpha val="40000"/>
                  </a:prstClr>
                </a:outerShdw>
              </a:effectLst>
            </p:spPr>
            <p:txBody>
              <a:bodyPr vert="horz" wrap="square" lIns="91440" tIns="45720" rIns="91440" bIns="45720" numCol="1" anchor="t" anchorCtr="0" compatLnSpc="1"/>
              <a:lstStyle/>
              <a:p>
                <a:pPr marL="0" marR="0" lvl="0" indent="0" defTabSz="914400" eaLnBrk="1" fontAlgn="base" latinLnBrk="0" hangingPunct="1">
                  <a:lnSpc>
                    <a:spcPct val="100000"/>
                  </a:lnSpc>
                  <a:spcBef>
                    <a:spcPct val="20000"/>
                  </a:spcBef>
                  <a:spcAft>
                    <a:spcPct val="0"/>
                  </a:spcAft>
                  <a:buClrTx/>
                  <a:buSzTx/>
                  <a:buFont typeface="Arial" panose="020B0604020202090204" pitchFamily="34" charset="0"/>
                  <a:buChar char="•"/>
                  <a:defRPr/>
                </a:pPr>
                <a:endParaRPr kumimoji="0" lang="zh-CN" altLang="en-US" sz="2000" b="1" i="0" u="none" strike="noStrike" kern="0" cap="none" spc="0" normalizeH="0" baseline="0" noProof="0">
                  <a:ln>
                    <a:noFill/>
                  </a:ln>
                  <a:solidFill>
                    <a:srgbClr val="F4F4F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0" name="Freeform 7"/>
              <p:cNvSpPr>
                <a:spLocks noEditPoints="1"/>
              </p:cNvSpPr>
              <p:nvPr/>
            </p:nvSpPr>
            <p:spPr bwMode="auto">
              <a:xfrm>
                <a:off x="5591452" y="1580310"/>
                <a:ext cx="1058725" cy="1058725"/>
              </a:xfrm>
              <a:custGeom>
                <a:avLst/>
                <a:gdLst>
                  <a:gd name="T0" fmla="*/ 922 w 1572"/>
                  <a:gd name="T1" fmla="*/ 186 h 1571"/>
                  <a:gd name="T2" fmla="*/ 637 w 1572"/>
                  <a:gd name="T3" fmla="*/ 1382 h 1571"/>
                  <a:gd name="T4" fmla="*/ 541 w 1572"/>
                  <a:gd name="T5" fmla="*/ 1535 h 1571"/>
                  <a:gd name="T6" fmla="*/ 724 w 1572"/>
                  <a:gd name="T7" fmla="*/ 1451 h 1571"/>
                  <a:gd name="T8" fmla="*/ 852 w 1572"/>
                  <a:gd name="T9" fmla="*/ 1571 h 1571"/>
                  <a:gd name="T10" fmla="*/ 988 w 1572"/>
                  <a:gd name="T11" fmla="*/ 1420 h 1571"/>
                  <a:gd name="T12" fmla="*/ 1143 w 1572"/>
                  <a:gd name="T13" fmla="*/ 1489 h 1571"/>
                  <a:gd name="T14" fmla="*/ 1211 w 1572"/>
                  <a:gd name="T15" fmla="*/ 1295 h 1571"/>
                  <a:gd name="T16" fmla="*/ 1394 w 1572"/>
                  <a:gd name="T17" fmla="*/ 1288 h 1571"/>
                  <a:gd name="T18" fmla="*/ 1378 w 1572"/>
                  <a:gd name="T19" fmla="*/ 1082 h 1571"/>
                  <a:gd name="T20" fmla="*/ 1536 w 1572"/>
                  <a:gd name="T21" fmla="*/ 1031 h 1571"/>
                  <a:gd name="T22" fmla="*/ 1445 w 1572"/>
                  <a:gd name="T23" fmla="*/ 845 h 1571"/>
                  <a:gd name="T24" fmla="*/ 1572 w 1572"/>
                  <a:gd name="T25" fmla="*/ 727 h 1571"/>
                  <a:gd name="T26" fmla="*/ 1419 w 1572"/>
                  <a:gd name="T27" fmla="*/ 590 h 1571"/>
                  <a:gd name="T28" fmla="*/ 1489 w 1572"/>
                  <a:gd name="T29" fmla="*/ 429 h 1571"/>
                  <a:gd name="T30" fmla="*/ 1297 w 1572"/>
                  <a:gd name="T31" fmla="*/ 361 h 1571"/>
                  <a:gd name="T32" fmla="*/ 1304 w 1572"/>
                  <a:gd name="T33" fmla="*/ 191 h 1571"/>
                  <a:gd name="T34" fmla="*/ 1103 w 1572"/>
                  <a:gd name="T35" fmla="*/ 199 h 1571"/>
                  <a:gd name="T36" fmla="*/ 1031 w 1572"/>
                  <a:gd name="T37" fmla="*/ 36 h 1571"/>
                  <a:gd name="T38" fmla="*/ 849 w 1572"/>
                  <a:gd name="T39" fmla="*/ 119 h 1571"/>
                  <a:gd name="T40" fmla="*/ 720 w 1572"/>
                  <a:gd name="T41" fmla="*/ 0 h 1571"/>
                  <a:gd name="T42" fmla="*/ 585 w 1572"/>
                  <a:gd name="T43" fmla="*/ 144 h 1571"/>
                  <a:gd name="T44" fmla="*/ 429 w 1572"/>
                  <a:gd name="T45" fmla="*/ 83 h 1571"/>
                  <a:gd name="T46" fmla="*/ 358 w 1572"/>
                  <a:gd name="T47" fmla="*/ 265 h 1571"/>
                  <a:gd name="T48" fmla="*/ 178 w 1572"/>
                  <a:gd name="T49" fmla="*/ 284 h 1571"/>
                  <a:gd name="T50" fmla="*/ 185 w 1572"/>
                  <a:gd name="T51" fmla="*/ 478 h 1571"/>
                  <a:gd name="T52" fmla="*/ 37 w 1572"/>
                  <a:gd name="T53" fmla="*/ 541 h 1571"/>
                  <a:gd name="T54" fmla="*/ 114 w 1572"/>
                  <a:gd name="T55" fmla="*/ 720 h 1571"/>
                  <a:gd name="T56" fmla="*/ 0 w 1572"/>
                  <a:gd name="T57" fmla="*/ 844 h 1571"/>
                  <a:gd name="T58" fmla="*/ 140 w 1572"/>
                  <a:gd name="T59" fmla="*/ 980 h 1571"/>
                  <a:gd name="T60" fmla="*/ 83 w 1572"/>
                  <a:gd name="T61" fmla="*/ 1143 h 1571"/>
                  <a:gd name="T62" fmla="*/ 267 w 1572"/>
                  <a:gd name="T63" fmla="*/ 1213 h 1571"/>
                  <a:gd name="T64" fmla="*/ 268 w 1572"/>
                  <a:gd name="T65" fmla="*/ 1380 h 1571"/>
                  <a:gd name="T66" fmla="*/ 466 w 1572"/>
                  <a:gd name="T67" fmla="*/ 1375 h 1571"/>
                  <a:gd name="T68" fmla="*/ 541 w 1572"/>
                  <a:gd name="T69" fmla="*/ 1535 h 1571"/>
                  <a:gd name="T70" fmla="*/ 786 w 1572"/>
                  <a:gd name="T71" fmla="*/ 952 h 1571"/>
                  <a:gd name="T72" fmla="*/ 1215 w 1572"/>
                  <a:gd name="T73" fmla="*/ 932 h 1571"/>
                  <a:gd name="T74" fmla="*/ 768 w 1572"/>
                  <a:gd name="T75" fmla="*/ 1296 h 1571"/>
                  <a:gd name="T76" fmla="*/ 560 w 1572"/>
                  <a:gd name="T77" fmla="*/ 1247 h 1571"/>
                  <a:gd name="T78" fmla="*/ 339 w 1572"/>
                  <a:gd name="T79" fmla="*/ 723 h 1571"/>
                  <a:gd name="T80" fmla="*/ 698 w 1572"/>
                  <a:gd name="T81" fmla="*/ 931 h 1571"/>
                  <a:gd name="T82" fmla="*/ 560 w 1572"/>
                  <a:gd name="T83" fmla="*/ 1247 h 1571"/>
                  <a:gd name="T84" fmla="*/ 881 w 1572"/>
                  <a:gd name="T85" fmla="*/ 808 h 1571"/>
                  <a:gd name="T86" fmla="*/ 678 w 1572"/>
                  <a:gd name="T87" fmla="*/ 760 h 1571"/>
                  <a:gd name="T88" fmla="*/ 354 w 1572"/>
                  <a:gd name="T89" fmla="*/ 633 h 1571"/>
                  <a:gd name="T90" fmla="*/ 798 w 1572"/>
                  <a:gd name="T91" fmla="*/ 272 h 1571"/>
                  <a:gd name="T92" fmla="*/ 773 w 1572"/>
                  <a:gd name="T93" fmla="*/ 616 h 1571"/>
                  <a:gd name="T94" fmla="*/ 354 w 1572"/>
                  <a:gd name="T95" fmla="*/ 633 h 1571"/>
                  <a:gd name="T96" fmla="*/ 1292 w 1572"/>
                  <a:gd name="T97" fmla="*/ 804 h 1571"/>
                  <a:gd name="T98" fmla="*/ 947 w 1572"/>
                  <a:gd name="T99" fmla="*/ 775 h 1571"/>
                  <a:gd name="T100" fmla="*/ 929 w 1572"/>
                  <a:gd name="T101" fmla="*/ 353 h 1571"/>
                  <a:gd name="T102" fmla="*/ 1344 w 1572"/>
                  <a:gd name="T103" fmla="*/ 919 h 1571"/>
                  <a:gd name="T104" fmla="*/ 215 w 1572"/>
                  <a:gd name="T105" fmla="*/ 649 h 1571"/>
                  <a:gd name="T106" fmla="*/ 1344 w 1572"/>
                  <a:gd name="T107" fmla="*/ 919 h 15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572" h="1571">
                    <a:moveTo>
                      <a:pt x="181" y="641"/>
                    </a:moveTo>
                    <a:cubicBezTo>
                      <a:pt x="260" y="311"/>
                      <a:pt x="592" y="107"/>
                      <a:pt x="922" y="186"/>
                    </a:cubicBezTo>
                    <a:cubicBezTo>
                      <a:pt x="1253" y="265"/>
                      <a:pt x="1457" y="597"/>
                      <a:pt x="1378" y="927"/>
                    </a:cubicBezTo>
                    <a:cubicBezTo>
                      <a:pt x="1299" y="1257"/>
                      <a:pt x="967" y="1461"/>
                      <a:pt x="637" y="1382"/>
                    </a:cubicBezTo>
                    <a:cubicBezTo>
                      <a:pt x="306" y="1303"/>
                      <a:pt x="102" y="971"/>
                      <a:pt x="181" y="641"/>
                    </a:cubicBezTo>
                    <a:close/>
                    <a:moveTo>
                      <a:pt x="541" y="1535"/>
                    </a:moveTo>
                    <a:lnTo>
                      <a:pt x="663" y="1564"/>
                    </a:lnTo>
                    <a:lnTo>
                      <a:pt x="724" y="1451"/>
                    </a:lnTo>
                    <a:cubicBezTo>
                      <a:pt x="750" y="1453"/>
                      <a:pt x="776" y="1453"/>
                      <a:pt x="802" y="1452"/>
                    </a:cubicBezTo>
                    <a:lnTo>
                      <a:pt x="852" y="1571"/>
                    </a:lnTo>
                    <a:lnTo>
                      <a:pt x="976" y="1551"/>
                    </a:lnTo>
                    <a:lnTo>
                      <a:pt x="988" y="1420"/>
                    </a:lnTo>
                    <a:cubicBezTo>
                      <a:pt x="1009" y="1413"/>
                      <a:pt x="1029" y="1405"/>
                      <a:pt x="1049" y="1396"/>
                    </a:cubicBezTo>
                    <a:lnTo>
                      <a:pt x="1143" y="1489"/>
                    </a:lnTo>
                    <a:lnTo>
                      <a:pt x="1249" y="1423"/>
                    </a:lnTo>
                    <a:lnTo>
                      <a:pt x="1211" y="1295"/>
                    </a:lnTo>
                    <a:cubicBezTo>
                      <a:pt x="1231" y="1278"/>
                      <a:pt x="1251" y="1259"/>
                      <a:pt x="1269" y="1239"/>
                    </a:cubicBezTo>
                    <a:lnTo>
                      <a:pt x="1394" y="1288"/>
                    </a:lnTo>
                    <a:lnTo>
                      <a:pt x="1465" y="1185"/>
                    </a:lnTo>
                    <a:lnTo>
                      <a:pt x="1378" y="1082"/>
                    </a:lnTo>
                    <a:cubicBezTo>
                      <a:pt x="1386" y="1066"/>
                      <a:pt x="1394" y="1048"/>
                      <a:pt x="1401" y="1031"/>
                    </a:cubicBezTo>
                    <a:lnTo>
                      <a:pt x="1536" y="1031"/>
                    </a:lnTo>
                    <a:lnTo>
                      <a:pt x="1565" y="909"/>
                    </a:lnTo>
                    <a:lnTo>
                      <a:pt x="1445" y="845"/>
                    </a:lnTo>
                    <a:cubicBezTo>
                      <a:pt x="1447" y="823"/>
                      <a:pt x="1448" y="801"/>
                      <a:pt x="1448" y="779"/>
                    </a:cubicBezTo>
                    <a:lnTo>
                      <a:pt x="1572" y="727"/>
                    </a:lnTo>
                    <a:lnTo>
                      <a:pt x="1553" y="604"/>
                    </a:lnTo>
                    <a:lnTo>
                      <a:pt x="1419" y="590"/>
                    </a:lnTo>
                    <a:cubicBezTo>
                      <a:pt x="1412" y="567"/>
                      <a:pt x="1405" y="545"/>
                      <a:pt x="1395" y="523"/>
                    </a:cubicBezTo>
                    <a:lnTo>
                      <a:pt x="1489" y="429"/>
                    </a:lnTo>
                    <a:lnTo>
                      <a:pt x="1424" y="322"/>
                    </a:lnTo>
                    <a:lnTo>
                      <a:pt x="1297" y="361"/>
                    </a:lnTo>
                    <a:cubicBezTo>
                      <a:pt x="1283" y="344"/>
                      <a:pt x="1269" y="328"/>
                      <a:pt x="1253" y="312"/>
                    </a:cubicBezTo>
                    <a:lnTo>
                      <a:pt x="1304" y="191"/>
                    </a:lnTo>
                    <a:lnTo>
                      <a:pt x="1204" y="117"/>
                    </a:lnTo>
                    <a:lnTo>
                      <a:pt x="1103" y="199"/>
                    </a:lnTo>
                    <a:cubicBezTo>
                      <a:pt x="1080" y="186"/>
                      <a:pt x="1056" y="174"/>
                      <a:pt x="1031" y="165"/>
                    </a:cubicBezTo>
                    <a:lnTo>
                      <a:pt x="1031" y="36"/>
                    </a:lnTo>
                    <a:lnTo>
                      <a:pt x="909" y="7"/>
                    </a:lnTo>
                    <a:lnTo>
                      <a:pt x="849" y="119"/>
                    </a:lnTo>
                    <a:cubicBezTo>
                      <a:pt x="822" y="116"/>
                      <a:pt x="795" y="115"/>
                      <a:pt x="769" y="115"/>
                    </a:cubicBezTo>
                    <a:lnTo>
                      <a:pt x="720" y="0"/>
                    </a:lnTo>
                    <a:lnTo>
                      <a:pt x="596" y="21"/>
                    </a:lnTo>
                    <a:lnTo>
                      <a:pt x="585" y="144"/>
                    </a:lnTo>
                    <a:cubicBezTo>
                      <a:pt x="562" y="152"/>
                      <a:pt x="539" y="160"/>
                      <a:pt x="516" y="169"/>
                    </a:cubicBezTo>
                    <a:lnTo>
                      <a:pt x="429" y="83"/>
                    </a:lnTo>
                    <a:lnTo>
                      <a:pt x="323" y="148"/>
                    </a:lnTo>
                    <a:lnTo>
                      <a:pt x="358" y="265"/>
                    </a:lnTo>
                    <a:cubicBezTo>
                      <a:pt x="334" y="284"/>
                      <a:pt x="312" y="305"/>
                      <a:pt x="291" y="328"/>
                    </a:cubicBezTo>
                    <a:lnTo>
                      <a:pt x="178" y="284"/>
                    </a:lnTo>
                    <a:lnTo>
                      <a:pt x="107" y="386"/>
                    </a:lnTo>
                    <a:lnTo>
                      <a:pt x="185" y="478"/>
                    </a:lnTo>
                    <a:cubicBezTo>
                      <a:pt x="175" y="498"/>
                      <a:pt x="165" y="519"/>
                      <a:pt x="157" y="540"/>
                    </a:cubicBezTo>
                    <a:lnTo>
                      <a:pt x="37" y="541"/>
                    </a:lnTo>
                    <a:lnTo>
                      <a:pt x="8" y="662"/>
                    </a:lnTo>
                    <a:lnTo>
                      <a:pt x="114" y="720"/>
                    </a:lnTo>
                    <a:cubicBezTo>
                      <a:pt x="111" y="746"/>
                      <a:pt x="110" y="772"/>
                      <a:pt x="111" y="798"/>
                    </a:cubicBezTo>
                    <a:lnTo>
                      <a:pt x="0" y="844"/>
                    </a:lnTo>
                    <a:lnTo>
                      <a:pt x="19" y="967"/>
                    </a:lnTo>
                    <a:lnTo>
                      <a:pt x="140" y="980"/>
                    </a:lnTo>
                    <a:cubicBezTo>
                      <a:pt x="148" y="1006"/>
                      <a:pt x="158" y="1031"/>
                      <a:pt x="169" y="1056"/>
                    </a:cubicBezTo>
                    <a:lnTo>
                      <a:pt x="83" y="1143"/>
                    </a:lnTo>
                    <a:lnTo>
                      <a:pt x="148" y="1249"/>
                    </a:lnTo>
                    <a:lnTo>
                      <a:pt x="267" y="1213"/>
                    </a:lnTo>
                    <a:cubicBezTo>
                      <a:pt x="282" y="1232"/>
                      <a:pt x="298" y="1249"/>
                      <a:pt x="316" y="1266"/>
                    </a:cubicBezTo>
                    <a:lnTo>
                      <a:pt x="268" y="1380"/>
                    </a:lnTo>
                    <a:lnTo>
                      <a:pt x="368" y="1454"/>
                    </a:lnTo>
                    <a:lnTo>
                      <a:pt x="466" y="1375"/>
                    </a:lnTo>
                    <a:cubicBezTo>
                      <a:pt x="490" y="1388"/>
                      <a:pt x="515" y="1399"/>
                      <a:pt x="541" y="1409"/>
                    </a:cubicBezTo>
                    <a:lnTo>
                      <a:pt x="541" y="1535"/>
                    </a:lnTo>
                    <a:close/>
                    <a:moveTo>
                      <a:pt x="720" y="1228"/>
                    </a:moveTo>
                    <a:cubicBezTo>
                      <a:pt x="729" y="1190"/>
                      <a:pt x="786" y="952"/>
                      <a:pt x="786" y="952"/>
                    </a:cubicBezTo>
                    <a:cubicBezTo>
                      <a:pt x="845" y="950"/>
                      <a:pt x="899" y="916"/>
                      <a:pt x="927" y="863"/>
                    </a:cubicBezTo>
                    <a:cubicBezTo>
                      <a:pt x="927" y="863"/>
                      <a:pt x="1174" y="922"/>
                      <a:pt x="1215" y="932"/>
                    </a:cubicBezTo>
                    <a:cubicBezTo>
                      <a:pt x="1256" y="942"/>
                      <a:pt x="1258" y="966"/>
                      <a:pt x="1247" y="995"/>
                    </a:cubicBezTo>
                    <a:cubicBezTo>
                      <a:pt x="1162" y="1182"/>
                      <a:pt x="973" y="1301"/>
                      <a:pt x="768" y="1296"/>
                    </a:cubicBezTo>
                    <a:cubicBezTo>
                      <a:pt x="727" y="1296"/>
                      <a:pt x="711" y="1266"/>
                      <a:pt x="720" y="1228"/>
                    </a:cubicBezTo>
                    <a:close/>
                    <a:moveTo>
                      <a:pt x="560" y="1247"/>
                    </a:moveTo>
                    <a:cubicBezTo>
                      <a:pt x="379" y="1162"/>
                      <a:pt x="265" y="978"/>
                      <a:pt x="267" y="779"/>
                    </a:cubicBezTo>
                    <a:cubicBezTo>
                      <a:pt x="267" y="734"/>
                      <a:pt x="295" y="712"/>
                      <a:pt x="339" y="723"/>
                    </a:cubicBezTo>
                    <a:cubicBezTo>
                      <a:pt x="382" y="733"/>
                      <a:pt x="612" y="788"/>
                      <a:pt x="612" y="788"/>
                    </a:cubicBezTo>
                    <a:cubicBezTo>
                      <a:pt x="613" y="847"/>
                      <a:pt x="646" y="902"/>
                      <a:pt x="698" y="931"/>
                    </a:cubicBezTo>
                    <a:cubicBezTo>
                      <a:pt x="698" y="931"/>
                      <a:pt x="650" y="1133"/>
                      <a:pt x="635" y="1196"/>
                    </a:cubicBezTo>
                    <a:cubicBezTo>
                      <a:pt x="620" y="1259"/>
                      <a:pt x="593" y="1259"/>
                      <a:pt x="560" y="1247"/>
                    </a:cubicBezTo>
                    <a:close/>
                    <a:moveTo>
                      <a:pt x="804" y="682"/>
                    </a:moveTo>
                    <a:cubicBezTo>
                      <a:pt x="860" y="696"/>
                      <a:pt x="895" y="752"/>
                      <a:pt x="881" y="808"/>
                    </a:cubicBezTo>
                    <a:cubicBezTo>
                      <a:pt x="868" y="865"/>
                      <a:pt x="811" y="899"/>
                      <a:pt x="755" y="886"/>
                    </a:cubicBezTo>
                    <a:cubicBezTo>
                      <a:pt x="699" y="872"/>
                      <a:pt x="664" y="816"/>
                      <a:pt x="678" y="760"/>
                    </a:cubicBezTo>
                    <a:cubicBezTo>
                      <a:pt x="691" y="704"/>
                      <a:pt x="748" y="669"/>
                      <a:pt x="804" y="682"/>
                    </a:cubicBezTo>
                    <a:close/>
                    <a:moveTo>
                      <a:pt x="354" y="633"/>
                    </a:moveTo>
                    <a:cubicBezTo>
                      <a:pt x="312" y="623"/>
                      <a:pt x="306" y="584"/>
                      <a:pt x="320" y="557"/>
                    </a:cubicBezTo>
                    <a:cubicBezTo>
                      <a:pt x="409" y="377"/>
                      <a:pt x="597" y="264"/>
                      <a:pt x="798" y="272"/>
                    </a:cubicBezTo>
                    <a:cubicBezTo>
                      <a:pt x="832" y="272"/>
                      <a:pt x="849" y="298"/>
                      <a:pt x="840" y="336"/>
                    </a:cubicBezTo>
                    <a:cubicBezTo>
                      <a:pt x="831" y="373"/>
                      <a:pt x="773" y="616"/>
                      <a:pt x="773" y="616"/>
                    </a:cubicBezTo>
                    <a:cubicBezTo>
                      <a:pt x="716" y="619"/>
                      <a:pt x="663" y="650"/>
                      <a:pt x="634" y="700"/>
                    </a:cubicBezTo>
                    <a:cubicBezTo>
                      <a:pt x="634" y="700"/>
                      <a:pt x="396" y="643"/>
                      <a:pt x="354" y="633"/>
                    </a:cubicBezTo>
                    <a:close/>
                    <a:moveTo>
                      <a:pt x="1004" y="323"/>
                    </a:moveTo>
                    <a:cubicBezTo>
                      <a:pt x="1186" y="412"/>
                      <a:pt x="1300" y="601"/>
                      <a:pt x="1292" y="804"/>
                    </a:cubicBezTo>
                    <a:cubicBezTo>
                      <a:pt x="1289" y="830"/>
                      <a:pt x="1271" y="852"/>
                      <a:pt x="1236" y="844"/>
                    </a:cubicBezTo>
                    <a:cubicBezTo>
                      <a:pt x="1202" y="836"/>
                      <a:pt x="947" y="775"/>
                      <a:pt x="947" y="775"/>
                    </a:cubicBezTo>
                    <a:cubicBezTo>
                      <a:pt x="944" y="718"/>
                      <a:pt x="911" y="665"/>
                      <a:pt x="861" y="637"/>
                    </a:cubicBezTo>
                    <a:cubicBezTo>
                      <a:pt x="861" y="637"/>
                      <a:pt x="918" y="399"/>
                      <a:pt x="929" y="353"/>
                    </a:cubicBezTo>
                    <a:cubicBezTo>
                      <a:pt x="940" y="308"/>
                      <a:pt x="967" y="308"/>
                      <a:pt x="1004" y="323"/>
                    </a:cubicBezTo>
                    <a:close/>
                    <a:moveTo>
                      <a:pt x="1344" y="919"/>
                    </a:moveTo>
                    <a:cubicBezTo>
                      <a:pt x="1419" y="607"/>
                      <a:pt x="1226" y="294"/>
                      <a:pt x="914" y="219"/>
                    </a:cubicBezTo>
                    <a:cubicBezTo>
                      <a:pt x="602" y="145"/>
                      <a:pt x="289" y="337"/>
                      <a:pt x="215" y="649"/>
                    </a:cubicBezTo>
                    <a:cubicBezTo>
                      <a:pt x="140" y="961"/>
                      <a:pt x="332" y="1274"/>
                      <a:pt x="645" y="1349"/>
                    </a:cubicBezTo>
                    <a:cubicBezTo>
                      <a:pt x="956" y="1424"/>
                      <a:pt x="1270" y="1231"/>
                      <a:pt x="1344" y="919"/>
                    </a:cubicBezTo>
                    <a:close/>
                  </a:path>
                </a:pathLst>
              </a:custGeom>
              <a:solidFill>
                <a:srgbClr val="40474D">
                  <a:lumMod val="60000"/>
                  <a:lumOff val="40000"/>
                </a:srgbClr>
              </a:solidFill>
              <a:ln>
                <a:noFill/>
              </a:ln>
            </p:spPr>
            <p:txBody>
              <a:bodyPr vert="horz" wrap="square" lIns="91440" tIns="45720" rIns="91440" bIns="45720" numCol="1" anchor="t" anchorCtr="0" compatLnSpc="1"/>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2400" b="1" i="0" u="none" strike="noStrike" kern="0" cap="none" spc="0" normalizeH="0" baseline="0" noProof="0">
                  <a:ln>
                    <a:noFill/>
                  </a:ln>
                  <a:solidFill>
                    <a:srgbClr val="40474D"/>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1" name="Freeform 8"/>
              <p:cNvSpPr>
                <a:spLocks noEditPoints="1"/>
              </p:cNvSpPr>
              <p:nvPr/>
            </p:nvSpPr>
            <p:spPr bwMode="auto">
              <a:xfrm>
                <a:off x="7022157" y="4888646"/>
                <a:ext cx="661902" cy="661902"/>
              </a:xfrm>
              <a:custGeom>
                <a:avLst/>
                <a:gdLst>
                  <a:gd name="T0" fmla="*/ 577 w 983"/>
                  <a:gd name="T1" fmla="*/ 116 h 982"/>
                  <a:gd name="T2" fmla="*/ 398 w 983"/>
                  <a:gd name="T3" fmla="*/ 864 h 982"/>
                  <a:gd name="T4" fmla="*/ 338 w 983"/>
                  <a:gd name="T5" fmla="*/ 959 h 982"/>
                  <a:gd name="T6" fmla="*/ 453 w 983"/>
                  <a:gd name="T7" fmla="*/ 907 h 982"/>
                  <a:gd name="T8" fmla="*/ 533 w 983"/>
                  <a:gd name="T9" fmla="*/ 982 h 982"/>
                  <a:gd name="T10" fmla="*/ 618 w 983"/>
                  <a:gd name="T11" fmla="*/ 887 h 982"/>
                  <a:gd name="T12" fmla="*/ 715 w 983"/>
                  <a:gd name="T13" fmla="*/ 930 h 982"/>
                  <a:gd name="T14" fmla="*/ 757 w 983"/>
                  <a:gd name="T15" fmla="*/ 809 h 982"/>
                  <a:gd name="T16" fmla="*/ 871 w 983"/>
                  <a:gd name="T17" fmla="*/ 805 h 982"/>
                  <a:gd name="T18" fmla="*/ 862 w 983"/>
                  <a:gd name="T19" fmla="*/ 676 h 982"/>
                  <a:gd name="T20" fmla="*/ 960 w 983"/>
                  <a:gd name="T21" fmla="*/ 644 h 982"/>
                  <a:gd name="T22" fmla="*/ 904 w 983"/>
                  <a:gd name="T23" fmla="*/ 528 h 982"/>
                  <a:gd name="T24" fmla="*/ 983 w 983"/>
                  <a:gd name="T25" fmla="*/ 454 h 982"/>
                  <a:gd name="T26" fmla="*/ 887 w 983"/>
                  <a:gd name="T27" fmla="*/ 369 h 982"/>
                  <a:gd name="T28" fmla="*/ 931 w 983"/>
                  <a:gd name="T29" fmla="*/ 268 h 982"/>
                  <a:gd name="T30" fmla="*/ 811 w 983"/>
                  <a:gd name="T31" fmla="*/ 225 h 982"/>
                  <a:gd name="T32" fmla="*/ 815 w 983"/>
                  <a:gd name="T33" fmla="*/ 119 h 982"/>
                  <a:gd name="T34" fmla="*/ 689 w 983"/>
                  <a:gd name="T35" fmla="*/ 124 h 982"/>
                  <a:gd name="T36" fmla="*/ 644 w 983"/>
                  <a:gd name="T37" fmla="*/ 22 h 982"/>
                  <a:gd name="T38" fmla="*/ 531 w 983"/>
                  <a:gd name="T39" fmla="*/ 74 h 982"/>
                  <a:gd name="T40" fmla="*/ 450 w 983"/>
                  <a:gd name="T41" fmla="*/ 0 h 982"/>
                  <a:gd name="T42" fmla="*/ 366 w 983"/>
                  <a:gd name="T43" fmla="*/ 90 h 982"/>
                  <a:gd name="T44" fmla="*/ 268 w 983"/>
                  <a:gd name="T45" fmla="*/ 51 h 982"/>
                  <a:gd name="T46" fmla="*/ 224 w 983"/>
                  <a:gd name="T47" fmla="*/ 165 h 982"/>
                  <a:gd name="T48" fmla="*/ 111 w 983"/>
                  <a:gd name="T49" fmla="*/ 177 h 982"/>
                  <a:gd name="T50" fmla="*/ 116 w 983"/>
                  <a:gd name="T51" fmla="*/ 299 h 982"/>
                  <a:gd name="T52" fmla="*/ 23 w 983"/>
                  <a:gd name="T53" fmla="*/ 338 h 982"/>
                  <a:gd name="T54" fmla="*/ 71 w 983"/>
                  <a:gd name="T55" fmla="*/ 450 h 982"/>
                  <a:gd name="T56" fmla="*/ 0 w 983"/>
                  <a:gd name="T57" fmla="*/ 527 h 982"/>
                  <a:gd name="T58" fmla="*/ 88 w 983"/>
                  <a:gd name="T59" fmla="*/ 612 h 982"/>
                  <a:gd name="T60" fmla="*/ 52 w 983"/>
                  <a:gd name="T61" fmla="*/ 714 h 982"/>
                  <a:gd name="T62" fmla="*/ 167 w 983"/>
                  <a:gd name="T63" fmla="*/ 758 h 982"/>
                  <a:gd name="T64" fmla="*/ 168 w 983"/>
                  <a:gd name="T65" fmla="*/ 862 h 982"/>
                  <a:gd name="T66" fmla="*/ 292 w 983"/>
                  <a:gd name="T67" fmla="*/ 859 h 982"/>
                  <a:gd name="T68" fmla="*/ 338 w 983"/>
                  <a:gd name="T69" fmla="*/ 959 h 982"/>
                  <a:gd name="T70" fmla="*/ 491 w 983"/>
                  <a:gd name="T71" fmla="*/ 595 h 982"/>
                  <a:gd name="T72" fmla="*/ 759 w 983"/>
                  <a:gd name="T73" fmla="*/ 582 h 982"/>
                  <a:gd name="T74" fmla="*/ 480 w 983"/>
                  <a:gd name="T75" fmla="*/ 810 h 982"/>
                  <a:gd name="T76" fmla="*/ 350 w 983"/>
                  <a:gd name="T77" fmla="*/ 779 h 982"/>
                  <a:gd name="T78" fmla="*/ 212 w 983"/>
                  <a:gd name="T79" fmla="*/ 451 h 982"/>
                  <a:gd name="T80" fmla="*/ 436 w 983"/>
                  <a:gd name="T81" fmla="*/ 582 h 982"/>
                  <a:gd name="T82" fmla="*/ 350 w 983"/>
                  <a:gd name="T83" fmla="*/ 779 h 982"/>
                  <a:gd name="T84" fmla="*/ 551 w 983"/>
                  <a:gd name="T85" fmla="*/ 505 h 982"/>
                  <a:gd name="T86" fmla="*/ 424 w 983"/>
                  <a:gd name="T87" fmla="*/ 475 h 982"/>
                  <a:gd name="T88" fmla="*/ 222 w 983"/>
                  <a:gd name="T89" fmla="*/ 396 h 982"/>
                  <a:gd name="T90" fmla="*/ 499 w 983"/>
                  <a:gd name="T91" fmla="*/ 170 h 982"/>
                  <a:gd name="T92" fmla="*/ 483 w 983"/>
                  <a:gd name="T93" fmla="*/ 385 h 982"/>
                  <a:gd name="T94" fmla="*/ 222 w 983"/>
                  <a:gd name="T95" fmla="*/ 396 h 982"/>
                  <a:gd name="T96" fmla="*/ 808 w 983"/>
                  <a:gd name="T97" fmla="*/ 503 h 982"/>
                  <a:gd name="T98" fmla="*/ 592 w 983"/>
                  <a:gd name="T99" fmla="*/ 484 h 982"/>
                  <a:gd name="T100" fmla="*/ 581 w 983"/>
                  <a:gd name="T101" fmla="*/ 221 h 982"/>
                  <a:gd name="T102" fmla="*/ 841 w 983"/>
                  <a:gd name="T103" fmla="*/ 574 h 982"/>
                  <a:gd name="T104" fmla="*/ 134 w 983"/>
                  <a:gd name="T105" fmla="*/ 406 h 982"/>
                  <a:gd name="T106" fmla="*/ 841 w 983"/>
                  <a:gd name="T107" fmla="*/ 574 h 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3" h="982">
                    <a:moveTo>
                      <a:pt x="113" y="401"/>
                    </a:moveTo>
                    <a:cubicBezTo>
                      <a:pt x="163" y="194"/>
                      <a:pt x="370" y="67"/>
                      <a:pt x="577" y="116"/>
                    </a:cubicBezTo>
                    <a:cubicBezTo>
                      <a:pt x="783" y="165"/>
                      <a:pt x="911" y="373"/>
                      <a:pt x="861" y="579"/>
                    </a:cubicBezTo>
                    <a:cubicBezTo>
                      <a:pt x="812" y="786"/>
                      <a:pt x="605" y="913"/>
                      <a:pt x="398" y="864"/>
                    </a:cubicBezTo>
                    <a:cubicBezTo>
                      <a:pt x="191" y="815"/>
                      <a:pt x="64" y="607"/>
                      <a:pt x="113" y="401"/>
                    </a:cubicBezTo>
                    <a:close/>
                    <a:moveTo>
                      <a:pt x="338" y="959"/>
                    </a:moveTo>
                    <a:lnTo>
                      <a:pt x="414" y="978"/>
                    </a:lnTo>
                    <a:lnTo>
                      <a:pt x="453" y="907"/>
                    </a:lnTo>
                    <a:cubicBezTo>
                      <a:pt x="469" y="908"/>
                      <a:pt x="485" y="908"/>
                      <a:pt x="501" y="908"/>
                    </a:cubicBezTo>
                    <a:lnTo>
                      <a:pt x="533" y="982"/>
                    </a:lnTo>
                    <a:lnTo>
                      <a:pt x="610" y="969"/>
                    </a:lnTo>
                    <a:lnTo>
                      <a:pt x="618" y="887"/>
                    </a:lnTo>
                    <a:cubicBezTo>
                      <a:pt x="631" y="883"/>
                      <a:pt x="643" y="878"/>
                      <a:pt x="656" y="872"/>
                    </a:cubicBezTo>
                    <a:lnTo>
                      <a:pt x="715" y="930"/>
                    </a:lnTo>
                    <a:lnTo>
                      <a:pt x="781" y="890"/>
                    </a:lnTo>
                    <a:lnTo>
                      <a:pt x="757" y="809"/>
                    </a:lnTo>
                    <a:cubicBezTo>
                      <a:pt x="770" y="799"/>
                      <a:pt x="782" y="787"/>
                      <a:pt x="794" y="775"/>
                    </a:cubicBezTo>
                    <a:lnTo>
                      <a:pt x="871" y="805"/>
                    </a:lnTo>
                    <a:lnTo>
                      <a:pt x="916" y="741"/>
                    </a:lnTo>
                    <a:lnTo>
                      <a:pt x="862" y="676"/>
                    </a:lnTo>
                    <a:cubicBezTo>
                      <a:pt x="867" y="666"/>
                      <a:pt x="872" y="655"/>
                      <a:pt x="876" y="644"/>
                    </a:cubicBezTo>
                    <a:lnTo>
                      <a:pt x="960" y="644"/>
                    </a:lnTo>
                    <a:lnTo>
                      <a:pt x="978" y="568"/>
                    </a:lnTo>
                    <a:lnTo>
                      <a:pt x="904" y="528"/>
                    </a:lnTo>
                    <a:cubicBezTo>
                      <a:pt x="905" y="514"/>
                      <a:pt x="906" y="500"/>
                      <a:pt x="905" y="487"/>
                    </a:cubicBezTo>
                    <a:lnTo>
                      <a:pt x="983" y="454"/>
                    </a:lnTo>
                    <a:lnTo>
                      <a:pt x="971" y="377"/>
                    </a:lnTo>
                    <a:lnTo>
                      <a:pt x="887" y="369"/>
                    </a:lnTo>
                    <a:cubicBezTo>
                      <a:pt x="883" y="354"/>
                      <a:pt x="878" y="341"/>
                      <a:pt x="872" y="327"/>
                    </a:cubicBezTo>
                    <a:lnTo>
                      <a:pt x="931" y="268"/>
                    </a:lnTo>
                    <a:lnTo>
                      <a:pt x="890" y="201"/>
                    </a:lnTo>
                    <a:lnTo>
                      <a:pt x="811" y="225"/>
                    </a:lnTo>
                    <a:cubicBezTo>
                      <a:pt x="802" y="215"/>
                      <a:pt x="793" y="205"/>
                      <a:pt x="784" y="195"/>
                    </a:cubicBezTo>
                    <a:lnTo>
                      <a:pt x="815" y="119"/>
                    </a:lnTo>
                    <a:lnTo>
                      <a:pt x="753" y="73"/>
                    </a:lnTo>
                    <a:lnTo>
                      <a:pt x="689" y="124"/>
                    </a:lnTo>
                    <a:cubicBezTo>
                      <a:pt x="675" y="116"/>
                      <a:pt x="660" y="109"/>
                      <a:pt x="645" y="103"/>
                    </a:cubicBezTo>
                    <a:lnTo>
                      <a:pt x="644" y="22"/>
                    </a:lnTo>
                    <a:lnTo>
                      <a:pt x="568" y="4"/>
                    </a:lnTo>
                    <a:lnTo>
                      <a:pt x="531" y="74"/>
                    </a:lnTo>
                    <a:cubicBezTo>
                      <a:pt x="514" y="72"/>
                      <a:pt x="497" y="72"/>
                      <a:pt x="481" y="72"/>
                    </a:cubicBezTo>
                    <a:lnTo>
                      <a:pt x="450" y="0"/>
                    </a:lnTo>
                    <a:lnTo>
                      <a:pt x="373" y="13"/>
                    </a:lnTo>
                    <a:lnTo>
                      <a:pt x="366" y="90"/>
                    </a:lnTo>
                    <a:cubicBezTo>
                      <a:pt x="351" y="94"/>
                      <a:pt x="337" y="100"/>
                      <a:pt x="323" y="106"/>
                    </a:cubicBezTo>
                    <a:lnTo>
                      <a:pt x="268" y="51"/>
                    </a:lnTo>
                    <a:lnTo>
                      <a:pt x="202" y="92"/>
                    </a:lnTo>
                    <a:lnTo>
                      <a:pt x="224" y="165"/>
                    </a:lnTo>
                    <a:cubicBezTo>
                      <a:pt x="209" y="177"/>
                      <a:pt x="195" y="190"/>
                      <a:pt x="182" y="205"/>
                    </a:cubicBezTo>
                    <a:lnTo>
                      <a:pt x="111" y="177"/>
                    </a:lnTo>
                    <a:lnTo>
                      <a:pt x="67" y="241"/>
                    </a:lnTo>
                    <a:lnTo>
                      <a:pt x="116" y="299"/>
                    </a:lnTo>
                    <a:cubicBezTo>
                      <a:pt x="109" y="311"/>
                      <a:pt x="103" y="324"/>
                      <a:pt x="98" y="338"/>
                    </a:cubicBezTo>
                    <a:lnTo>
                      <a:pt x="23" y="338"/>
                    </a:lnTo>
                    <a:lnTo>
                      <a:pt x="5" y="414"/>
                    </a:lnTo>
                    <a:lnTo>
                      <a:pt x="71" y="450"/>
                    </a:lnTo>
                    <a:cubicBezTo>
                      <a:pt x="70" y="466"/>
                      <a:pt x="69" y="482"/>
                      <a:pt x="69" y="499"/>
                    </a:cubicBezTo>
                    <a:lnTo>
                      <a:pt x="0" y="527"/>
                    </a:lnTo>
                    <a:lnTo>
                      <a:pt x="12" y="605"/>
                    </a:lnTo>
                    <a:lnTo>
                      <a:pt x="88" y="612"/>
                    </a:lnTo>
                    <a:cubicBezTo>
                      <a:pt x="93" y="629"/>
                      <a:pt x="99" y="644"/>
                      <a:pt x="106" y="660"/>
                    </a:cubicBezTo>
                    <a:lnTo>
                      <a:pt x="52" y="714"/>
                    </a:lnTo>
                    <a:lnTo>
                      <a:pt x="93" y="781"/>
                    </a:lnTo>
                    <a:lnTo>
                      <a:pt x="167" y="758"/>
                    </a:lnTo>
                    <a:cubicBezTo>
                      <a:pt x="176" y="770"/>
                      <a:pt x="187" y="781"/>
                      <a:pt x="197" y="791"/>
                    </a:cubicBezTo>
                    <a:lnTo>
                      <a:pt x="168" y="862"/>
                    </a:lnTo>
                    <a:lnTo>
                      <a:pt x="230" y="909"/>
                    </a:lnTo>
                    <a:lnTo>
                      <a:pt x="292" y="859"/>
                    </a:lnTo>
                    <a:cubicBezTo>
                      <a:pt x="307" y="867"/>
                      <a:pt x="322" y="874"/>
                      <a:pt x="338" y="880"/>
                    </a:cubicBezTo>
                    <a:lnTo>
                      <a:pt x="338" y="959"/>
                    </a:lnTo>
                    <a:close/>
                    <a:moveTo>
                      <a:pt x="450" y="768"/>
                    </a:moveTo>
                    <a:cubicBezTo>
                      <a:pt x="456" y="744"/>
                      <a:pt x="491" y="595"/>
                      <a:pt x="491" y="595"/>
                    </a:cubicBezTo>
                    <a:cubicBezTo>
                      <a:pt x="529" y="593"/>
                      <a:pt x="562" y="572"/>
                      <a:pt x="580" y="539"/>
                    </a:cubicBezTo>
                    <a:cubicBezTo>
                      <a:pt x="580" y="539"/>
                      <a:pt x="734" y="576"/>
                      <a:pt x="759" y="582"/>
                    </a:cubicBezTo>
                    <a:cubicBezTo>
                      <a:pt x="785" y="588"/>
                      <a:pt x="787" y="604"/>
                      <a:pt x="779" y="622"/>
                    </a:cubicBezTo>
                    <a:cubicBezTo>
                      <a:pt x="727" y="739"/>
                      <a:pt x="608" y="813"/>
                      <a:pt x="480" y="810"/>
                    </a:cubicBezTo>
                    <a:cubicBezTo>
                      <a:pt x="454" y="810"/>
                      <a:pt x="444" y="791"/>
                      <a:pt x="450" y="768"/>
                    </a:cubicBezTo>
                    <a:close/>
                    <a:moveTo>
                      <a:pt x="350" y="779"/>
                    </a:moveTo>
                    <a:cubicBezTo>
                      <a:pt x="237" y="726"/>
                      <a:pt x="166" y="611"/>
                      <a:pt x="167" y="487"/>
                    </a:cubicBezTo>
                    <a:cubicBezTo>
                      <a:pt x="167" y="459"/>
                      <a:pt x="185" y="445"/>
                      <a:pt x="212" y="451"/>
                    </a:cubicBezTo>
                    <a:cubicBezTo>
                      <a:pt x="239" y="458"/>
                      <a:pt x="383" y="492"/>
                      <a:pt x="383" y="492"/>
                    </a:cubicBezTo>
                    <a:cubicBezTo>
                      <a:pt x="383" y="529"/>
                      <a:pt x="404" y="564"/>
                      <a:pt x="436" y="582"/>
                    </a:cubicBezTo>
                    <a:cubicBezTo>
                      <a:pt x="436" y="582"/>
                      <a:pt x="406" y="708"/>
                      <a:pt x="397" y="747"/>
                    </a:cubicBezTo>
                    <a:cubicBezTo>
                      <a:pt x="387" y="787"/>
                      <a:pt x="371" y="787"/>
                      <a:pt x="350" y="779"/>
                    </a:cubicBezTo>
                    <a:close/>
                    <a:moveTo>
                      <a:pt x="503" y="426"/>
                    </a:moveTo>
                    <a:cubicBezTo>
                      <a:pt x="538" y="435"/>
                      <a:pt x="559" y="470"/>
                      <a:pt x="551" y="505"/>
                    </a:cubicBezTo>
                    <a:cubicBezTo>
                      <a:pt x="543" y="540"/>
                      <a:pt x="507" y="562"/>
                      <a:pt x="472" y="554"/>
                    </a:cubicBezTo>
                    <a:cubicBezTo>
                      <a:pt x="437" y="545"/>
                      <a:pt x="415" y="510"/>
                      <a:pt x="424" y="475"/>
                    </a:cubicBezTo>
                    <a:cubicBezTo>
                      <a:pt x="432" y="440"/>
                      <a:pt x="467" y="418"/>
                      <a:pt x="503" y="426"/>
                    </a:cubicBezTo>
                    <a:close/>
                    <a:moveTo>
                      <a:pt x="222" y="396"/>
                    </a:moveTo>
                    <a:cubicBezTo>
                      <a:pt x="195" y="389"/>
                      <a:pt x="191" y="365"/>
                      <a:pt x="200" y="348"/>
                    </a:cubicBezTo>
                    <a:cubicBezTo>
                      <a:pt x="256" y="235"/>
                      <a:pt x="373" y="165"/>
                      <a:pt x="499" y="170"/>
                    </a:cubicBezTo>
                    <a:cubicBezTo>
                      <a:pt x="520" y="170"/>
                      <a:pt x="531" y="186"/>
                      <a:pt x="525" y="210"/>
                    </a:cubicBezTo>
                    <a:cubicBezTo>
                      <a:pt x="520" y="233"/>
                      <a:pt x="483" y="385"/>
                      <a:pt x="483" y="385"/>
                    </a:cubicBezTo>
                    <a:cubicBezTo>
                      <a:pt x="447" y="386"/>
                      <a:pt x="414" y="406"/>
                      <a:pt x="397" y="437"/>
                    </a:cubicBezTo>
                    <a:cubicBezTo>
                      <a:pt x="397" y="437"/>
                      <a:pt x="248" y="402"/>
                      <a:pt x="222" y="396"/>
                    </a:cubicBezTo>
                    <a:close/>
                    <a:moveTo>
                      <a:pt x="628" y="202"/>
                    </a:moveTo>
                    <a:cubicBezTo>
                      <a:pt x="741" y="257"/>
                      <a:pt x="813" y="376"/>
                      <a:pt x="808" y="503"/>
                    </a:cubicBezTo>
                    <a:cubicBezTo>
                      <a:pt x="806" y="518"/>
                      <a:pt x="795" y="533"/>
                      <a:pt x="773" y="527"/>
                    </a:cubicBezTo>
                    <a:cubicBezTo>
                      <a:pt x="751" y="522"/>
                      <a:pt x="592" y="484"/>
                      <a:pt x="592" y="484"/>
                    </a:cubicBezTo>
                    <a:cubicBezTo>
                      <a:pt x="590" y="448"/>
                      <a:pt x="570" y="416"/>
                      <a:pt x="538" y="398"/>
                    </a:cubicBezTo>
                    <a:cubicBezTo>
                      <a:pt x="538" y="398"/>
                      <a:pt x="574" y="249"/>
                      <a:pt x="581" y="221"/>
                    </a:cubicBezTo>
                    <a:cubicBezTo>
                      <a:pt x="588" y="192"/>
                      <a:pt x="605" y="192"/>
                      <a:pt x="628" y="202"/>
                    </a:cubicBezTo>
                    <a:close/>
                    <a:moveTo>
                      <a:pt x="841" y="574"/>
                    </a:moveTo>
                    <a:cubicBezTo>
                      <a:pt x="887" y="379"/>
                      <a:pt x="767" y="183"/>
                      <a:pt x="572" y="137"/>
                    </a:cubicBezTo>
                    <a:cubicBezTo>
                      <a:pt x="377" y="90"/>
                      <a:pt x="181" y="210"/>
                      <a:pt x="134" y="406"/>
                    </a:cubicBezTo>
                    <a:cubicBezTo>
                      <a:pt x="88" y="601"/>
                      <a:pt x="208" y="796"/>
                      <a:pt x="403" y="843"/>
                    </a:cubicBezTo>
                    <a:cubicBezTo>
                      <a:pt x="598" y="890"/>
                      <a:pt x="794" y="769"/>
                      <a:pt x="841" y="574"/>
                    </a:cubicBezTo>
                    <a:close/>
                  </a:path>
                </a:pathLst>
              </a:custGeom>
              <a:solidFill>
                <a:srgbClr val="40474D">
                  <a:lumMod val="60000"/>
                  <a:lumOff val="40000"/>
                </a:srgbClr>
              </a:solidFill>
              <a:ln>
                <a:noFill/>
              </a:ln>
            </p:spPr>
            <p:txBody>
              <a:bodyPr vert="horz" wrap="square" lIns="91440" tIns="45720" rIns="91440" bIns="45720" numCol="1" anchor="t" anchorCtr="0" compatLnSpc="1"/>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2400" b="1" i="0" u="none" strike="noStrike" kern="0" cap="none" spc="0" normalizeH="0" baseline="0" noProof="0">
                  <a:ln>
                    <a:noFill/>
                  </a:ln>
                  <a:solidFill>
                    <a:srgbClr val="40474D"/>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2" name="Freeform 9"/>
              <p:cNvSpPr>
                <a:spLocks noEditPoints="1"/>
              </p:cNvSpPr>
              <p:nvPr/>
            </p:nvSpPr>
            <p:spPr bwMode="auto">
              <a:xfrm>
                <a:off x="4899559" y="4954309"/>
                <a:ext cx="560315" cy="561902"/>
              </a:xfrm>
              <a:custGeom>
                <a:avLst/>
                <a:gdLst>
                  <a:gd name="T0" fmla="*/ 419 w 832"/>
                  <a:gd name="T1" fmla="*/ 497 h 832"/>
                  <a:gd name="T2" fmla="*/ 419 w 832"/>
                  <a:gd name="T3" fmla="*/ 335 h 832"/>
                  <a:gd name="T4" fmla="*/ 450 w 832"/>
                  <a:gd name="T5" fmla="*/ 0 h 832"/>
                  <a:gd name="T6" fmla="*/ 366 w 832"/>
                  <a:gd name="T7" fmla="*/ 66 h 832"/>
                  <a:gd name="T8" fmla="*/ 285 w 832"/>
                  <a:gd name="T9" fmla="*/ 20 h 832"/>
                  <a:gd name="T10" fmla="*/ 234 w 832"/>
                  <a:gd name="T11" fmla="*/ 114 h 832"/>
                  <a:gd name="T12" fmla="*/ 146 w 832"/>
                  <a:gd name="T13" fmla="*/ 98 h 832"/>
                  <a:gd name="T14" fmla="*/ 135 w 832"/>
                  <a:gd name="T15" fmla="*/ 206 h 832"/>
                  <a:gd name="T16" fmla="*/ 41 w 832"/>
                  <a:gd name="T17" fmla="*/ 232 h 832"/>
                  <a:gd name="T18" fmla="*/ 75 w 832"/>
                  <a:gd name="T19" fmla="*/ 336 h 832"/>
                  <a:gd name="T20" fmla="*/ 0 w 832"/>
                  <a:gd name="T21" fmla="*/ 382 h 832"/>
                  <a:gd name="T22" fmla="*/ 69 w 832"/>
                  <a:gd name="T23" fmla="*/ 466 h 832"/>
                  <a:gd name="T24" fmla="*/ 18 w 832"/>
                  <a:gd name="T25" fmla="*/ 543 h 832"/>
                  <a:gd name="T26" fmla="*/ 114 w 832"/>
                  <a:gd name="T27" fmla="*/ 594 h 832"/>
                  <a:gd name="T28" fmla="*/ 98 w 832"/>
                  <a:gd name="T29" fmla="*/ 686 h 832"/>
                  <a:gd name="T30" fmla="*/ 205 w 832"/>
                  <a:gd name="T31" fmla="*/ 697 h 832"/>
                  <a:gd name="T32" fmla="*/ 222 w 832"/>
                  <a:gd name="T33" fmla="*/ 785 h 832"/>
                  <a:gd name="T34" fmla="*/ 325 w 832"/>
                  <a:gd name="T35" fmla="*/ 757 h 832"/>
                  <a:gd name="T36" fmla="*/ 382 w 832"/>
                  <a:gd name="T37" fmla="*/ 832 h 832"/>
                  <a:gd name="T38" fmla="*/ 465 w 832"/>
                  <a:gd name="T39" fmla="*/ 767 h 832"/>
                  <a:gd name="T40" fmla="*/ 547 w 832"/>
                  <a:gd name="T41" fmla="*/ 812 h 832"/>
                  <a:gd name="T42" fmla="*/ 598 w 832"/>
                  <a:gd name="T43" fmla="*/ 721 h 832"/>
                  <a:gd name="T44" fmla="*/ 686 w 832"/>
                  <a:gd name="T45" fmla="*/ 734 h 832"/>
                  <a:gd name="T46" fmla="*/ 700 w 832"/>
                  <a:gd name="T47" fmla="*/ 631 h 832"/>
                  <a:gd name="T48" fmla="*/ 790 w 832"/>
                  <a:gd name="T49" fmla="*/ 600 h 832"/>
                  <a:gd name="T50" fmla="*/ 763 w 832"/>
                  <a:gd name="T51" fmla="*/ 500 h 832"/>
                  <a:gd name="T52" fmla="*/ 832 w 832"/>
                  <a:gd name="T53" fmla="*/ 450 h 832"/>
                  <a:gd name="T54" fmla="*/ 770 w 832"/>
                  <a:gd name="T55" fmla="*/ 367 h 832"/>
                  <a:gd name="T56" fmla="*/ 813 w 832"/>
                  <a:gd name="T57" fmla="*/ 289 h 832"/>
                  <a:gd name="T58" fmla="*/ 724 w 832"/>
                  <a:gd name="T59" fmla="*/ 237 h 832"/>
                  <a:gd name="T60" fmla="*/ 734 w 832"/>
                  <a:gd name="T61" fmla="*/ 146 h 832"/>
                  <a:gd name="T62" fmla="*/ 630 w 832"/>
                  <a:gd name="T63" fmla="*/ 132 h 832"/>
                  <a:gd name="T64" fmla="*/ 609 w 832"/>
                  <a:gd name="T65" fmla="*/ 46 h 832"/>
                  <a:gd name="T66" fmla="*/ 508 w 832"/>
                  <a:gd name="T67" fmla="*/ 73 h 832"/>
                  <a:gd name="T68" fmla="*/ 450 w 832"/>
                  <a:gd name="T69" fmla="*/ 0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32" h="832">
                    <a:moveTo>
                      <a:pt x="501" y="416"/>
                    </a:moveTo>
                    <a:cubicBezTo>
                      <a:pt x="501" y="461"/>
                      <a:pt x="464" y="497"/>
                      <a:pt x="419" y="497"/>
                    </a:cubicBezTo>
                    <a:cubicBezTo>
                      <a:pt x="374" y="497"/>
                      <a:pt x="338" y="461"/>
                      <a:pt x="338" y="416"/>
                    </a:cubicBezTo>
                    <a:cubicBezTo>
                      <a:pt x="338" y="371"/>
                      <a:pt x="374" y="335"/>
                      <a:pt x="419" y="335"/>
                    </a:cubicBezTo>
                    <a:cubicBezTo>
                      <a:pt x="464" y="335"/>
                      <a:pt x="501" y="371"/>
                      <a:pt x="501" y="416"/>
                    </a:cubicBezTo>
                    <a:close/>
                    <a:moveTo>
                      <a:pt x="450" y="0"/>
                    </a:moveTo>
                    <a:lnTo>
                      <a:pt x="383" y="0"/>
                    </a:lnTo>
                    <a:lnTo>
                      <a:pt x="366" y="66"/>
                    </a:lnTo>
                    <a:cubicBezTo>
                      <a:pt x="352" y="68"/>
                      <a:pt x="339" y="71"/>
                      <a:pt x="326" y="75"/>
                    </a:cubicBezTo>
                    <a:lnTo>
                      <a:pt x="285" y="20"/>
                    </a:lnTo>
                    <a:lnTo>
                      <a:pt x="224" y="46"/>
                    </a:lnTo>
                    <a:lnTo>
                      <a:pt x="234" y="114"/>
                    </a:lnTo>
                    <a:cubicBezTo>
                      <a:pt x="224" y="121"/>
                      <a:pt x="214" y="127"/>
                      <a:pt x="205" y="134"/>
                    </a:cubicBezTo>
                    <a:lnTo>
                      <a:pt x="146" y="98"/>
                    </a:lnTo>
                    <a:lnTo>
                      <a:pt x="99" y="145"/>
                    </a:lnTo>
                    <a:lnTo>
                      <a:pt x="135" y="206"/>
                    </a:lnTo>
                    <a:cubicBezTo>
                      <a:pt x="126" y="217"/>
                      <a:pt x="118" y="229"/>
                      <a:pt x="111" y="242"/>
                    </a:cubicBezTo>
                    <a:lnTo>
                      <a:pt x="41" y="232"/>
                    </a:lnTo>
                    <a:lnTo>
                      <a:pt x="17" y="294"/>
                    </a:lnTo>
                    <a:lnTo>
                      <a:pt x="75" y="336"/>
                    </a:lnTo>
                    <a:cubicBezTo>
                      <a:pt x="72" y="346"/>
                      <a:pt x="71" y="355"/>
                      <a:pt x="69" y="365"/>
                    </a:cubicBezTo>
                    <a:lnTo>
                      <a:pt x="0" y="382"/>
                    </a:lnTo>
                    <a:lnTo>
                      <a:pt x="0" y="448"/>
                    </a:lnTo>
                    <a:lnTo>
                      <a:pt x="69" y="466"/>
                    </a:lnTo>
                    <a:cubicBezTo>
                      <a:pt x="71" y="478"/>
                      <a:pt x="73" y="490"/>
                      <a:pt x="76" y="501"/>
                    </a:cubicBezTo>
                    <a:lnTo>
                      <a:pt x="18" y="543"/>
                    </a:lnTo>
                    <a:lnTo>
                      <a:pt x="43" y="604"/>
                    </a:lnTo>
                    <a:lnTo>
                      <a:pt x="114" y="594"/>
                    </a:lnTo>
                    <a:cubicBezTo>
                      <a:pt x="120" y="605"/>
                      <a:pt x="127" y="616"/>
                      <a:pt x="135" y="626"/>
                    </a:cubicBezTo>
                    <a:lnTo>
                      <a:pt x="98" y="686"/>
                    </a:lnTo>
                    <a:lnTo>
                      <a:pt x="145" y="733"/>
                    </a:lnTo>
                    <a:lnTo>
                      <a:pt x="205" y="697"/>
                    </a:lnTo>
                    <a:cubicBezTo>
                      <a:pt x="214" y="704"/>
                      <a:pt x="224" y="711"/>
                      <a:pt x="233" y="717"/>
                    </a:cubicBezTo>
                    <a:lnTo>
                      <a:pt x="222" y="785"/>
                    </a:lnTo>
                    <a:lnTo>
                      <a:pt x="283" y="811"/>
                    </a:lnTo>
                    <a:lnTo>
                      <a:pt x="325" y="757"/>
                    </a:lnTo>
                    <a:cubicBezTo>
                      <a:pt x="338" y="761"/>
                      <a:pt x="352" y="764"/>
                      <a:pt x="366" y="766"/>
                    </a:cubicBezTo>
                    <a:lnTo>
                      <a:pt x="382" y="832"/>
                    </a:lnTo>
                    <a:lnTo>
                      <a:pt x="448" y="832"/>
                    </a:lnTo>
                    <a:lnTo>
                      <a:pt x="465" y="767"/>
                    </a:lnTo>
                    <a:cubicBezTo>
                      <a:pt x="479" y="765"/>
                      <a:pt x="493" y="762"/>
                      <a:pt x="507" y="759"/>
                    </a:cubicBezTo>
                    <a:lnTo>
                      <a:pt x="547" y="812"/>
                    </a:lnTo>
                    <a:lnTo>
                      <a:pt x="607" y="786"/>
                    </a:lnTo>
                    <a:lnTo>
                      <a:pt x="598" y="721"/>
                    </a:lnTo>
                    <a:cubicBezTo>
                      <a:pt x="609" y="715"/>
                      <a:pt x="620" y="708"/>
                      <a:pt x="630" y="700"/>
                    </a:cubicBezTo>
                    <a:lnTo>
                      <a:pt x="686" y="734"/>
                    </a:lnTo>
                    <a:lnTo>
                      <a:pt x="733" y="687"/>
                    </a:lnTo>
                    <a:lnTo>
                      <a:pt x="700" y="631"/>
                    </a:lnTo>
                    <a:cubicBezTo>
                      <a:pt x="710" y="618"/>
                      <a:pt x="719" y="605"/>
                      <a:pt x="727" y="591"/>
                    </a:cubicBezTo>
                    <a:lnTo>
                      <a:pt x="790" y="600"/>
                    </a:lnTo>
                    <a:lnTo>
                      <a:pt x="815" y="538"/>
                    </a:lnTo>
                    <a:lnTo>
                      <a:pt x="763" y="500"/>
                    </a:lnTo>
                    <a:cubicBezTo>
                      <a:pt x="766" y="489"/>
                      <a:pt x="768" y="477"/>
                      <a:pt x="770" y="465"/>
                    </a:cubicBezTo>
                    <a:lnTo>
                      <a:pt x="832" y="450"/>
                    </a:lnTo>
                    <a:lnTo>
                      <a:pt x="832" y="384"/>
                    </a:lnTo>
                    <a:lnTo>
                      <a:pt x="770" y="367"/>
                    </a:lnTo>
                    <a:cubicBezTo>
                      <a:pt x="768" y="353"/>
                      <a:pt x="765" y="340"/>
                      <a:pt x="762" y="327"/>
                    </a:cubicBezTo>
                    <a:lnTo>
                      <a:pt x="813" y="289"/>
                    </a:lnTo>
                    <a:lnTo>
                      <a:pt x="788" y="228"/>
                    </a:lnTo>
                    <a:lnTo>
                      <a:pt x="724" y="237"/>
                    </a:lnTo>
                    <a:cubicBezTo>
                      <a:pt x="717" y="224"/>
                      <a:pt x="709" y="212"/>
                      <a:pt x="700" y="201"/>
                    </a:cubicBezTo>
                    <a:lnTo>
                      <a:pt x="734" y="146"/>
                    </a:lnTo>
                    <a:lnTo>
                      <a:pt x="687" y="99"/>
                    </a:lnTo>
                    <a:lnTo>
                      <a:pt x="630" y="132"/>
                    </a:lnTo>
                    <a:cubicBezTo>
                      <a:pt x="620" y="124"/>
                      <a:pt x="610" y="117"/>
                      <a:pt x="599" y="111"/>
                    </a:cubicBezTo>
                    <a:lnTo>
                      <a:pt x="609" y="46"/>
                    </a:lnTo>
                    <a:lnTo>
                      <a:pt x="549" y="21"/>
                    </a:lnTo>
                    <a:lnTo>
                      <a:pt x="508" y="73"/>
                    </a:lnTo>
                    <a:cubicBezTo>
                      <a:pt x="494" y="70"/>
                      <a:pt x="480" y="67"/>
                      <a:pt x="465" y="65"/>
                    </a:cubicBezTo>
                    <a:lnTo>
                      <a:pt x="450" y="0"/>
                    </a:lnTo>
                    <a:close/>
                  </a:path>
                </a:pathLst>
              </a:custGeom>
              <a:solidFill>
                <a:srgbClr val="40474D">
                  <a:lumMod val="60000"/>
                  <a:lumOff val="40000"/>
                </a:srgbClr>
              </a:solidFill>
              <a:ln>
                <a:noFill/>
              </a:ln>
            </p:spPr>
            <p:txBody>
              <a:bodyPr vert="horz" wrap="square" lIns="91440" tIns="45720" rIns="91440" bIns="45720" numCol="1" anchor="t" anchorCtr="0" compatLnSpc="1"/>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2400" b="1" i="0" u="none" strike="noStrike" kern="0" cap="none" spc="0" normalizeH="0" baseline="0" noProof="0">
                  <a:ln>
                    <a:noFill/>
                  </a:ln>
                  <a:solidFill>
                    <a:srgbClr val="40474D"/>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3" name="Freeform 10"/>
              <p:cNvSpPr>
                <a:spLocks noEditPoints="1"/>
              </p:cNvSpPr>
              <p:nvPr/>
            </p:nvSpPr>
            <p:spPr bwMode="auto">
              <a:xfrm>
                <a:off x="5460812" y="4296919"/>
                <a:ext cx="1282533" cy="1284121"/>
              </a:xfrm>
              <a:custGeom>
                <a:avLst/>
                <a:gdLst>
                  <a:gd name="T0" fmla="*/ 586 w 1904"/>
                  <a:gd name="T1" fmla="*/ 324 h 1906"/>
                  <a:gd name="T2" fmla="*/ 1811 w 1904"/>
                  <a:gd name="T3" fmla="*/ 543 h 1906"/>
                  <a:gd name="T4" fmla="*/ 1521 w 1904"/>
                  <a:gd name="T5" fmla="*/ 383 h 1906"/>
                  <a:gd name="T6" fmla="*/ 1337 w 1904"/>
                  <a:gd name="T7" fmla="*/ 247 h 1906"/>
                  <a:gd name="T8" fmla="*/ 1121 w 1904"/>
                  <a:gd name="T9" fmla="*/ 14 h 1906"/>
                  <a:gd name="T10" fmla="*/ 882 w 1904"/>
                  <a:gd name="T11" fmla="*/ 0 h 1906"/>
                  <a:gd name="T12" fmla="*/ 652 w 1904"/>
                  <a:gd name="T13" fmla="*/ 208 h 1906"/>
                  <a:gd name="T14" fmla="*/ 453 w 1904"/>
                  <a:gd name="T15" fmla="*/ 324 h 1906"/>
                  <a:gd name="T16" fmla="*/ 152 w 1904"/>
                  <a:gd name="T17" fmla="*/ 431 h 1906"/>
                  <a:gd name="T18" fmla="*/ 53 w 1904"/>
                  <a:gd name="T19" fmla="*/ 633 h 1906"/>
                  <a:gd name="T20" fmla="*/ 148 w 1904"/>
                  <a:gd name="T21" fmla="*/ 937 h 1906"/>
                  <a:gd name="T22" fmla="*/ 175 w 1904"/>
                  <a:gd name="T23" fmla="*/ 1165 h 1906"/>
                  <a:gd name="T24" fmla="*/ 170 w 1904"/>
                  <a:gd name="T25" fmla="*/ 1494 h 1906"/>
                  <a:gd name="T26" fmla="*/ 322 w 1904"/>
                  <a:gd name="T27" fmla="*/ 1667 h 1906"/>
                  <a:gd name="T28" fmla="*/ 640 w 1904"/>
                  <a:gd name="T29" fmla="*/ 1704 h 1906"/>
                  <a:gd name="T30" fmla="*/ 856 w 1904"/>
                  <a:gd name="T31" fmla="*/ 1764 h 1906"/>
                  <a:gd name="T32" fmla="*/ 1172 w 1904"/>
                  <a:gd name="T33" fmla="*/ 1884 h 1906"/>
                  <a:gd name="T34" fmla="*/ 1366 w 1904"/>
                  <a:gd name="T35" fmla="*/ 1816 h 1906"/>
                  <a:gd name="T36" fmla="*/ 1528 w 1904"/>
                  <a:gd name="T37" fmla="*/ 1536 h 1906"/>
                  <a:gd name="T38" fmla="*/ 1662 w 1904"/>
                  <a:gd name="T39" fmla="*/ 1359 h 1906"/>
                  <a:gd name="T40" fmla="*/ 1890 w 1904"/>
                  <a:gd name="T41" fmla="*/ 1127 h 1906"/>
                  <a:gd name="T42" fmla="*/ 1904 w 1904"/>
                  <a:gd name="T43" fmla="*/ 913 h 1906"/>
                  <a:gd name="T44" fmla="*/ 1701 w 1904"/>
                  <a:gd name="T45" fmla="*/ 649 h 1906"/>
                  <a:gd name="T46" fmla="*/ 1295 w 1904"/>
                  <a:gd name="T47" fmla="*/ 845 h 1906"/>
                  <a:gd name="T48" fmla="*/ 1217 w 1904"/>
                  <a:gd name="T49" fmla="*/ 646 h 1906"/>
                  <a:gd name="T50" fmla="*/ 1416 w 1904"/>
                  <a:gd name="T51" fmla="*/ 785 h 1906"/>
                  <a:gd name="T52" fmla="*/ 1442 w 1904"/>
                  <a:gd name="T53" fmla="*/ 1085 h 1906"/>
                  <a:gd name="T54" fmla="*/ 1278 w 1904"/>
                  <a:gd name="T55" fmla="*/ 1124 h 1906"/>
                  <a:gd name="T56" fmla="*/ 1365 w 1904"/>
                  <a:gd name="T57" fmla="*/ 928 h 1906"/>
                  <a:gd name="T58" fmla="*/ 1203 w 1904"/>
                  <a:gd name="T59" fmla="*/ 1383 h 1906"/>
                  <a:gd name="T60" fmla="*/ 1060 w 1904"/>
                  <a:gd name="T61" fmla="*/ 1296 h 1906"/>
                  <a:gd name="T62" fmla="*/ 1259 w 1904"/>
                  <a:gd name="T63" fmla="*/ 1218 h 1906"/>
                  <a:gd name="T64" fmla="*/ 906 w 1904"/>
                  <a:gd name="T65" fmla="*/ 1436 h 1906"/>
                  <a:gd name="T66" fmla="*/ 715 w 1904"/>
                  <a:gd name="T67" fmla="*/ 1286 h 1906"/>
                  <a:gd name="T68" fmla="*/ 922 w 1904"/>
                  <a:gd name="T69" fmla="*/ 1305 h 1906"/>
                  <a:gd name="T70" fmla="*/ 522 w 1904"/>
                  <a:gd name="T71" fmla="*/ 1204 h 1906"/>
                  <a:gd name="T72" fmla="*/ 610 w 1904"/>
                  <a:gd name="T73" fmla="*/ 1060 h 1906"/>
                  <a:gd name="T74" fmla="*/ 687 w 1904"/>
                  <a:gd name="T75" fmla="*/ 1260 h 1906"/>
                  <a:gd name="T76" fmla="*/ 456 w 1904"/>
                  <a:gd name="T77" fmla="*/ 825 h 1906"/>
                  <a:gd name="T78" fmla="*/ 619 w 1904"/>
                  <a:gd name="T79" fmla="*/ 786 h 1906"/>
                  <a:gd name="T80" fmla="*/ 533 w 1904"/>
                  <a:gd name="T81" fmla="*/ 982 h 1906"/>
                  <a:gd name="T82" fmla="*/ 702 w 1904"/>
                  <a:gd name="T83" fmla="*/ 522 h 1906"/>
                  <a:gd name="T84" fmla="*/ 845 w 1904"/>
                  <a:gd name="T85" fmla="*/ 610 h 1906"/>
                  <a:gd name="T86" fmla="*/ 645 w 1904"/>
                  <a:gd name="T87" fmla="*/ 688 h 1906"/>
                  <a:gd name="T88" fmla="*/ 1094 w 1904"/>
                  <a:gd name="T89" fmla="*/ 1195 h 1906"/>
                  <a:gd name="T90" fmla="*/ 1190 w 1904"/>
                  <a:gd name="T91" fmla="*/ 824 h 1906"/>
                  <a:gd name="T92" fmla="*/ 1074 w 1904"/>
                  <a:gd name="T93" fmla="*/ 461 h 1906"/>
                  <a:gd name="T94" fmla="*/ 1113 w 1904"/>
                  <a:gd name="T95" fmla="*/ 625 h 1906"/>
                  <a:gd name="T96" fmla="*/ 917 w 1904"/>
                  <a:gd name="T97" fmla="*/ 539 h 1906"/>
                  <a:gd name="T98" fmla="*/ 1286 w 1904"/>
                  <a:gd name="T99" fmla="*/ 1526 h 1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04" h="1906">
                    <a:moveTo>
                      <a:pt x="1319" y="1582"/>
                    </a:moveTo>
                    <a:cubicBezTo>
                      <a:pt x="971" y="1784"/>
                      <a:pt x="526" y="1667"/>
                      <a:pt x="323" y="1319"/>
                    </a:cubicBezTo>
                    <a:cubicBezTo>
                      <a:pt x="121" y="972"/>
                      <a:pt x="239" y="526"/>
                      <a:pt x="586" y="324"/>
                    </a:cubicBezTo>
                    <a:cubicBezTo>
                      <a:pt x="934" y="122"/>
                      <a:pt x="1379" y="239"/>
                      <a:pt x="1581" y="587"/>
                    </a:cubicBezTo>
                    <a:cubicBezTo>
                      <a:pt x="1784" y="934"/>
                      <a:pt x="1666" y="1380"/>
                      <a:pt x="1319" y="1582"/>
                    </a:cubicBezTo>
                    <a:close/>
                    <a:moveTo>
                      <a:pt x="1811" y="543"/>
                    </a:moveTo>
                    <a:lnTo>
                      <a:pt x="1735" y="412"/>
                    </a:lnTo>
                    <a:lnTo>
                      <a:pt x="1585" y="453"/>
                    </a:lnTo>
                    <a:cubicBezTo>
                      <a:pt x="1565" y="428"/>
                      <a:pt x="1544" y="405"/>
                      <a:pt x="1521" y="383"/>
                    </a:cubicBezTo>
                    <a:lnTo>
                      <a:pt x="1583" y="239"/>
                    </a:lnTo>
                    <a:lnTo>
                      <a:pt x="1461" y="148"/>
                    </a:lnTo>
                    <a:lnTo>
                      <a:pt x="1337" y="247"/>
                    </a:lnTo>
                    <a:cubicBezTo>
                      <a:pt x="1313" y="234"/>
                      <a:pt x="1289" y="223"/>
                      <a:pt x="1265" y="212"/>
                    </a:cubicBezTo>
                    <a:lnTo>
                      <a:pt x="1268" y="53"/>
                    </a:lnTo>
                    <a:lnTo>
                      <a:pt x="1121" y="14"/>
                    </a:lnTo>
                    <a:lnTo>
                      <a:pt x="1042" y="154"/>
                    </a:lnTo>
                    <a:cubicBezTo>
                      <a:pt x="1010" y="151"/>
                      <a:pt x="977" y="149"/>
                      <a:pt x="944" y="150"/>
                    </a:cubicBezTo>
                    <a:lnTo>
                      <a:pt x="882" y="0"/>
                    </a:lnTo>
                    <a:lnTo>
                      <a:pt x="733" y="22"/>
                    </a:lnTo>
                    <a:lnTo>
                      <a:pt x="716" y="185"/>
                    </a:lnTo>
                    <a:cubicBezTo>
                      <a:pt x="695" y="192"/>
                      <a:pt x="673" y="199"/>
                      <a:pt x="652" y="208"/>
                    </a:cubicBezTo>
                    <a:lnTo>
                      <a:pt x="539" y="90"/>
                    </a:lnTo>
                    <a:lnTo>
                      <a:pt x="409" y="166"/>
                    </a:lnTo>
                    <a:lnTo>
                      <a:pt x="453" y="324"/>
                    </a:lnTo>
                    <a:cubicBezTo>
                      <a:pt x="432" y="341"/>
                      <a:pt x="412" y="358"/>
                      <a:pt x="393" y="377"/>
                    </a:cubicBezTo>
                    <a:lnTo>
                      <a:pt x="244" y="310"/>
                    </a:lnTo>
                    <a:lnTo>
                      <a:pt x="152" y="431"/>
                    </a:lnTo>
                    <a:lnTo>
                      <a:pt x="252" y="559"/>
                    </a:lnTo>
                    <a:cubicBezTo>
                      <a:pt x="238" y="584"/>
                      <a:pt x="225" y="610"/>
                      <a:pt x="214" y="636"/>
                    </a:cubicBezTo>
                    <a:lnTo>
                      <a:pt x="53" y="633"/>
                    </a:lnTo>
                    <a:lnTo>
                      <a:pt x="15" y="779"/>
                    </a:lnTo>
                    <a:lnTo>
                      <a:pt x="154" y="859"/>
                    </a:lnTo>
                    <a:cubicBezTo>
                      <a:pt x="151" y="884"/>
                      <a:pt x="149" y="911"/>
                      <a:pt x="148" y="937"/>
                    </a:cubicBezTo>
                    <a:lnTo>
                      <a:pt x="0" y="993"/>
                    </a:lnTo>
                    <a:lnTo>
                      <a:pt x="20" y="1144"/>
                    </a:lnTo>
                    <a:lnTo>
                      <a:pt x="175" y="1165"/>
                    </a:lnTo>
                    <a:cubicBezTo>
                      <a:pt x="184" y="1195"/>
                      <a:pt x="193" y="1226"/>
                      <a:pt x="205" y="1256"/>
                    </a:cubicBezTo>
                    <a:lnTo>
                      <a:pt x="94" y="1363"/>
                    </a:lnTo>
                    <a:lnTo>
                      <a:pt x="170" y="1494"/>
                    </a:lnTo>
                    <a:lnTo>
                      <a:pt x="318" y="1454"/>
                    </a:lnTo>
                    <a:cubicBezTo>
                      <a:pt x="338" y="1480"/>
                      <a:pt x="359" y="1504"/>
                      <a:pt x="382" y="1527"/>
                    </a:cubicBezTo>
                    <a:lnTo>
                      <a:pt x="322" y="1667"/>
                    </a:lnTo>
                    <a:lnTo>
                      <a:pt x="443" y="1758"/>
                    </a:lnTo>
                    <a:lnTo>
                      <a:pt x="561" y="1665"/>
                    </a:lnTo>
                    <a:cubicBezTo>
                      <a:pt x="587" y="1679"/>
                      <a:pt x="613" y="1693"/>
                      <a:pt x="640" y="1704"/>
                    </a:cubicBezTo>
                    <a:lnTo>
                      <a:pt x="637" y="1853"/>
                    </a:lnTo>
                    <a:lnTo>
                      <a:pt x="784" y="1892"/>
                    </a:lnTo>
                    <a:lnTo>
                      <a:pt x="856" y="1764"/>
                    </a:lnTo>
                    <a:cubicBezTo>
                      <a:pt x="893" y="1768"/>
                      <a:pt x="930" y="1771"/>
                      <a:pt x="967" y="1770"/>
                    </a:cubicBezTo>
                    <a:lnTo>
                      <a:pt x="1023" y="1906"/>
                    </a:lnTo>
                    <a:lnTo>
                      <a:pt x="1172" y="1884"/>
                    </a:lnTo>
                    <a:lnTo>
                      <a:pt x="1187" y="1738"/>
                    </a:lnTo>
                    <a:cubicBezTo>
                      <a:pt x="1213" y="1730"/>
                      <a:pt x="1239" y="1721"/>
                      <a:pt x="1265" y="1711"/>
                    </a:cubicBezTo>
                    <a:lnTo>
                      <a:pt x="1366" y="1816"/>
                    </a:lnTo>
                    <a:lnTo>
                      <a:pt x="1496" y="1740"/>
                    </a:lnTo>
                    <a:lnTo>
                      <a:pt x="1457" y="1599"/>
                    </a:lnTo>
                    <a:cubicBezTo>
                      <a:pt x="1482" y="1579"/>
                      <a:pt x="1506" y="1558"/>
                      <a:pt x="1528" y="1536"/>
                    </a:cubicBezTo>
                    <a:lnTo>
                      <a:pt x="1661" y="1595"/>
                    </a:lnTo>
                    <a:lnTo>
                      <a:pt x="1753" y="1475"/>
                    </a:lnTo>
                    <a:lnTo>
                      <a:pt x="1662" y="1359"/>
                    </a:lnTo>
                    <a:cubicBezTo>
                      <a:pt x="1678" y="1330"/>
                      <a:pt x="1692" y="1300"/>
                      <a:pt x="1705" y="1270"/>
                    </a:cubicBezTo>
                    <a:lnTo>
                      <a:pt x="1852" y="1273"/>
                    </a:lnTo>
                    <a:lnTo>
                      <a:pt x="1890" y="1127"/>
                    </a:lnTo>
                    <a:lnTo>
                      <a:pt x="1760" y="1053"/>
                    </a:lnTo>
                    <a:cubicBezTo>
                      <a:pt x="1763" y="1024"/>
                      <a:pt x="1765" y="995"/>
                      <a:pt x="1765" y="966"/>
                    </a:cubicBezTo>
                    <a:lnTo>
                      <a:pt x="1904" y="913"/>
                    </a:lnTo>
                    <a:lnTo>
                      <a:pt x="1885" y="762"/>
                    </a:lnTo>
                    <a:lnTo>
                      <a:pt x="1734" y="742"/>
                    </a:lnTo>
                    <a:cubicBezTo>
                      <a:pt x="1725" y="710"/>
                      <a:pt x="1714" y="679"/>
                      <a:pt x="1701" y="649"/>
                    </a:cubicBezTo>
                    <a:lnTo>
                      <a:pt x="1811" y="543"/>
                    </a:lnTo>
                    <a:close/>
                    <a:moveTo>
                      <a:pt x="1350" y="876"/>
                    </a:moveTo>
                    <a:cubicBezTo>
                      <a:pt x="1291" y="906"/>
                      <a:pt x="1295" y="845"/>
                      <a:pt x="1295" y="845"/>
                    </a:cubicBezTo>
                    <a:cubicBezTo>
                      <a:pt x="1295" y="845"/>
                      <a:pt x="1299" y="825"/>
                      <a:pt x="1269" y="775"/>
                    </a:cubicBezTo>
                    <a:cubicBezTo>
                      <a:pt x="1242" y="727"/>
                      <a:pt x="1217" y="715"/>
                      <a:pt x="1217" y="715"/>
                    </a:cubicBezTo>
                    <a:cubicBezTo>
                      <a:pt x="1217" y="715"/>
                      <a:pt x="1169" y="685"/>
                      <a:pt x="1217" y="646"/>
                    </a:cubicBezTo>
                    <a:cubicBezTo>
                      <a:pt x="1279" y="597"/>
                      <a:pt x="1321" y="634"/>
                      <a:pt x="1321" y="634"/>
                    </a:cubicBezTo>
                    <a:cubicBezTo>
                      <a:pt x="1321" y="634"/>
                      <a:pt x="1360" y="662"/>
                      <a:pt x="1383" y="702"/>
                    </a:cubicBezTo>
                    <a:cubicBezTo>
                      <a:pt x="1412" y="752"/>
                      <a:pt x="1416" y="785"/>
                      <a:pt x="1416" y="785"/>
                    </a:cubicBezTo>
                    <a:cubicBezTo>
                      <a:pt x="1416" y="785"/>
                      <a:pt x="1430" y="836"/>
                      <a:pt x="1350" y="876"/>
                    </a:cubicBezTo>
                    <a:close/>
                    <a:moveTo>
                      <a:pt x="1446" y="993"/>
                    </a:moveTo>
                    <a:cubicBezTo>
                      <a:pt x="1446" y="993"/>
                      <a:pt x="1454" y="1040"/>
                      <a:pt x="1442" y="1085"/>
                    </a:cubicBezTo>
                    <a:cubicBezTo>
                      <a:pt x="1427" y="1141"/>
                      <a:pt x="1407" y="1167"/>
                      <a:pt x="1407" y="1167"/>
                    </a:cubicBezTo>
                    <a:cubicBezTo>
                      <a:pt x="1407" y="1167"/>
                      <a:pt x="1380" y="1213"/>
                      <a:pt x="1296" y="1184"/>
                    </a:cubicBezTo>
                    <a:cubicBezTo>
                      <a:pt x="1233" y="1164"/>
                      <a:pt x="1278" y="1124"/>
                      <a:pt x="1278" y="1124"/>
                    </a:cubicBezTo>
                    <a:cubicBezTo>
                      <a:pt x="1278" y="1124"/>
                      <a:pt x="1295" y="1112"/>
                      <a:pt x="1310" y="1056"/>
                    </a:cubicBezTo>
                    <a:cubicBezTo>
                      <a:pt x="1324" y="1002"/>
                      <a:pt x="1316" y="977"/>
                      <a:pt x="1316" y="977"/>
                    </a:cubicBezTo>
                    <a:cubicBezTo>
                      <a:pt x="1316" y="977"/>
                      <a:pt x="1303" y="921"/>
                      <a:pt x="1365" y="928"/>
                    </a:cubicBezTo>
                    <a:cubicBezTo>
                      <a:pt x="1443" y="937"/>
                      <a:pt x="1446" y="993"/>
                      <a:pt x="1446" y="993"/>
                    </a:cubicBezTo>
                    <a:close/>
                    <a:moveTo>
                      <a:pt x="1272" y="1321"/>
                    </a:moveTo>
                    <a:cubicBezTo>
                      <a:pt x="1272" y="1321"/>
                      <a:pt x="1244" y="1360"/>
                      <a:pt x="1203" y="1383"/>
                    </a:cubicBezTo>
                    <a:cubicBezTo>
                      <a:pt x="1153" y="1413"/>
                      <a:pt x="1120" y="1417"/>
                      <a:pt x="1120" y="1417"/>
                    </a:cubicBezTo>
                    <a:cubicBezTo>
                      <a:pt x="1120" y="1417"/>
                      <a:pt x="1069" y="1430"/>
                      <a:pt x="1030" y="1350"/>
                    </a:cubicBezTo>
                    <a:cubicBezTo>
                      <a:pt x="999" y="1292"/>
                      <a:pt x="1060" y="1296"/>
                      <a:pt x="1060" y="1296"/>
                    </a:cubicBezTo>
                    <a:cubicBezTo>
                      <a:pt x="1060" y="1296"/>
                      <a:pt x="1080" y="1299"/>
                      <a:pt x="1130" y="1270"/>
                    </a:cubicBezTo>
                    <a:cubicBezTo>
                      <a:pt x="1179" y="1242"/>
                      <a:pt x="1190" y="1218"/>
                      <a:pt x="1190" y="1218"/>
                    </a:cubicBezTo>
                    <a:cubicBezTo>
                      <a:pt x="1190" y="1218"/>
                      <a:pt x="1221" y="1169"/>
                      <a:pt x="1259" y="1218"/>
                    </a:cubicBezTo>
                    <a:cubicBezTo>
                      <a:pt x="1309" y="1279"/>
                      <a:pt x="1272" y="1321"/>
                      <a:pt x="1272" y="1321"/>
                    </a:cubicBezTo>
                    <a:close/>
                    <a:moveTo>
                      <a:pt x="971" y="1355"/>
                    </a:moveTo>
                    <a:cubicBezTo>
                      <a:pt x="962" y="1433"/>
                      <a:pt x="906" y="1436"/>
                      <a:pt x="906" y="1436"/>
                    </a:cubicBezTo>
                    <a:cubicBezTo>
                      <a:pt x="906" y="1436"/>
                      <a:pt x="859" y="1444"/>
                      <a:pt x="814" y="1432"/>
                    </a:cubicBezTo>
                    <a:cubicBezTo>
                      <a:pt x="758" y="1417"/>
                      <a:pt x="732" y="1397"/>
                      <a:pt x="732" y="1397"/>
                    </a:cubicBezTo>
                    <a:cubicBezTo>
                      <a:pt x="732" y="1397"/>
                      <a:pt x="686" y="1370"/>
                      <a:pt x="715" y="1286"/>
                    </a:cubicBezTo>
                    <a:cubicBezTo>
                      <a:pt x="735" y="1223"/>
                      <a:pt x="775" y="1268"/>
                      <a:pt x="775" y="1268"/>
                    </a:cubicBezTo>
                    <a:cubicBezTo>
                      <a:pt x="775" y="1268"/>
                      <a:pt x="787" y="1285"/>
                      <a:pt x="843" y="1300"/>
                    </a:cubicBezTo>
                    <a:cubicBezTo>
                      <a:pt x="897" y="1314"/>
                      <a:pt x="922" y="1305"/>
                      <a:pt x="922" y="1305"/>
                    </a:cubicBezTo>
                    <a:cubicBezTo>
                      <a:pt x="922" y="1305"/>
                      <a:pt x="978" y="1293"/>
                      <a:pt x="971" y="1355"/>
                    </a:cubicBezTo>
                    <a:close/>
                    <a:moveTo>
                      <a:pt x="584" y="1272"/>
                    </a:moveTo>
                    <a:cubicBezTo>
                      <a:pt x="584" y="1272"/>
                      <a:pt x="545" y="1244"/>
                      <a:pt x="522" y="1204"/>
                    </a:cubicBezTo>
                    <a:cubicBezTo>
                      <a:pt x="493" y="1154"/>
                      <a:pt x="489" y="1121"/>
                      <a:pt x="489" y="1121"/>
                    </a:cubicBezTo>
                    <a:cubicBezTo>
                      <a:pt x="489" y="1121"/>
                      <a:pt x="475" y="1070"/>
                      <a:pt x="555" y="1030"/>
                    </a:cubicBezTo>
                    <a:cubicBezTo>
                      <a:pt x="614" y="1000"/>
                      <a:pt x="610" y="1060"/>
                      <a:pt x="610" y="1060"/>
                    </a:cubicBezTo>
                    <a:cubicBezTo>
                      <a:pt x="610" y="1060"/>
                      <a:pt x="606" y="1080"/>
                      <a:pt x="636" y="1131"/>
                    </a:cubicBezTo>
                    <a:cubicBezTo>
                      <a:pt x="663" y="1179"/>
                      <a:pt x="687" y="1191"/>
                      <a:pt x="687" y="1191"/>
                    </a:cubicBezTo>
                    <a:cubicBezTo>
                      <a:pt x="687" y="1191"/>
                      <a:pt x="736" y="1221"/>
                      <a:pt x="687" y="1260"/>
                    </a:cubicBezTo>
                    <a:cubicBezTo>
                      <a:pt x="626" y="1309"/>
                      <a:pt x="584" y="1272"/>
                      <a:pt x="584" y="1272"/>
                    </a:cubicBezTo>
                    <a:close/>
                    <a:moveTo>
                      <a:pt x="451" y="917"/>
                    </a:moveTo>
                    <a:cubicBezTo>
                      <a:pt x="451" y="917"/>
                      <a:pt x="444" y="870"/>
                      <a:pt x="456" y="825"/>
                    </a:cubicBezTo>
                    <a:cubicBezTo>
                      <a:pt x="470" y="769"/>
                      <a:pt x="491" y="743"/>
                      <a:pt x="491" y="743"/>
                    </a:cubicBezTo>
                    <a:cubicBezTo>
                      <a:pt x="491" y="743"/>
                      <a:pt x="518" y="697"/>
                      <a:pt x="602" y="726"/>
                    </a:cubicBezTo>
                    <a:cubicBezTo>
                      <a:pt x="665" y="746"/>
                      <a:pt x="619" y="786"/>
                      <a:pt x="619" y="786"/>
                    </a:cubicBezTo>
                    <a:cubicBezTo>
                      <a:pt x="619" y="786"/>
                      <a:pt x="603" y="798"/>
                      <a:pt x="588" y="854"/>
                    </a:cubicBezTo>
                    <a:cubicBezTo>
                      <a:pt x="573" y="908"/>
                      <a:pt x="582" y="933"/>
                      <a:pt x="582" y="933"/>
                    </a:cubicBezTo>
                    <a:cubicBezTo>
                      <a:pt x="582" y="933"/>
                      <a:pt x="595" y="989"/>
                      <a:pt x="533" y="982"/>
                    </a:cubicBezTo>
                    <a:cubicBezTo>
                      <a:pt x="455" y="973"/>
                      <a:pt x="451" y="917"/>
                      <a:pt x="451" y="917"/>
                    </a:cubicBezTo>
                    <a:close/>
                    <a:moveTo>
                      <a:pt x="633" y="585"/>
                    </a:moveTo>
                    <a:cubicBezTo>
                      <a:pt x="633" y="585"/>
                      <a:pt x="661" y="546"/>
                      <a:pt x="702" y="522"/>
                    </a:cubicBezTo>
                    <a:cubicBezTo>
                      <a:pt x="751" y="493"/>
                      <a:pt x="784" y="489"/>
                      <a:pt x="784" y="489"/>
                    </a:cubicBezTo>
                    <a:cubicBezTo>
                      <a:pt x="784" y="489"/>
                      <a:pt x="836" y="476"/>
                      <a:pt x="875" y="556"/>
                    </a:cubicBezTo>
                    <a:cubicBezTo>
                      <a:pt x="906" y="614"/>
                      <a:pt x="845" y="610"/>
                      <a:pt x="845" y="610"/>
                    </a:cubicBezTo>
                    <a:cubicBezTo>
                      <a:pt x="845" y="610"/>
                      <a:pt x="825" y="607"/>
                      <a:pt x="774" y="636"/>
                    </a:cubicBezTo>
                    <a:cubicBezTo>
                      <a:pt x="726" y="664"/>
                      <a:pt x="715" y="688"/>
                      <a:pt x="715" y="688"/>
                    </a:cubicBezTo>
                    <a:cubicBezTo>
                      <a:pt x="715" y="688"/>
                      <a:pt x="684" y="737"/>
                      <a:pt x="645" y="688"/>
                    </a:cubicBezTo>
                    <a:cubicBezTo>
                      <a:pt x="596" y="626"/>
                      <a:pt x="633" y="585"/>
                      <a:pt x="633" y="585"/>
                    </a:cubicBezTo>
                    <a:close/>
                    <a:moveTo>
                      <a:pt x="1190" y="824"/>
                    </a:moveTo>
                    <a:cubicBezTo>
                      <a:pt x="1266" y="954"/>
                      <a:pt x="1223" y="1120"/>
                      <a:pt x="1094" y="1195"/>
                    </a:cubicBezTo>
                    <a:cubicBezTo>
                      <a:pt x="964" y="1271"/>
                      <a:pt x="798" y="1226"/>
                      <a:pt x="723" y="1096"/>
                    </a:cubicBezTo>
                    <a:cubicBezTo>
                      <a:pt x="647" y="966"/>
                      <a:pt x="690" y="800"/>
                      <a:pt x="820" y="725"/>
                    </a:cubicBezTo>
                    <a:cubicBezTo>
                      <a:pt x="949" y="649"/>
                      <a:pt x="1115" y="694"/>
                      <a:pt x="1190" y="824"/>
                    </a:cubicBezTo>
                    <a:close/>
                    <a:moveTo>
                      <a:pt x="917" y="539"/>
                    </a:moveTo>
                    <a:cubicBezTo>
                      <a:pt x="926" y="460"/>
                      <a:pt x="982" y="457"/>
                      <a:pt x="982" y="457"/>
                    </a:cubicBezTo>
                    <a:cubicBezTo>
                      <a:pt x="982" y="457"/>
                      <a:pt x="1029" y="449"/>
                      <a:pt x="1074" y="461"/>
                    </a:cubicBezTo>
                    <a:cubicBezTo>
                      <a:pt x="1130" y="476"/>
                      <a:pt x="1156" y="497"/>
                      <a:pt x="1156" y="497"/>
                    </a:cubicBezTo>
                    <a:cubicBezTo>
                      <a:pt x="1156" y="497"/>
                      <a:pt x="1202" y="523"/>
                      <a:pt x="1173" y="608"/>
                    </a:cubicBezTo>
                    <a:cubicBezTo>
                      <a:pt x="1153" y="671"/>
                      <a:pt x="1113" y="625"/>
                      <a:pt x="1113" y="625"/>
                    </a:cubicBezTo>
                    <a:cubicBezTo>
                      <a:pt x="1113" y="625"/>
                      <a:pt x="1102" y="609"/>
                      <a:pt x="1045" y="593"/>
                    </a:cubicBezTo>
                    <a:cubicBezTo>
                      <a:pt x="991" y="579"/>
                      <a:pt x="966" y="588"/>
                      <a:pt x="966" y="588"/>
                    </a:cubicBezTo>
                    <a:cubicBezTo>
                      <a:pt x="966" y="588"/>
                      <a:pt x="910" y="601"/>
                      <a:pt x="917" y="539"/>
                    </a:cubicBezTo>
                    <a:close/>
                    <a:moveTo>
                      <a:pt x="619" y="380"/>
                    </a:moveTo>
                    <a:cubicBezTo>
                      <a:pt x="303" y="564"/>
                      <a:pt x="196" y="970"/>
                      <a:pt x="380" y="1286"/>
                    </a:cubicBezTo>
                    <a:cubicBezTo>
                      <a:pt x="564" y="1603"/>
                      <a:pt x="970" y="1710"/>
                      <a:pt x="1286" y="1526"/>
                    </a:cubicBezTo>
                    <a:cubicBezTo>
                      <a:pt x="1602" y="1342"/>
                      <a:pt x="1709" y="936"/>
                      <a:pt x="1525" y="620"/>
                    </a:cubicBezTo>
                    <a:cubicBezTo>
                      <a:pt x="1341" y="303"/>
                      <a:pt x="935" y="196"/>
                      <a:pt x="619" y="380"/>
                    </a:cubicBezTo>
                    <a:close/>
                  </a:path>
                </a:pathLst>
              </a:custGeom>
              <a:solidFill>
                <a:srgbClr val="40474D">
                  <a:lumMod val="60000"/>
                  <a:lumOff val="40000"/>
                </a:srgbClr>
              </a:solidFill>
              <a:ln>
                <a:noFill/>
              </a:ln>
            </p:spPr>
            <p:txBody>
              <a:bodyPr vert="horz" wrap="square" lIns="91440" tIns="45720" rIns="91440" bIns="45720" numCol="1" anchor="t" anchorCtr="0" compatLnSpc="1"/>
              <a:lstStyle/>
              <a:p>
                <a:pPr marL="0" marR="0" lvl="0" indent="0" algn="ctr" defTabSz="914400" eaLnBrk="1" fontAlgn="base" latinLnBrk="0" hangingPunct="1">
                  <a:lnSpc>
                    <a:spcPct val="100000"/>
                  </a:lnSpc>
                  <a:spcBef>
                    <a:spcPct val="0"/>
                  </a:spcBef>
                  <a:spcAft>
                    <a:spcPct val="0"/>
                  </a:spcAft>
                  <a:buClrTx/>
                  <a:buSzTx/>
                  <a:buFont typeface="Arial" panose="020B0604020202090204" pitchFamily="34" charset="0"/>
                  <a:buNone/>
                  <a:defRPr/>
                </a:pPr>
                <a:endParaRPr kumimoji="0" lang="zh-CN" altLang="en-US" sz="2400" b="1" i="0" u="none" strike="noStrike" kern="0" cap="none" spc="0" normalizeH="0" baseline="0" noProof="0">
                  <a:ln>
                    <a:noFill/>
                  </a:ln>
                  <a:solidFill>
                    <a:srgbClr val="40474D"/>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7" name="矩形 26"/>
              <p:cNvSpPr/>
              <p:nvPr/>
            </p:nvSpPr>
            <p:spPr>
              <a:xfrm>
                <a:off x="3738296" y="3535595"/>
                <a:ext cx="1868436" cy="584775"/>
              </a:xfrm>
              <a:prstGeom prst="rect">
                <a:avLst/>
              </a:prstGeom>
            </p:spPr>
            <p:txBody>
              <a:bodyPr wrap="square">
                <a:spAutoFit/>
              </a:bodyPr>
              <a:lstStyle/>
              <a:p>
                <a:pPr algn="ctr" fontAlgn="base">
                  <a:spcBef>
                    <a:spcPct val="0"/>
                  </a:spcBef>
                  <a:spcAft>
                    <a:spcPct val="0"/>
                  </a:spcAft>
                  <a:buFont typeface="Arial" panose="020B0604020202090204" pitchFamily="34" charset="0"/>
                  <a:buNone/>
                </a:pPr>
                <a:r>
                  <a:rPr lang="zh-CN" altLang="en-US" sz="3200" b="1" dirty="0">
                    <a:solidFill>
                      <a:srgbClr val="40474D"/>
                    </a:solidFill>
                    <a:latin typeface="Times New Roman" panose="02020503050405090304" pitchFamily="18" charset="0"/>
                    <a:ea typeface="Microsoft YaHei UI" panose="020B0503020204020204" pitchFamily="34" charset="-122"/>
                    <a:cs typeface="Times New Roman" panose="02020503050405090304" pitchFamily="18" charset="0"/>
                  </a:rPr>
                  <a:t>研究不足</a:t>
                </a:r>
              </a:p>
            </p:txBody>
          </p:sp>
          <p:sp>
            <p:nvSpPr>
              <p:cNvPr id="30" name="矩形 29"/>
              <p:cNvSpPr/>
              <p:nvPr/>
            </p:nvSpPr>
            <p:spPr>
              <a:xfrm>
                <a:off x="6687131" y="3535595"/>
                <a:ext cx="1826142" cy="584775"/>
              </a:xfrm>
              <a:prstGeom prst="rect">
                <a:avLst/>
              </a:prstGeom>
            </p:spPr>
            <p:txBody>
              <a:bodyPr wrap="none">
                <a:spAutoFit/>
              </a:bodyPr>
              <a:lstStyle/>
              <a:p>
                <a:pPr algn="ctr" fontAlgn="base">
                  <a:spcBef>
                    <a:spcPct val="0"/>
                  </a:spcBef>
                  <a:spcAft>
                    <a:spcPct val="0"/>
                  </a:spcAft>
                  <a:buFont typeface="Arial" panose="020B0604020202090204" pitchFamily="34" charset="0"/>
                  <a:buNone/>
                </a:pPr>
                <a:r>
                  <a:rPr lang="zh-CN" altLang="en-US" sz="3200" b="1" dirty="0">
                    <a:solidFill>
                      <a:srgbClr val="E21E28"/>
                    </a:solidFill>
                    <a:latin typeface="Times New Roman" panose="02020503050405090304" pitchFamily="18" charset="0"/>
                    <a:ea typeface="Microsoft YaHei UI" panose="020B0503020204020204" pitchFamily="34" charset="-122"/>
                    <a:cs typeface="Times New Roman" panose="02020503050405090304" pitchFamily="18" charset="0"/>
                  </a:rPr>
                  <a:t>优化目标</a:t>
                </a:r>
              </a:p>
            </p:txBody>
          </p:sp>
        </p:grpSp>
      </p:grpSp>
      <p:grpSp>
        <p:nvGrpSpPr>
          <p:cNvPr id="68" name="组合 67"/>
          <p:cNvGrpSpPr/>
          <p:nvPr/>
        </p:nvGrpSpPr>
        <p:grpSpPr>
          <a:xfrm>
            <a:off x="8547058" y="1393498"/>
            <a:ext cx="3439180" cy="956939"/>
            <a:chOff x="8612681" y="1318911"/>
            <a:chExt cx="3439180" cy="956939"/>
          </a:xfrm>
        </p:grpSpPr>
        <p:grpSp>
          <p:nvGrpSpPr>
            <p:cNvPr id="41" name="组合 40"/>
            <p:cNvGrpSpPr/>
            <p:nvPr/>
          </p:nvGrpSpPr>
          <p:grpSpPr>
            <a:xfrm>
              <a:off x="8612681" y="2066772"/>
              <a:ext cx="3196233" cy="209078"/>
              <a:chOff x="6968561" y="1713295"/>
              <a:chExt cx="3196233" cy="209078"/>
            </a:xfrm>
          </p:grpSpPr>
          <p:cxnSp>
            <p:nvCxnSpPr>
              <p:cNvPr id="42" name="直接连接符 22"/>
              <p:cNvCxnSpPr/>
              <p:nvPr/>
            </p:nvCxnSpPr>
            <p:spPr>
              <a:xfrm flipV="1">
                <a:off x="6968561" y="1713295"/>
                <a:ext cx="62985" cy="20907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直接连接符 23"/>
              <p:cNvCxnSpPr/>
              <p:nvPr/>
            </p:nvCxnSpPr>
            <p:spPr>
              <a:xfrm>
                <a:off x="7029165" y="1720438"/>
                <a:ext cx="313562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67" name="文本框 66"/>
            <p:cNvSpPr txBox="1"/>
            <p:nvPr/>
          </p:nvSpPr>
          <p:spPr>
            <a:xfrm>
              <a:off x="8673284" y="1318911"/>
              <a:ext cx="3378577" cy="707886"/>
            </a:xfrm>
            <a:prstGeom prst="rect">
              <a:avLst/>
            </a:prstGeom>
            <a:noFill/>
            <a:ln w="19050">
              <a:noFill/>
            </a:ln>
          </p:spPr>
          <p:txBody>
            <a:bodyPr wrap="square">
              <a:spAutoFit/>
            </a:bodyPr>
            <a:lstStyle/>
            <a:p>
              <a:pPr algn="ct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探索炎症指标与肺结核不良预后风险潜在非线性关联</a:t>
              </a:r>
            </a:p>
          </p:txBody>
        </p:sp>
      </p:grpSp>
      <p:grpSp>
        <p:nvGrpSpPr>
          <p:cNvPr id="69" name="组合 68"/>
          <p:cNvGrpSpPr/>
          <p:nvPr/>
        </p:nvGrpSpPr>
        <p:grpSpPr>
          <a:xfrm>
            <a:off x="8969066" y="3093758"/>
            <a:ext cx="3035721" cy="758135"/>
            <a:chOff x="557782" y="2613884"/>
            <a:chExt cx="3035721" cy="758135"/>
          </a:xfrm>
        </p:grpSpPr>
        <p:cxnSp>
          <p:nvCxnSpPr>
            <p:cNvPr id="70" name="直接连接符 23"/>
            <p:cNvCxnSpPr/>
            <p:nvPr/>
          </p:nvCxnSpPr>
          <p:spPr>
            <a:xfrm flipH="1">
              <a:off x="702991" y="3372019"/>
              <a:ext cx="256603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1" name="文本框 70"/>
            <p:cNvSpPr txBox="1"/>
            <p:nvPr/>
          </p:nvSpPr>
          <p:spPr>
            <a:xfrm>
              <a:off x="557782" y="2613884"/>
              <a:ext cx="3035721" cy="707886"/>
            </a:xfrm>
            <a:prstGeom prst="rect">
              <a:avLst/>
            </a:prstGeom>
            <a:noFill/>
            <a:ln w="19050">
              <a:noFill/>
            </a:ln>
          </p:spPr>
          <p:txBody>
            <a:bodyPr wrap="square">
              <a:spAutoFit/>
            </a:bodyPr>
            <a:lstStyle/>
            <a:p>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评估炎症指标对基于传统指标预后模型的优化效果</a:t>
              </a:r>
            </a:p>
          </p:txBody>
        </p:sp>
      </p:grpSp>
      <p:grpSp>
        <p:nvGrpSpPr>
          <p:cNvPr id="72" name="组合 71"/>
          <p:cNvGrpSpPr/>
          <p:nvPr/>
        </p:nvGrpSpPr>
        <p:grpSpPr>
          <a:xfrm>
            <a:off x="9027567" y="2204201"/>
            <a:ext cx="2958671" cy="736924"/>
            <a:chOff x="578790" y="2635095"/>
            <a:chExt cx="2958671" cy="736924"/>
          </a:xfrm>
        </p:grpSpPr>
        <p:cxnSp>
          <p:nvCxnSpPr>
            <p:cNvPr id="73" name="直接连接符 23"/>
            <p:cNvCxnSpPr/>
            <p:nvPr/>
          </p:nvCxnSpPr>
          <p:spPr>
            <a:xfrm flipH="1">
              <a:off x="603862" y="3372019"/>
              <a:ext cx="2857308"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74" name="文本框 73"/>
            <p:cNvSpPr txBox="1"/>
            <p:nvPr/>
          </p:nvSpPr>
          <p:spPr>
            <a:xfrm>
              <a:off x="578790" y="2635095"/>
              <a:ext cx="2958671" cy="707886"/>
            </a:xfrm>
            <a:prstGeom prst="rect">
              <a:avLst/>
            </a:prstGeom>
            <a:noFill/>
            <a:ln w="19050">
              <a:noFill/>
            </a:ln>
          </p:spPr>
          <p:txBody>
            <a:bodyPr wrap="square">
              <a:spAutoFit/>
            </a:bodyPr>
            <a:lstStyle/>
            <a:p>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探讨炎症指标与肺结核预后关联的人群异质性 </a:t>
              </a:r>
            </a:p>
          </p:txBody>
        </p:sp>
      </p:grpSp>
      <p:grpSp>
        <p:nvGrpSpPr>
          <p:cNvPr id="75" name="组合 74"/>
          <p:cNvGrpSpPr/>
          <p:nvPr/>
        </p:nvGrpSpPr>
        <p:grpSpPr>
          <a:xfrm>
            <a:off x="8547058" y="4628555"/>
            <a:ext cx="3143789" cy="717779"/>
            <a:chOff x="492359" y="4397681"/>
            <a:chExt cx="3143789" cy="717779"/>
          </a:xfrm>
        </p:grpSpPr>
        <p:grpSp>
          <p:nvGrpSpPr>
            <p:cNvPr id="76" name="组合 75"/>
            <p:cNvGrpSpPr/>
            <p:nvPr/>
          </p:nvGrpSpPr>
          <p:grpSpPr>
            <a:xfrm flipH="1" flipV="1">
              <a:off x="492359" y="4893208"/>
              <a:ext cx="3143789" cy="222252"/>
              <a:chOff x="7029165" y="1700121"/>
              <a:chExt cx="3143789" cy="222252"/>
            </a:xfrm>
          </p:grpSpPr>
          <p:cxnSp>
            <p:nvCxnSpPr>
              <p:cNvPr id="78" name="直接连接符 22"/>
              <p:cNvCxnSpPr/>
              <p:nvPr/>
            </p:nvCxnSpPr>
            <p:spPr>
              <a:xfrm flipH="1" flipV="1">
                <a:off x="10109969" y="1713295"/>
                <a:ext cx="62985" cy="20907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9" name="直接连接符 23"/>
              <p:cNvCxnSpPr/>
              <p:nvPr/>
            </p:nvCxnSpPr>
            <p:spPr>
              <a:xfrm flipH="1" flipV="1">
                <a:off x="7029165" y="1700121"/>
                <a:ext cx="3074271" cy="20317"/>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77" name="文本框 76"/>
            <p:cNvSpPr txBox="1"/>
            <p:nvPr/>
          </p:nvSpPr>
          <p:spPr>
            <a:xfrm>
              <a:off x="713837" y="4397681"/>
              <a:ext cx="2686222" cy="707886"/>
            </a:xfrm>
            <a:prstGeom prst="rect">
              <a:avLst/>
            </a:prstGeom>
            <a:noFill/>
            <a:ln w="19050">
              <a:noFill/>
            </a:ln>
          </p:spPr>
          <p:txBody>
            <a:bodyPr wrap="square">
              <a:spAutoFit/>
            </a:bodyPr>
            <a:lstStyle/>
            <a:p>
              <a:pPr algn="ct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探究常见数据平衡</a:t>
              </a:r>
              <a:endParaRPr lang="en-US" altLang="zh-CN" sz="2000" b="1" dirty="0">
                <a:latin typeface="Times New Roman" panose="02020503050405090304" pitchFamily="18" charset="0"/>
                <a:ea typeface="Microsoft YaHei UI" panose="020B0503020204020204" pitchFamily="34" charset="-122"/>
                <a:cs typeface="Times New Roman" panose="02020503050405090304" pitchFamily="18" charset="0"/>
              </a:endParaRPr>
            </a:p>
            <a:p>
              <a:pPr algn="ctr"/>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策略对模型优化效果</a:t>
              </a:r>
            </a:p>
          </p:txBody>
        </p:sp>
      </p:grpSp>
      <p:grpSp>
        <p:nvGrpSpPr>
          <p:cNvPr id="2" name="组合 1"/>
          <p:cNvGrpSpPr/>
          <p:nvPr/>
        </p:nvGrpSpPr>
        <p:grpSpPr>
          <a:xfrm>
            <a:off x="-80276" y="-309462"/>
            <a:ext cx="12272277" cy="991435"/>
            <a:chOff x="-80276" y="-309462"/>
            <a:chExt cx="12272277" cy="991435"/>
          </a:xfrm>
        </p:grpSpPr>
        <p:sp>
          <p:nvSpPr>
            <p:cNvPr id="3"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 name="矩形 23"/>
            <p:cNvSpPr/>
            <p:nvPr/>
          </p:nvSpPr>
          <p:spPr>
            <a:xfrm>
              <a:off x="2566711" y="-28981"/>
              <a:ext cx="1827768"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 name="TextBox 6"/>
            <p:cNvSpPr txBox="1"/>
            <p:nvPr/>
          </p:nvSpPr>
          <p:spPr>
            <a:xfrm>
              <a:off x="2531994" y="26782"/>
              <a:ext cx="1897201"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sp>
          <p:nvSpPr>
            <p:cNvPr id="6" name="TextBox 9"/>
            <p:cNvSpPr txBox="1"/>
            <p:nvPr/>
          </p:nvSpPr>
          <p:spPr>
            <a:xfrm>
              <a:off x="499703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pic>
          <p:nvPicPr>
            <p:cNvPr id="8"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9" name="TextBox 9"/>
            <p:cNvSpPr txBox="1"/>
            <p:nvPr/>
          </p:nvSpPr>
          <p:spPr>
            <a:xfrm>
              <a:off x="740329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10"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14" name="灯片编号占位符 21"/>
          <p:cNvSpPr>
            <a:spLocks noGrp="1"/>
          </p:cNvSpPr>
          <p:nvPr>
            <p:ph type="sldNum" sz="quarter" idx="12"/>
          </p:nvPr>
        </p:nvSpPr>
        <p:spPr>
          <a:xfrm>
            <a:off x="8610600" y="6356350"/>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10</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7" name="组合 6"/>
          <p:cNvGrpSpPr/>
          <p:nvPr/>
        </p:nvGrpSpPr>
        <p:grpSpPr>
          <a:xfrm>
            <a:off x="172873" y="4024847"/>
            <a:ext cx="3072384" cy="448714"/>
            <a:chOff x="483928" y="2962053"/>
            <a:chExt cx="3072384" cy="448714"/>
          </a:xfrm>
        </p:grpSpPr>
        <p:cxnSp>
          <p:nvCxnSpPr>
            <p:cNvPr id="11" name="直接连接符 23"/>
            <p:cNvCxnSpPr/>
            <p:nvPr/>
          </p:nvCxnSpPr>
          <p:spPr>
            <a:xfrm rot="60000" flipH="1">
              <a:off x="483928" y="3372019"/>
              <a:ext cx="2977242" cy="38748"/>
            </a:xfrm>
            <a:prstGeom prst="line">
              <a:avLst/>
            </a:prstGeom>
            <a:ln w="381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文本框 11"/>
            <p:cNvSpPr txBox="1"/>
            <p:nvPr/>
          </p:nvSpPr>
          <p:spPr>
            <a:xfrm>
              <a:off x="512556" y="2962053"/>
              <a:ext cx="3043756" cy="400110"/>
            </a:xfrm>
            <a:prstGeom prst="rect">
              <a:avLst/>
            </a:prstGeom>
            <a:noFill/>
            <a:ln w="19050">
              <a:noFill/>
            </a:ln>
          </p:spPr>
          <p:txBody>
            <a:bodyPr wrap="square">
              <a:spAutoFit/>
            </a:bodyPr>
            <a:lstStyle/>
            <a:p>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非线性建模算法应用有限</a:t>
              </a:r>
            </a:p>
          </p:txBody>
        </p:sp>
      </p:grpSp>
      <p:grpSp>
        <p:nvGrpSpPr>
          <p:cNvPr id="26" name="组合 25"/>
          <p:cNvGrpSpPr/>
          <p:nvPr/>
        </p:nvGrpSpPr>
        <p:grpSpPr>
          <a:xfrm>
            <a:off x="9019435" y="4024847"/>
            <a:ext cx="2636772" cy="440764"/>
            <a:chOff x="702991" y="2931255"/>
            <a:chExt cx="2636772" cy="440764"/>
          </a:xfrm>
        </p:grpSpPr>
        <p:cxnSp>
          <p:nvCxnSpPr>
            <p:cNvPr id="28" name="直接连接符 23"/>
            <p:cNvCxnSpPr/>
            <p:nvPr/>
          </p:nvCxnSpPr>
          <p:spPr>
            <a:xfrm flipH="1">
              <a:off x="702991" y="3372019"/>
              <a:ext cx="2566031"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807374" y="2931255"/>
              <a:ext cx="2532389" cy="400110"/>
            </a:xfrm>
            <a:prstGeom prst="rect">
              <a:avLst/>
            </a:prstGeom>
            <a:noFill/>
            <a:ln w="19050">
              <a:noFill/>
            </a:ln>
          </p:spPr>
          <p:txBody>
            <a:bodyPr wrap="square">
              <a:spAutoFit/>
            </a:bodyPr>
            <a:lstStyle/>
            <a:p>
              <a:r>
                <a:rPr lang="zh-CN" altLang="en-US" sz="2000" b="1" dirty="0">
                  <a:latin typeface="Times New Roman" panose="02020503050405090304" pitchFamily="18" charset="0"/>
                  <a:ea typeface="Microsoft YaHei UI" panose="020B0503020204020204" pitchFamily="34" charset="-122"/>
                  <a:cs typeface="Times New Roman" panose="02020503050405090304" pitchFamily="18" charset="0"/>
                </a:rPr>
                <a:t>应用非线性建模方法</a:t>
              </a: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0"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898105"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3895" y="6098701"/>
            <a:ext cx="1661419" cy="759299"/>
          </a:xfrm>
          <a:prstGeom prst="rect">
            <a:avLst/>
          </a:prstGeom>
        </p:spPr>
      </p:pic>
      <p:sp>
        <p:nvSpPr>
          <p:cNvPr id="58" name="TextBox 57"/>
          <p:cNvSpPr txBox="1"/>
          <p:nvPr/>
        </p:nvSpPr>
        <p:spPr>
          <a:xfrm>
            <a:off x="1188700" y="3873649"/>
            <a:ext cx="612502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01</a:t>
            </a:r>
            <a:endParaRPr kumimoji="0" lang="zh-CN" altLang="en-US" sz="4800" b="1" i="0" u="none" strike="noStrike" kern="120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pic>
        <p:nvPicPr>
          <p:cNvPr id="59"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10653" b="40175"/>
          <a:stretch>
            <a:fillRect/>
          </a:stretch>
        </p:blipFill>
        <p:spPr bwMode="auto">
          <a:xfrm>
            <a:off x="-15529" y="1639152"/>
            <a:ext cx="12207529" cy="3373395"/>
          </a:xfrm>
          <a:prstGeom prst="rect">
            <a:avLst/>
          </a:prstGeom>
          <a:noFill/>
          <a:extLst>
            <a:ext uri="{909E8E84-426E-40DD-AFC4-6F175D3DCCD1}">
              <a14:hiddenFill xmlns:a14="http://schemas.microsoft.com/office/drawing/2010/main">
                <a:solidFill>
                  <a:srgbClr val="FFFFFF"/>
                </a:solidFill>
              </a14:hiddenFill>
            </a:ext>
          </a:extLst>
        </p:spPr>
      </p:pic>
      <p:sp>
        <p:nvSpPr>
          <p:cNvPr id="60" name="矩形 7"/>
          <p:cNvSpPr/>
          <p:nvPr/>
        </p:nvSpPr>
        <p:spPr>
          <a:xfrm flipH="1">
            <a:off x="-14289" y="1639152"/>
            <a:ext cx="12207529" cy="3373395"/>
          </a:xfrm>
          <a:prstGeom prst="rect">
            <a:avLst/>
          </a:prstGeom>
          <a:gradFill>
            <a:gsLst>
              <a:gs pos="0">
                <a:srgbClr val="014723"/>
              </a:gs>
              <a:gs pos="100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054" name="Group 2053"/>
          <p:cNvGrpSpPr>
            <a:grpSpLocks noChangeAspect="1"/>
          </p:cNvGrpSpPr>
          <p:nvPr/>
        </p:nvGrpSpPr>
        <p:grpSpPr>
          <a:xfrm>
            <a:off x="275244" y="1726719"/>
            <a:ext cx="3198260" cy="3198260"/>
            <a:chOff x="3193843" y="537003"/>
            <a:chExt cx="5783995" cy="5783995"/>
          </a:xfrm>
        </p:grpSpPr>
        <p:grpSp>
          <p:nvGrpSpPr>
            <p:cNvPr id="62" name="组合 4"/>
            <p:cNvGrpSpPr/>
            <p:nvPr/>
          </p:nvGrpSpPr>
          <p:grpSpPr>
            <a:xfrm>
              <a:off x="3193843" y="537003"/>
              <a:ext cx="5783995" cy="5783995"/>
              <a:chOff x="4547908" y="1880907"/>
              <a:chExt cx="3096184" cy="3096184"/>
            </a:xfrm>
            <a:solidFill>
              <a:schemeClr val="accent1"/>
            </a:solidFill>
          </p:grpSpPr>
          <p:sp>
            <p:nvSpPr>
              <p:cNvPr id="63" name="Freeform 8"/>
              <p:cNvSpPr/>
              <p:nvPr/>
            </p:nvSpPr>
            <p:spPr bwMode="auto">
              <a:xfrm rot="20822727">
                <a:off x="4711700" y="2044699"/>
                <a:ext cx="2768600" cy="2768600"/>
              </a:xfrm>
              <a:custGeom>
                <a:avLst/>
                <a:gdLst>
                  <a:gd name="T0" fmla="*/ 18 w 1811"/>
                  <a:gd name="T1" fmla="*/ 1151 h 1812"/>
                  <a:gd name="T2" fmla="*/ 9 w 1811"/>
                  <a:gd name="T3" fmla="*/ 975 h 1812"/>
                  <a:gd name="T4" fmla="*/ 44 w 1811"/>
                  <a:gd name="T5" fmla="*/ 838 h 1812"/>
                  <a:gd name="T6" fmla="*/ 146 w 1811"/>
                  <a:gd name="T7" fmla="*/ 456 h 1812"/>
                  <a:gd name="T8" fmla="*/ 205 w 1811"/>
                  <a:gd name="T9" fmla="*/ 309 h 1812"/>
                  <a:gd name="T10" fmla="*/ 417 w 1811"/>
                  <a:gd name="T11" fmla="*/ 155 h 1812"/>
                  <a:gd name="T12" fmla="*/ 897 w 1811"/>
                  <a:gd name="T13" fmla="*/ 26 h 1812"/>
                  <a:gd name="T14" fmla="*/ 959 w 1811"/>
                  <a:gd name="T15" fmla="*/ 11 h 1812"/>
                  <a:gd name="T16" fmla="*/ 1101 w 1811"/>
                  <a:gd name="T17" fmla="*/ 0 h 1812"/>
                  <a:gd name="T18" fmla="*/ 1299 w 1811"/>
                  <a:gd name="T19" fmla="*/ 90 h 1812"/>
                  <a:gd name="T20" fmla="*/ 1303 w 1811"/>
                  <a:gd name="T21" fmla="*/ 98 h 1812"/>
                  <a:gd name="T22" fmla="*/ 1407 w 1811"/>
                  <a:gd name="T23" fmla="*/ 203 h 1812"/>
                  <a:gd name="T24" fmla="*/ 1609 w 1811"/>
                  <a:gd name="T25" fmla="*/ 404 h 1812"/>
                  <a:gd name="T26" fmla="*/ 1692 w 1811"/>
                  <a:gd name="T27" fmla="*/ 486 h 1812"/>
                  <a:gd name="T28" fmla="*/ 1721 w 1811"/>
                  <a:gd name="T29" fmla="*/ 513 h 1812"/>
                  <a:gd name="T30" fmla="*/ 1798 w 1811"/>
                  <a:gd name="T31" fmla="*/ 648 h 1812"/>
                  <a:gd name="T32" fmla="*/ 1802 w 1811"/>
                  <a:gd name="T33" fmla="*/ 667 h 1812"/>
                  <a:gd name="T34" fmla="*/ 1810 w 1811"/>
                  <a:gd name="T35" fmla="*/ 762 h 1812"/>
                  <a:gd name="T36" fmla="*/ 1807 w 1811"/>
                  <a:gd name="T37" fmla="*/ 839 h 1812"/>
                  <a:gd name="T38" fmla="*/ 1770 w 1811"/>
                  <a:gd name="T39" fmla="*/ 980 h 1812"/>
                  <a:gd name="T40" fmla="*/ 1706 w 1811"/>
                  <a:gd name="T41" fmla="*/ 1215 h 1812"/>
                  <a:gd name="T42" fmla="*/ 1703 w 1811"/>
                  <a:gd name="T43" fmla="*/ 1222 h 1812"/>
                  <a:gd name="T44" fmla="*/ 1675 w 1811"/>
                  <a:gd name="T45" fmla="*/ 1335 h 1812"/>
                  <a:gd name="T46" fmla="*/ 1539 w 1811"/>
                  <a:gd name="T47" fmla="*/ 1580 h 1812"/>
                  <a:gd name="T48" fmla="*/ 1380 w 1811"/>
                  <a:gd name="T49" fmla="*/ 1660 h 1812"/>
                  <a:gd name="T50" fmla="*/ 1273 w 1811"/>
                  <a:gd name="T51" fmla="*/ 1686 h 1812"/>
                  <a:gd name="T52" fmla="*/ 1271 w 1811"/>
                  <a:gd name="T53" fmla="*/ 1690 h 1812"/>
                  <a:gd name="T54" fmla="*/ 1090 w 1811"/>
                  <a:gd name="T55" fmla="*/ 1736 h 1812"/>
                  <a:gd name="T56" fmla="*/ 856 w 1811"/>
                  <a:gd name="T57" fmla="*/ 1800 h 1812"/>
                  <a:gd name="T58" fmla="*/ 840 w 1811"/>
                  <a:gd name="T59" fmla="*/ 1801 h 1812"/>
                  <a:gd name="T60" fmla="*/ 675 w 1811"/>
                  <a:gd name="T61" fmla="*/ 1798 h 1812"/>
                  <a:gd name="T62" fmla="*/ 575 w 1811"/>
                  <a:gd name="T63" fmla="*/ 1757 h 1812"/>
                  <a:gd name="T64" fmla="*/ 415 w 1811"/>
                  <a:gd name="T65" fmla="*/ 1618 h 1812"/>
                  <a:gd name="T66" fmla="*/ 406 w 1811"/>
                  <a:gd name="T67" fmla="*/ 1603 h 1812"/>
                  <a:gd name="T68" fmla="*/ 212 w 1811"/>
                  <a:gd name="T69" fmla="*/ 1409 h 1812"/>
                  <a:gd name="T70" fmla="*/ 197 w 1811"/>
                  <a:gd name="T71" fmla="*/ 1400 h 1812"/>
                  <a:gd name="T72" fmla="*/ 81 w 1811"/>
                  <a:gd name="T73" fmla="*/ 1277 h 1812"/>
                  <a:gd name="T74" fmla="*/ 18 w 1811"/>
                  <a:gd name="T75" fmla="*/ 1151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1" h="1812">
                    <a:moveTo>
                      <a:pt x="18" y="1151"/>
                    </a:moveTo>
                    <a:cubicBezTo>
                      <a:pt x="0" y="1093"/>
                      <a:pt x="1" y="1034"/>
                      <a:pt x="9" y="975"/>
                    </a:cubicBezTo>
                    <a:cubicBezTo>
                      <a:pt x="21" y="930"/>
                      <a:pt x="32" y="884"/>
                      <a:pt x="44" y="838"/>
                    </a:cubicBezTo>
                    <a:cubicBezTo>
                      <a:pt x="78" y="711"/>
                      <a:pt x="112" y="584"/>
                      <a:pt x="146" y="456"/>
                    </a:cubicBezTo>
                    <a:cubicBezTo>
                      <a:pt x="160" y="404"/>
                      <a:pt x="176" y="354"/>
                      <a:pt x="205" y="309"/>
                    </a:cubicBezTo>
                    <a:cubicBezTo>
                      <a:pt x="257" y="231"/>
                      <a:pt x="328" y="179"/>
                      <a:pt x="417" y="155"/>
                    </a:cubicBezTo>
                    <a:cubicBezTo>
                      <a:pt x="576" y="110"/>
                      <a:pt x="737" y="69"/>
                      <a:pt x="897" y="26"/>
                    </a:cubicBezTo>
                    <a:cubicBezTo>
                      <a:pt x="917" y="21"/>
                      <a:pt x="938" y="16"/>
                      <a:pt x="959" y="11"/>
                    </a:cubicBezTo>
                    <a:cubicBezTo>
                      <a:pt x="1006" y="7"/>
                      <a:pt x="1054" y="4"/>
                      <a:pt x="1101" y="0"/>
                    </a:cubicBezTo>
                    <a:cubicBezTo>
                      <a:pt x="1176" y="10"/>
                      <a:pt x="1240" y="44"/>
                      <a:pt x="1299" y="90"/>
                    </a:cubicBezTo>
                    <a:cubicBezTo>
                      <a:pt x="1300" y="93"/>
                      <a:pt x="1301" y="96"/>
                      <a:pt x="1303" y="98"/>
                    </a:cubicBezTo>
                    <a:cubicBezTo>
                      <a:pt x="1338" y="133"/>
                      <a:pt x="1372" y="168"/>
                      <a:pt x="1407" y="203"/>
                    </a:cubicBezTo>
                    <a:cubicBezTo>
                      <a:pt x="1474" y="270"/>
                      <a:pt x="1541" y="337"/>
                      <a:pt x="1609" y="404"/>
                    </a:cubicBezTo>
                    <a:cubicBezTo>
                      <a:pt x="1636" y="431"/>
                      <a:pt x="1664" y="459"/>
                      <a:pt x="1692" y="486"/>
                    </a:cubicBezTo>
                    <a:cubicBezTo>
                      <a:pt x="1702" y="495"/>
                      <a:pt x="1711" y="504"/>
                      <a:pt x="1721" y="513"/>
                    </a:cubicBezTo>
                    <a:cubicBezTo>
                      <a:pt x="1753" y="554"/>
                      <a:pt x="1783" y="597"/>
                      <a:pt x="1798" y="648"/>
                    </a:cubicBezTo>
                    <a:cubicBezTo>
                      <a:pt x="1800" y="654"/>
                      <a:pt x="1801" y="661"/>
                      <a:pt x="1802" y="667"/>
                    </a:cubicBezTo>
                    <a:cubicBezTo>
                      <a:pt x="1805" y="699"/>
                      <a:pt x="1809" y="730"/>
                      <a:pt x="1810" y="762"/>
                    </a:cubicBezTo>
                    <a:cubicBezTo>
                      <a:pt x="1811" y="787"/>
                      <a:pt x="1808" y="813"/>
                      <a:pt x="1807" y="839"/>
                    </a:cubicBezTo>
                    <a:cubicBezTo>
                      <a:pt x="1794" y="886"/>
                      <a:pt x="1782" y="933"/>
                      <a:pt x="1770" y="980"/>
                    </a:cubicBezTo>
                    <a:cubicBezTo>
                      <a:pt x="1749" y="1058"/>
                      <a:pt x="1727" y="1136"/>
                      <a:pt x="1706" y="1215"/>
                    </a:cubicBezTo>
                    <a:cubicBezTo>
                      <a:pt x="1705" y="1217"/>
                      <a:pt x="1704" y="1220"/>
                      <a:pt x="1703" y="1222"/>
                    </a:cubicBezTo>
                    <a:cubicBezTo>
                      <a:pt x="1693" y="1259"/>
                      <a:pt x="1684" y="1297"/>
                      <a:pt x="1675" y="1335"/>
                    </a:cubicBezTo>
                    <a:cubicBezTo>
                      <a:pt x="1655" y="1430"/>
                      <a:pt x="1615" y="1515"/>
                      <a:pt x="1539" y="1580"/>
                    </a:cubicBezTo>
                    <a:cubicBezTo>
                      <a:pt x="1492" y="1619"/>
                      <a:pt x="1438" y="1644"/>
                      <a:pt x="1380" y="1660"/>
                    </a:cubicBezTo>
                    <a:cubicBezTo>
                      <a:pt x="1344" y="1668"/>
                      <a:pt x="1309" y="1677"/>
                      <a:pt x="1273" y="1686"/>
                    </a:cubicBezTo>
                    <a:cubicBezTo>
                      <a:pt x="1272" y="1686"/>
                      <a:pt x="1271" y="1689"/>
                      <a:pt x="1271" y="1690"/>
                    </a:cubicBezTo>
                    <a:cubicBezTo>
                      <a:pt x="1210" y="1705"/>
                      <a:pt x="1150" y="1720"/>
                      <a:pt x="1090" y="1736"/>
                    </a:cubicBezTo>
                    <a:cubicBezTo>
                      <a:pt x="1012" y="1757"/>
                      <a:pt x="934" y="1778"/>
                      <a:pt x="856" y="1800"/>
                    </a:cubicBezTo>
                    <a:cubicBezTo>
                      <a:pt x="851" y="1800"/>
                      <a:pt x="845" y="1799"/>
                      <a:pt x="840" y="1801"/>
                    </a:cubicBezTo>
                    <a:cubicBezTo>
                      <a:pt x="785" y="1812"/>
                      <a:pt x="730" y="1810"/>
                      <a:pt x="675" y="1798"/>
                    </a:cubicBezTo>
                    <a:cubicBezTo>
                      <a:pt x="641" y="1785"/>
                      <a:pt x="606" y="1774"/>
                      <a:pt x="575" y="1757"/>
                    </a:cubicBezTo>
                    <a:cubicBezTo>
                      <a:pt x="511" y="1723"/>
                      <a:pt x="466" y="1667"/>
                      <a:pt x="415" y="1618"/>
                    </a:cubicBezTo>
                    <a:cubicBezTo>
                      <a:pt x="412" y="1613"/>
                      <a:pt x="410" y="1607"/>
                      <a:pt x="406" y="1603"/>
                    </a:cubicBezTo>
                    <a:cubicBezTo>
                      <a:pt x="342" y="1538"/>
                      <a:pt x="277" y="1473"/>
                      <a:pt x="212" y="1409"/>
                    </a:cubicBezTo>
                    <a:cubicBezTo>
                      <a:pt x="208" y="1405"/>
                      <a:pt x="202" y="1403"/>
                      <a:pt x="197" y="1400"/>
                    </a:cubicBezTo>
                    <a:cubicBezTo>
                      <a:pt x="158" y="1359"/>
                      <a:pt x="118" y="1320"/>
                      <a:pt x="81" y="1277"/>
                    </a:cubicBezTo>
                    <a:cubicBezTo>
                      <a:pt x="50" y="1241"/>
                      <a:pt x="29" y="1198"/>
                      <a:pt x="18" y="1151"/>
                    </a:cubicBezTo>
                    <a:close/>
                  </a:path>
                </a:pathLst>
              </a:custGeom>
              <a:solidFill>
                <a:schemeClr val="bg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sp>
            <p:nvSpPr>
              <p:cNvPr id="2048" name="Freeform 8"/>
              <p:cNvSpPr/>
              <p:nvPr/>
            </p:nvSpPr>
            <p:spPr bwMode="auto">
              <a:xfrm rot="20822727">
                <a:off x="4547908" y="1880907"/>
                <a:ext cx="3096184" cy="3096184"/>
              </a:xfrm>
              <a:custGeom>
                <a:avLst/>
                <a:gdLst>
                  <a:gd name="T0" fmla="*/ 18 w 1811"/>
                  <a:gd name="T1" fmla="*/ 1151 h 1812"/>
                  <a:gd name="T2" fmla="*/ 9 w 1811"/>
                  <a:gd name="T3" fmla="*/ 975 h 1812"/>
                  <a:gd name="T4" fmla="*/ 44 w 1811"/>
                  <a:gd name="T5" fmla="*/ 838 h 1812"/>
                  <a:gd name="T6" fmla="*/ 146 w 1811"/>
                  <a:gd name="T7" fmla="*/ 456 h 1812"/>
                  <a:gd name="T8" fmla="*/ 205 w 1811"/>
                  <a:gd name="T9" fmla="*/ 309 h 1812"/>
                  <a:gd name="T10" fmla="*/ 417 w 1811"/>
                  <a:gd name="T11" fmla="*/ 155 h 1812"/>
                  <a:gd name="T12" fmla="*/ 897 w 1811"/>
                  <a:gd name="T13" fmla="*/ 26 h 1812"/>
                  <a:gd name="T14" fmla="*/ 959 w 1811"/>
                  <a:gd name="T15" fmla="*/ 11 h 1812"/>
                  <a:gd name="T16" fmla="*/ 1101 w 1811"/>
                  <a:gd name="T17" fmla="*/ 0 h 1812"/>
                  <a:gd name="T18" fmla="*/ 1299 w 1811"/>
                  <a:gd name="T19" fmla="*/ 90 h 1812"/>
                  <a:gd name="T20" fmla="*/ 1303 w 1811"/>
                  <a:gd name="T21" fmla="*/ 98 h 1812"/>
                  <a:gd name="T22" fmla="*/ 1407 w 1811"/>
                  <a:gd name="T23" fmla="*/ 203 h 1812"/>
                  <a:gd name="T24" fmla="*/ 1609 w 1811"/>
                  <a:gd name="T25" fmla="*/ 404 h 1812"/>
                  <a:gd name="T26" fmla="*/ 1692 w 1811"/>
                  <a:gd name="T27" fmla="*/ 486 h 1812"/>
                  <a:gd name="T28" fmla="*/ 1721 w 1811"/>
                  <a:gd name="T29" fmla="*/ 513 h 1812"/>
                  <a:gd name="T30" fmla="*/ 1798 w 1811"/>
                  <a:gd name="T31" fmla="*/ 648 h 1812"/>
                  <a:gd name="T32" fmla="*/ 1802 w 1811"/>
                  <a:gd name="T33" fmla="*/ 667 h 1812"/>
                  <a:gd name="T34" fmla="*/ 1810 w 1811"/>
                  <a:gd name="T35" fmla="*/ 762 h 1812"/>
                  <a:gd name="T36" fmla="*/ 1807 w 1811"/>
                  <a:gd name="T37" fmla="*/ 839 h 1812"/>
                  <a:gd name="T38" fmla="*/ 1770 w 1811"/>
                  <a:gd name="T39" fmla="*/ 980 h 1812"/>
                  <a:gd name="T40" fmla="*/ 1706 w 1811"/>
                  <a:gd name="T41" fmla="*/ 1215 h 1812"/>
                  <a:gd name="T42" fmla="*/ 1703 w 1811"/>
                  <a:gd name="T43" fmla="*/ 1222 h 1812"/>
                  <a:gd name="T44" fmla="*/ 1675 w 1811"/>
                  <a:gd name="T45" fmla="*/ 1335 h 1812"/>
                  <a:gd name="T46" fmla="*/ 1539 w 1811"/>
                  <a:gd name="T47" fmla="*/ 1580 h 1812"/>
                  <a:gd name="T48" fmla="*/ 1380 w 1811"/>
                  <a:gd name="T49" fmla="*/ 1660 h 1812"/>
                  <a:gd name="T50" fmla="*/ 1273 w 1811"/>
                  <a:gd name="T51" fmla="*/ 1686 h 1812"/>
                  <a:gd name="T52" fmla="*/ 1271 w 1811"/>
                  <a:gd name="T53" fmla="*/ 1690 h 1812"/>
                  <a:gd name="T54" fmla="*/ 1090 w 1811"/>
                  <a:gd name="T55" fmla="*/ 1736 h 1812"/>
                  <a:gd name="T56" fmla="*/ 856 w 1811"/>
                  <a:gd name="T57" fmla="*/ 1800 h 1812"/>
                  <a:gd name="T58" fmla="*/ 840 w 1811"/>
                  <a:gd name="T59" fmla="*/ 1801 h 1812"/>
                  <a:gd name="T60" fmla="*/ 675 w 1811"/>
                  <a:gd name="T61" fmla="*/ 1798 h 1812"/>
                  <a:gd name="T62" fmla="*/ 575 w 1811"/>
                  <a:gd name="T63" fmla="*/ 1757 h 1812"/>
                  <a:gd name="T64" fmla="*/ 415 w 1811"/>
                  <a:gd name="T65" fmla="*/ 1618 h 1812"/>
                  <a:gd name="T66" fmla="*/ 406 w 1811"/>
                  <a:gd name="T67" fmla="*/ 1603 h 1812"/>
                  <a:gd name="T68" fmla="*/ 212 w 1811"/>
                  <a:gd name="T69" fmla="*/ 1409 h 1812"/>
                  <a:gd name="T70" fmla="*/ 197 w 1811"/>
                  <a:gd name="T71" fmla="*/ 1400 h 1812"/>
                  <a:gd name="T72" fmla="*/ 81 w 1811"/>
                  <a:gd name="T73" fmla="*/ 1277 h 1812"/>
                  <a:gd name="T74" fmla="*/ 18 w 1811"/>
                  <a:gd name="T75" fmla="*/ 1151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1" h="1812">
                    <a:moveTo>
                      <a:pt x="18" y="1151"/>
                    </a:moveTo>
                    <a:cubicBezTo>
                      <a:pt x="0" y="1093"/>
                      <a:pt x="1" y="1034"/>
                      <a:pt x="9" y="975"/>
                    </a:cubicBezTo>
                    <a:cubicBezTo>
                      <a:pt x="21" y="930"/>
                      <a:pt x="32" y="884"/>
                      <a:pt x="44" y="838"/>
                    </a:cubicBezTo>
                    <a:cubicBezTo>
                      <a:pt x="78" y="711"/>
                      <a:pt x="112" y="584"/>
                      <a:pt x="146" y="456"/>
                    </a:cubicBezTo>
                    <a:cubicBezTo>
                      <a:pt x="160" y="404"/>
                      <a:pt x="176" y="354"/>
                      <a:pt x="205" y="309"/>
                    </a:cubicBezTo>
                    <a:cubicBezTo>
                      <a:pt x="257" y="231"/>
                      <a:pt x="328" y="179"/>
                      <a:pt x="417" y="155"/>
                    </a:cubicBezTo>
                    <a:cubicBezTo>
                      <a:pt x="576" y="110"/>
                      <a:pt x="737" y="69"/>
                      <a:pt x="897" y="26"/>
                    </a:cubicBezTo>
                    <a:cubicBezTo>
                      <a:pt x="917" y="21"/>
                      <a:pt x="938" y="16"/>
                      <a:pt x="959" y="11"/>
                    </a:cubicBezTo>
                    <a:cubicBezTo>
                      <a:pt x="1006" y="7"/>
                      <a:pt x="1054" y="4"/>
                      <a:pt x="1101" y="0"/>
                    </a:cubicBezTo>
                    <a:cubicBezTo>
                      <a:pt x="1176" y="10"/>
                      <a:pt x="1240" y="44"/>
                      <a:pt x="1299" y="90"/>
                    </a:cubicBezTo>
                    <a:cubicBezTo>
                      <a:pt x="1300" y="93"/>
                      <a:pt x="1301" y="96"/>
                      <a:pt x="1303" y="98"/>
                    </a:cubicBezTo>
                    <a:cubicBezTo>
                      <a:pt x="1338" y="133"/>
                      <a:pt x="1372" y="168"/>
                      <a:pt x="1407" y="203"/>
                    </a:cubicBezTo>
                    <a:cubicBezTo>
                      <a:pt x="1474" y="270"/>
                      <a:pt x="1541" y="337"/>
                      <a:pt x="1609" y="404"/>
                    </a:cubicBezTo>
                    <a:cubicBezTo>
                      <a:pt x="1636" y="431"/>
                      <a:pt x="1664" y="459"/>
                      <a:pt x="1692" y="486"/>
                    </a:cubicBezTo>
                    <a:cubicBezTo>
                      <a:pt x="1702" y="495"/>
                      <a:pt x="1711" y="504"/>
                      <a:pt x="1721" y="513"/>
                    </a:cubicBezTo>
                    <a:cubicBezTo>
                      <a:pt x="1753" y="554"/>
                      <a:pt x="1783" y="597"/>
                      <a:pt x="1798" y="648"/>
                    </a:cubicBezTo>
                    <a:cubicBezTo>
                      <a:pt x="1800" y="654"/>
                      <a:pt x="1801" y="661"/>
                      <a:pt x="1802" y="667"/>
                    </a:cubicBezTo>
                    <a:cubicBezTo>
                      <a:pt x="1805" y="699"/>
                      <a:pt x="1809" y="730"/>
                      <a:pt x="1810" y="762"/>
                    </a:cubicBezTo>
                    <a:cubicBezTo>
                      <a:pt x="1811" y="787"/>
                      <a:pt x="1808" y="813"/>
                      <a:pt x="1807" y="839"/>
                    </a:cubicBezTo>
                    <a:cubicBezTo>
                      <a:pt x="1794" y="886"/>
                      <a:pt x="1782" y="933"/>
                      <a:pt x="1770" y="980"/>
                    </a:cubicBezTo>
                    <a:cubicBezTo>
                      <a:pt x="1749" y="1058"/>
                      <a:pt x="1727" y="1136"/>
                      <a:pt x="1706" y="1215"/>
                    </a:cubicBezTo>
                    <a:cubicBezTo>
                      <a:pt x="1705" y="1217"/>
                      <a:pt x="1704" y="1220"/>
                      <a:pt x="1703" y="1222"/>
                    </a:cubicBezTo>
                    <a:cubicBezTo>
                      <a:pt x="1693" y="1259"/>
                      <a:pt x="1684" y="1297"/>
                      <a:pt x="1675" y="1335"/>
                    </a:cubicBezTo>
                    <a:cubicBezTo>
                      <a:pt x="1655" y="1430"/>
                      <a:pt x="1615" y="1515"/>
                      <a:pt x="1539" y="1580"/>
                    </a:cubicBezTo>
                    <a:cubicBezTo>
                      <a:pt x="1492" y="1619"/>
                      <a:pt x="1438" y="1644"/>
                      <a:pt x="1380" y="1660"/>
                    </a:cubicBezTo>
                    <a:cubicBezTo>
                      <a:pt x="1344" y="1668"/>
                      <a:pt x="1309" y="1677"/>
                      <a:pt x="1273" y="1686"/>
                    </a:cubicBezTo>
                    <a:cubicBezTo>
                      <a:pt x="1272" y="1686"/>
                      <a:pt x="1271" y="1689"/>
                      <a:pt x="1271" y="1690"/>
                    </a:cubicBezTo>
                    <a:cubicBezTo>
                      <a:pt x="1210" y="1705"/>
                      <a:pt x="1150" y="1720"/>
                      <a:pt x="1090" y="1736"/>
                    </a:cubicBezTo>
                    <a:cubicBezTo>
                      <a:pt x="1012" y="1757"/>
                      <a:pt x="934" y="1778"/>
                      <a:pt x="856" y="1800"/>
                    </a:cubicBezTo>
                    <a:cubicBezTo>
                      <a:pt x="851" y="1800"/>
                      <a:pt x="845" y="1799"/>
                      <a:pt x="840" y="1801"/>
                    </a:cubicBezTo>
                    <a:cubicBezTo>
                      <a:pt x="785" y="1812"/>
                      <a:pt x="730" y="1810"/>
                      <a:pt x="675" y="1798"/>
                    </a:cubicBezTo>
                    <a:cubicBezTo>
                      <a:pt x="641" y="1785"/>
                      <a:pt x="606" y="1774"/>
                      <a:pt x="575" y="1757"/>
                    </a:cubicBezTo>
                    <a:cubicBezTo>
                      <a:pt x="511" y="1723"/>
                      <a:pt x="466" y="1667"/>
                      <a:pt x="415" y="1618"/>
                    </a:cubicBezTo>
                    <a:cubicBezTo>
                      <a:pt x="412" y="1613"/>
                      <a:pt x="410" y="1607"/>
                      <a:pt x="406" y="1603"/>
                    </a:cubicBezTo>
                    <a:cubicBezTo>
                      <a:pt x="342" y="1538"/>
                      <a:pt x="277" y="1473"/>
                      <a:pt x="212" y="1409"/>
                    </a:cubicBezTo>
                    <a:cubicBezTo>
                      <a:pt x="208" y="1405"/>
                      <a:pt x="202" y="1403"/>
                      <a:pt x="197" y="1400"/>
                    </a:cubicBezTo>
                    <a:cubicBezTo>
                      <a:pt x="158" y="1359"/>
                      <a:pt x="118" y="1320"/>
                      <a:pt x="81" y="1277"/>
                    </a:cubicBezTo>
                    <a:cubicBezTo>
                      <a:pt x="50" y="1241"/>
                      <a:pt x="29" y="1198"/>
                      <a:pt x="18" y="1151"/>
                    </a:cubicBezTo>
                    <a:close/>
                  </a:path>
                </a:pathLst>
              </a:custGeom>
              <a:noFill/>
              <a:ln>
                <a:solidFill>
                  <a:schemeClr val="bg1"/>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grpSp>
        <p:sp>
          <p:nvSpPr>
            <p:cNvPr id="2051" name="文本框 9"/>
            <p:cNvSpPr txBox="1"/>
            <p:nvPr/>
          </p:nvSpPr>
          <p:spPr>
            <a:xfrm>
              <a:off x="4253127" y="1843986"/>
              <a:ext cx="3561080" cy="2838702"/>
            </a:xfrm>
            <a:prstGeom prst="rect">
              <a:avLst/>
            </a:prstGeom>
            <a:noFill/>
            <a:effectLst>
              <a:outerShdw dist="63500" dir="2700000" algn="tl" rotWithShape="0">
                <a:schemeClr val="bg1">
                  <a:alpha val="40000"/>
                </a:schemeClr>
              </a:outerShdw>
            </a:effectLst>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600" b="1" i="0" u="none" strike="noStrike" cap="none" spc="0" normalizeH="0" baseline="0">
                  <a:ln>
                    <a:noFill/>
                  </a:ln>
                  <a:solidFill>
                    <a:schemeClr val="accent1"/>
                  </a:solidFill>
                  <a:effectLst>
                    <a:outerShdw dist="76200" dir="2700000" algn="tl" rotWithShape="0">
                      <a:prstClr val="white">
                        <a:alpha val="40000"/>
                      </a:prstClr>
                    </a:outerShdw>
                  </a:effectLst>
                  <a:uLnTx/>
                  <a:uFillTx/>
                  <a:latin typeface="Arial" panose="020B0604020202090204"/>
                  <a:ea typeface="微软雅黑"/>
                  <a:cs typeface="汉仪雅酷黑 65W" panose="020B0604020202020204" charset="-122"/>
                </a:defRPr>
              </a:lvl1pPr>
            </a:lstStyle>
            <a:p>
              <a:r>
                <a:rPr lang="en-US" altLang="zh-CN" sz="960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sym typeface="+mn-lt"/>
                </a:rPr>
                <a:t>02</a:t>
              </a:r>
            </a:p>
          </p:txBody>
        </p:sp>
      </p:grpSp>
      <p:sp>
        <p:nvSpPr>
          <p:cNvPr id="12" name="文本框 14"/>
          <p:cNvSpPr txBox="1"/>
          <p:nvPr/>
        </p:nvSpPr>
        <p:spPr>
          <a:xfrm>
            <a:off x="3557482" y="2233242"/>
            <a:ext cx="8167942" cy="2185214"/>
          </a:xfrm>
          <a:prstGeom prst="rect">
            <a:avLst/>
          </a:prstGeom>
          <a:noFill/>
        </p:spPr>
        <p:txBody>
          <a:bodyPr wrap="square" rtlCol="0">
            <a:spAutoFit/>
          </a:bodyPr>
          <a:lstStyle/>
          <a:p>
            <a:r>
              <a:rPr lang="zh-CN" altLang="en-US" sz="40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endParaRPr lang="en-US" altLang="zh-CN" sz="40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r>
              <a:rPr lang="zh-CN" altLang="en-US" sz="48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血液炎症指标对肺结核患者</a:t>
            </a:r>
            <a:endParaRPr lang="en-US" altLang="zh-CN" sz="48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r>
              <a:rPr lang="zh-CN" altLang="en-US" sz="48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不良治疗结局的危险因素分析</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8610600" y="6356350"/>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12</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7" name="组合 66"/>
          <p:cNvGrpSpPr/>
          <p:nvPr/>
        </p:nvGrpSpPr>
        <p:grpSpPr>
          <a:xfrm>
            <a:off x="-80276" y="-309462"/>
            <a:ext cx="12272277" cy="991435"/>
            <a:chOff x="-80276" y="-309462"/>
            <a:chExt cx="12272277" cy="991435"/>
          </a:xfrm>
        </p:grpSpPr>
        <p:sp>
          <p:nvSpPr>
            <p:cNvPr id="5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6" name="组合 65"/>
            <p:cNvGrpSpPr/>
            <p:nvPr/>
          </p:nvGrpSpPr>
          <p:grpSpPr>
            <a:xfrm>
              <a:off x="4416378" y="-31583"/>
              <a:ext cx="2576999" cy="581449"/>
              <a:chOff x="4826291" y="-31583"/>
              <a:chExt cx="2576999" cy="581449"/>
            </a:xfrm>
          </p:grpSpPr>
          <p:sp>
            <p:nvSpPr>
              <p:cNvPr id="60"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1"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研究方法</a:t>
                </a:r>
              </a:p>
            </p:txBody>
          </p:sp>
        </p:grpSp>
        <p:sp>
          <p:nvSpPr>
            <p:cNvPr id="62"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63"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64"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65"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grpSp>
        <p:nvGrpSpPr>
          <p:cNvPr id="16" name="组合 15"/>
          <p:cNvGrpSpPr/>
          <p:nvPr/>
        </p:nvGrpSpPr>
        <p:grpSpPr>
          <a:xfrm>
            <a:off x="543641" y="685980"/>
            <a:ext cx="11341223" cy="946989"/>
            <a:chOff x="1086118" y="988279"/>
            <a:chExt cx="11341223" cy="946989"/>
          </a:xfrm>
        </p:grpSpPr>
        <p:grpSp>
          <p:nvGrpSpPr>
            <p:cNvPr id="3" name="组合 2"/>
            <p:cNvGrpSpPr/>
            <p:nvPr/>
          </p:nvGrpSpPr>
          <p:grpSpPr>
            <a:xfrm>
              <a:off x="1160929" y="1476103"/>
              <a:ext cx="11266412" cy="459165"/>
              <a:chOff x="4606821" y="4795317"/>
              <a:chExt cx="7229255" cy="785919"/>
            </a:xfrm>
          </p:grpSpPr>
          <p:sp>
            <p:nvSpPr>
              <p:cNvPr id="4" name="学论网-专注原创-www.xuelun.me"/>
              <p:cNvSpPr/>
              <p:nvPr/>
            </p:nvSpPr>
            <p:spPr>
              <a:xfrm>
                <a:off x="4685582" y="4795317"/>
                <a:ext cx="7150494" cy="785919"/>
              </a:xfrm>
              <a:prstGeom prst="rect">
                <a:avLst/>
              </a:prstGeom>
              <a:ln>
                <a:noFill/>
              </a:ln>
            </p:spPr>
            <p:txBody>
              <a:bodyPr wrap="square">
                <a:spAutoFit/>
              </a:bodyPr>
              <a:lstStyle/>
              <a:p>
                <a:pPr>
                  <a:lnSpc>
                    <a:spcPct val="150000"/>
                  </a:lnSpc>
                </a:pPr>
                <a:r>
                  <a:rPr lang="zh-CN" altLang="en-US"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纳入</a:t>
                </a:r>
                <a:r>
                  <a:rPr lang="en-US" altLang="zh-CN"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2017</a:t>
                </a:r>
                <a:r>
                  <a:rPr lang="zh-CN" altLang="en-US"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年</a:t>
                </a:r>
                <a:r>
                  <a:rPr lang="en-US" altLang="zh-CN"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月至</a:t>
                </a:r>
                <a:r>
                  <a:rPr lang="en-US" altLang="zh-CN"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2022</a:t>
                </a:r>
                <a:r>
                  <a:rPr lang="zh-CN" altLang="en-US"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年</a:t>
                </a:r>
                <a:r>
                  <a:rPr lang="en-US" altLang="zh-CN"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12</a:t>
                </a:r>
                <a:r>
                  <a:rPr lang="zh-CN" altLang="en-US"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月，在深圳市第三人民医院登记治疗并完成血常规检测的肺结核患者（</a:t>
                </a:r>
                <a:r>
                  <a:rPr lang="en-US" altLang="zh-CN"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N=4027</a:t>
                </a:r>
                <a:r>
                  <a:rPr lang="zh-CN" altLang="en-US"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endParaRPr lang="en-US" altLang="zh-CN"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 name="学论网-专注原创-www.xuelun.me"/>
              <p:cNvSpPr/>
              <p:nvPr/>
            </p:nvSpPr>
            <p:spPr>
              <a:xfrm>
                <a:off x="4606821" y="4931439"/>
                <a:ext cx="78761" cy="554567"/>
              </a:xfrm>
              <a:prstGeom prst="rect">
                <a:avLst/>
              </a:prstGeom>
              <a:solidFill>
                <a:srgbClr val="014924"/>
              </a:solidFill>
              <a:ln w="28575">
                <a:solidFill>
                  <a:srgbClr val="01492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6" name="TextBox 76"/>
            <p:cNvSpPr txBox="1"/>
            <p:nvPr/>
          </p:nvSpPr>
          <p:spPr>
            <a:xfrm>
              <a:off x="1757945" y="988279"/>
              <a:ext cx="1210580" cy="400105"/>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zh-CN" altLang="en-US" sz="200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研究对象</a:t>
              </a:r>
            </a:p>
          </p:txBody>
        </p:sp>
        <p:sp>
          <p:nvSpPr>
            <p:cNvPr id="7" name="Freeform 82"/>
            <p:cNvSpPr>
              <a:spLocks noEditPoints="1"/>
            </p:cNvSpPr>
            <p:nvPr/>
          </p:nvSpPr>
          <p:spPr bwMode="auto">
            <a:xfrm>
              <a:off x="1086118" y="1030051"/>
              <a:ext cx="577402" cy="358333"/>
            </a:xfrm>
            <a:custGeom>
              <a:avLst/>
              <a:gdLst>
                <a:gd name="T0" fmla="*/ 18 w 312"/>
                <a:gd name="T1" fmla="*/ 158 h 194"/>
                <a:gd name="T2" fmla="*/ 18 w 312"/>
                <a:gd name="T3" fmla="*/ 194 h 194"/>
                <a:gd name="T4" fmla="*/ 250 w 312"/>
                <a:gd name="T5" fmla="*/ 176 h 194"/>
                <a:gd name="T6" fmla="*/ 65 w 312"/>
                <a:gd name="T7" fmla="*/ 179 h 194"/>
                <a:gd name="T8" fmla="*/ 15 w 312"/>
                <a:gd name="T9" fmla="*/ 176 h 194"/>
                <a:gd name="T10" fmla="*/ 65 w 312"/>
                <a:gd name="T11" fmla="*/ 174 h 194"/>
                <a:gd name="T12" fmla="*/ 99 w 312"/>
                <a:gd name="T13" fmla="*/ 179 h 194"/>
                <a:gd name="T14" fmla="*/ 77 w 312"/>
                <a:gd name="T15" fmla="*/ 174 h 194"/>
                <a:gd name="T16" fmla="*/ 99 w 312"/>
                <a:gd name="T17" fmla="*/ 179 h 194"/>
                <a:gd name="T18" fmla="*/ 208 w 312"/>
                <a:gd name="T19" fmla="*/ 179 h 194"/>
                <a:gd name="T20" fmla="*/ 232 w 312"/>
                <a:gd name="T21" fmla="*/ 174 h 194"/>
                <a:gd name="T22" fmla="*/ 232 w 312"/>
                <a:gd name="T23" fmla="*/ 179 h 194"/>
                <a:gd name="T24" fmla="*/ 27 w 312"/>
                <a:gd name="T25" fmla="*/ 151 h 194"/>
                <a:gd name="T26" fmla="*/ 41 w 312"/>
                <a:gd name="T27" fmla="*/ 0 h 194"/>
                <a:gd name="T28" fmla="*/ 221 w 312"/>
                <a:gd name="T29" fmla="*/ 15 h 194"/>
                <a:gd name="T30" fmla="*/ 204 w 312"/>
                <a:gd name="T31" fmla="*/ 18 h 194"/>
                <a:gd name="T32" fmla="*/ 195 w 312"/>
                <a:gd name="T33" fmla="*/ 16 h 194"/>
                <a:gd name="T34" fmla="*/ 177 w 312"/>
                <a:gd name="T35" fmla="*/ 16 h 194"/>
                <a:gd name="T36" fmla="*/ 43 w 312"/>
                <a:gd name="T37" fmla="*/ 143 h 194"/>
                <a:gd name="T38" fmla="*/ 189 w 312"/>
                <a:gd name="T39" fmla="*/ 147 h 194"/>
                <a:gd name="T40" fmla="*/ 221 w 312"/>
                <a:gd name="T41" fmla="*/ 138 h 194"/>
                <a:gd name="T42" fmla="*/ 221 w 312"/>
                <a:gd name="T43" fmla="*/ 154 h 194"/>
                <a:gd name="T44" fmla="*/ 132 w 312"/>
                <a:gd name="T45" fmla="*/ 46 h 194"/>
                <a:gd name="T46" fmla="*/ 68 w 312"/>
                <a:gd name="T47" fmla="*/ 35 h 194"/>
                <a:gd name="T48" fmla="*/ 132 w 312"/>
                <a:gd name="T49" fmla="*/ 46 h 194"/>
                <a:gd name="T50" fmla="*/ 126 w 312"/>
                <a:gd name="T51" fmla="*/ 60 h 194"/>
                <a:gd name="T52" fmla="*/ 67 w 312"/>
                <a:gd name="T53" fmla="*/ 71 h 194"/>
                <a:gd name="T54" fmla="*/ 123 w 312"/>
                <a:gd name="T55" fmla="*/ 87 h 194"/>
                <a:gd name="T56" fmla="*/ 68 w 312"/>
                <a:gd name="T57" fmla="*/ 98 h 194"/>
                <a:gd name="T58" fmla="*/ 123 w 312"/>
                <a:gd name="T59" fmla="*/ 87 h 194"/>
                <a:gd name="T60" fmla="*/ 131 w 312"/>
                <a:gd name="T61" fmla="*/ 112 h 194"/>
                <a:gd name="T62" fmla="*/ 66 w 312"/>
                <a:gd name="T63" fmla="*/ 123 h 194"/>
                <a:gd name="T64" fmla="*/ 304 w 312"/>
                <a:gd name="T65" fmla="*/ 143 h 194"/>
                <a:gd name="T66" fmla="*/ 244 w 312"/>
                <a:gd name="T67" fmla="*/ 101 h 194"/>
                <a:gd name="T68" fmla="*/ 160 w 312"/>
                <a:gd name="T69" fmla="*/ 26 h 194"/>
                <a:gd name="T70" fmla="*/ 215 w 312"/>
                <a:gd name="T71" fmla="*/ 136 h 194"/>
                <a:gd name="T72" fmla="*/ 227 w 312"/>
                <a:gd name="T73" fmla="*/ 132 h 194"/>
                <a:gd name="T74" fmla="*/ 304 w 312"/>
                <a:gd name="T75" fmla="*/ 169 h 194"/>
                <a:gd name="T76" fmla="*/ 304 w 312"/>
                <a:gd name="T77" fmla="*/ 143 h 194"/>
                <a:gd name="T78" fmla="*/ 151 w 312"/>
                <a:gd name="T79" fmla="*/ 99 h 194"/>
                <a:gd name="T80" fmla="*/ 224 w 312"/>
                <a:gd name="T81" fmla="*/ 6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2" h="194">
                  <a:moveTo>
                    <a:pt x="232" y="158"/>
                  </a:moveTo>
                  <a:cubicBezTo>
                    <a:pt x="18" y="158"/>
                    <a:pt x="18" y="158"/>
                    <a:pt x="18" y="158"/>
                  </a:cubicBezTo>
                  <a:cubicBezTo>
                    <a:pt x="8" y="158"/>
                    <a:pt x="0" y="167"/>
                    <a:pt x="0" y="176"/>
                  </a:cubicBezTo>
                  <a:cubicBezTo>
                    <a:pt x="0" y="186"/>
                    <a:pt x="8" y="194"/>
                    <a:pt x="18" y="194"/>
                  </a:cubicBezTo>
                  <a:cubicBezTo>
                    <a:pt x="232" y="194"/>
                    <a:pt x="232" y="194"/>
                    <a:pt x="232" y="194"/>
                  </a:cubicBezTo>
                  <a:cubicBezTo>
                    <a:pt x="242" y="194"/>
                    <a:pt x="250" y="186"/>
                    <a:pt x="250" y="176"/>
                  </a:cubicBezTo>
                  <a:cubicBezTo>
                    <a:pt x="250" y="167"/>
                    <a:pt x="242" y="158"/>
                    <a:pt x="232" y="158"/>
                  </a:cubicBezTo>
                  <a:close/>
                  <a:moveTo>
                    <a:pt x="65" y="179"/>
                  </a:moveTo>
                  <a:cubicBezTo>
                    <a:pt x="18" y="179"/>
                    <a:pt x="18" y="179"/>
                    <a:pt x="18" y="179"/>
                  </a:cubicBezTo>
                  <a:cubicBezTo>
                    <a:pt x="16" y="179"/>
                    <a:pt x="15" y="178"/>
                    <a:pt x="15" y="176"/>
                  </a:cubicBezTo>
                  <a:cubicBezTo>
                    <a:pt x="15" y="175"/>
                    <a:pt x="16" y="174"/>
                    <a:pt x="18" y="174"/>
                  </a:cubicBezTo>
                  <a:cubicBezTo>
                    <a:pt x="65" y="174"/>
                    <a:pt x="65" y="174"/>
                    <a:pt x="65" y="174"/>
                  </a:cubicBezTo>
                  <a:lnTo>
                    <a:pt x="65" y="179"/>
                  </a:lnTo>
                  <a:close/>
                  <a:moveTo>
                    <a:pt x="99" y="179"/>
                  </a:moveTo>
                  <a:cubicBezTo>
                    <a:pt x="77" y="179"/>
                    <a:pt x="77" y="179"/>
                    <a:pt x="77" y="179"/>
                  </a:cubicBezTo>
                  <a:cubicBezTo>
                    <a:pt x="77" y="174"/>
                    <a:pt x="77" y="174"/>
                    <a:pt x="77" y="174"/>
                  </a:cubicBezTo>
                  <a:cubicBezTo>
                    <a:pt x="99" y="174"/>
                    <a:pt x="99" y="174"/>
                    <a:pt x="99" y="174"/>
                  </a:cubicBezTo>
                  <a:lnTo>
                    <a:pt x="99" y="179"/>
                  </a:lnTo>
                  <a:close/>
                  <a:moveTo>
                    <a:pt x="232" y="179"/>
                  </a:moveTo>
                  <a:cubicBezTo>
                    <a:pt x="208" y="179"/>
                    <a:pt x="208" y="179"/>
                    <a:pt x="208" y="179"/>
                  </a:cubicBezTo>
                  <a:cubicBezTo>
                    <a:pt x="208" y="174"/>
                    <a:pt x="208" y="174"/>
                    <a:pt x="208" y="174"/>
                  </a:cubicBezTo>
                  <a:cubicBezTo>
                    <a:pt x="232" y="174"/>
                    <a:pt x="232" y="174"/>
                    <a:pt x="232" y="174"/>
                  </a:cubicBezTo>
                  <a:cubicBezTo>
                    <a:pt x="233" y="174"/>
                    <a:pt x="234" y="175"/>
                    <a:pt x="234" y="176"/>
                  </a:cubicBezTo>
                  <a:cubicBezTo>
                    <a:pt x="234" y="178"/>
                    <a:pt x="233" y="179"/>
                    <a:pt x="232" y="179"/>
                  </a:cubicBezTo>
                  <a:close/>
                  <a:moveTo>
                    <a:pt x="27" y="154"/>
                  </a:moveTo>
                  <a:cubicBezTo>
                    <a:pt x="27" y="153"/>
                    <a:pt x="27" y="152"/>
                    <a:pt x="27" y="151"/>
                  </a:cubicBezTo>
                  <a:cubicBezTo>
                    <a:pt x="27" y="15"/>
                    <a:pt x="27" y="15"/>
                    <a:pt x="27" y="15"/>
                  </a:cubicBezTo>
                  <a:cubicBezTo>
                    <a:pt x="27" y="7"/>
                    <a:pt x="33" y="0"/>
                    <a:pt x="41" y="0"/>
                  </a:cubicBezTo>
                  <a:cubicBezTo>
                    <a:pt x="206" y="0"/>
                    <a:pt x="206" y="0"/>
                    <a:pt x="206" y="0"/>
                  </a:cubicBezTo>
                  <a:cubicBezTo>
                    <a:pt x="214" y="0"/>
                    <a:pt x="221" y="7"/>
                    <a:pt x="221" y="15"/>
                  </a:cubicBezTo>
                  <a:cubicBezTo>
                    <a:pt x="221" y="26"/>
                    <a:pt x="221" y="26"/>
                    <a:pt x="221" y="26"/>
                  </a:cubicBezTo>
                  <a:cubicBezTo>
                    <a:pt x="216" y="22"/>
                    <a:pt x="210" y="20"/>
                    <a:pt x="204" y="18"/>
                  </a:cubicBezTo>
                  <a:cubicBezTo>
                    <a:pt x="204" y="16"/>
                    <a:pt x="204" y="16"/>
                    <a:pt x="204" y="16"/>
                  </a:cubicBezTo>
                  <a:cubicBezTo>
                    <a:pt x="195" y="16"/>
                    <a:pt x="195" y="16"/>
                    <a:pt x="195" y="16"/>
                  </a:cubicBezTo>
                  <a:cubicBezTo>
                    <a:pt x="192" y="15"/>
                    <a:pt x="189" y="15"/>
                    <a:pt x="186" y="15"/>
                  </a:cubicBezTo>
                  <a:cubicBezTo>
                    <a:pt x="183" y="15"/>
                    <a:pt x="180" y="16"/>
                    <a:pt x="177" y="16"/>
                  </a:cubicBezTo>
                  <a:cubicBezTo>
                    <a:pt x="43" y="16"/>
                    <a:pt x="43" y="16"/>
                    <a:pt x="43" y="16"/>
                  </a:cubicBezTo>
                  <a:cubicBezTo>
                    <a:pt x="43" y="143"/>
                    <a:pt x="43" y="143"/>
                    <a:pt x="43" y="143"/>
                  </a:cubicBezTo>
                  <a:cubicBezTo>
                    <a:pt x="169" y="143"/>
                    <a:pt x="169" y="143"/>
                    <a:pt x="169" y="143"/>
                  </a:cubicBezTo>
                  <a:cubicBezTo>
                    <a:pt x="175" y="145"/>
                    <a:pt x="182" y="147"/>
                    <a:pt x="189" y="147"/>
                  </a:cubicBezTo>
                  <a:cubicBezTo>
                    <a:pt x="199" y="147"/>
                    <a:pt x="208" y="144"/>
                    <a:pt x="217" y="140"/>
                  </a:cubicBezTo>
                  <a:cubicBezTo>
                    <a:pt x="218" y="139"/>
                    <a:pt x="220" y="138"/>
                    <a:pt x="221" y="138"/>
                  </a:cubicBezTo>
                  <a:cubicBezTo>
                    <a:pt x="221" y="151"/>
                    <a:pt x="221" y="151"/>
                    <a:pt x="221" y="151"/>
                  </a:cubicBezTo>
                  <a:cubicBezTo>
                    <a:pt x="221" y="152"/>
                    <a:pt x="221" y="153"/>
                    <a:pt x="221" y="154"/>
                  </a:cubicBezTo>
                  <a:lnTo>
                    <a:pt x="27" y="154"/>
                  </a:lnTo>
                  <a:close/>
                  <a:moveTo>
                    <a:pt x="132" y="46"/>
                  </a:moveTo>
                  <a:cubicBezTo>
                    <a:pt x="68" y="46"/>
                    <a:pt x="68" y="46"/>
                    <a:pt x="68" y="46"/>
                  </a:cubicBezTo>
                  <a:cubicBezTo>
                    <a:pt x="68" y="35"/>
                    <a:pt x="68" y="35"/>
                    <a:pt x="68" y="35"/>
                  </a:cubicBezTo>
                  <a:cubicBezTo>
                    <a:pt x="141" y="35"/>
                    <a:pt x="141" y="35"/>
                    <a:pt x="141" y="35"/>
                  </a:cubicBezTo>
                  <a:cubicBezTo>
                    <a:pt x="138" y="38"/>
                    <a:pt x="135" y="42"/>
                    <a:pt x="132" y="46"/>
                  </a:cubicBezTo>
                  <a:close/>
                  <a:moveTo>
                    <a:pt x="67" y="60"/>
                  </a:moveTo>
                  <a:cubicBezTo>
                    <a:pt x="126" y="60"/>
                    <a:pt x="126" y="60"/>
                    <a:pt x="126" y="60"/>
                  </a:cubicBezTo>
                  <a:cubicBezTo>
                    <a:pt x="125" y="64"/>
                    <a:pt x="124" y="68"/>
                    <a:pt x="123" y="71"/>
                  </a:cubicBezTo>
                  <a:cubicBezTo>
                    <a:pt x="67" y="71"/>
                    <a:pt x="67" y="71"/>
                    <a:pt x="67" y="71"/>
                  </a:cubicBezTo>
                  <a:lnTo>
                    <a:pt x="67" y="60"/>
                  </a:lnTo>
                  <a:close/>
                  <a:moveTo>
                    <a:pt x="123" y="87"/>
                  </a:moveTo>
                  <a:cubicBezTo>
                    <a:pt x="124" y="90"/>
                    <a:pt x="124" y="94"/>
                    <a:pt x="125" y="98"/>
                  </a:cubicBezTo>
                  <a:cubicBezTo>
                    <a:pt x="68" y="98"/>
                    <a:pt x="68" y="98"/>
                    <a:pt x="68" y="98"/>
                  </a:cubicBezTo>
                  <a:cubicBezTo>
                    <a:pt x="68" y="87"/>
                    <a:pt x="68" y="87"/>
                    <a:pt x="68" y="87"/>
                  </a:cubicBezTo>
                  <a:lnTo>
                    <a:pt x="123" y="87"/>
                  </a:lnTo>
                  <a:close/>
                  <a:moveTo>
                    <a:pt x="66" y="112"/>
                  </a:moveTo>
                  <a:cubicBezTo>
                    <a:pt x="131" y="112"/>
                    <a:pt x="131" y="112"/>
                    <a:pt x="131" y="112"/>
                  </a:cubicBezTo>
                  <a:cubicBezTo>
                    <a:pt x="134" y="116"/>
                    <a:pt x="136" y="120"/>
                    <a:pt x="139" y="123"/>
                  </a:cubicBezTo>
                  <a:cubicBezTo>
                    <a:pt x="66" y="123"/>
                    <a:pt x="66" y="123"/>
                    <a:pt x="66" y="123"/>
                  </a:cubicBezTo>
                  <a:lnTo>
                    <a:pt x="66" y="112"/>
                  </a:lnTo>
                  <a:close/>
                  <a:moveTo>
                    <a:pt x="304" y="143"/>
                  </a:moveTo>
                  <a:cubicBezTo>
                    <a:pt x="248" y="103"/>
                    <a:pt x="248" y="103"/>
                    <a:pt x="248" y="103"/>
                  </a:cubicBezTo>
                  <a:cubicBezTo>
                    <a:pt x="247" y="102"/>
                    <a:pt x="246" y="101"/>
                    <a:pt x="244" y="101"/>
                  </a:cubicBezTo>
                  <a:cubicBezTo>
                    <a:pt x="249" y="86"/>
                    <a:pt x="248" y="70"/>
                    <a:pt x="241" y="54"/>
                  </a:cubicBezTo>
                  <a:cubicBezTo>
                    <a:pt x="226" y="24"/>
                    <a:pt x="190" y="12"/>
                    <a:pt x="160" y="26"/>
                  </a:cubicBezTo>
                  <a:cubicBezTo>
                    <a:pt x="131" y="41"/>
                    <a:pt x="119" y="77"/>
                    <a:pt x="134" y="107"/>
                  </a:cubicBezTo>
                  <a:cubicBezTo>
                    <a:pt x="149" y="138"/>
                    <a:pt x="185" y="150"/>
                    <a:pt x="215" y="136"/>
                  </a:cubicBezTo>
                  <a:cubicBezTo>
                    <a:pt x="218" y="134"/>
                    <a:pt x="221" y="132"/>
                    <a:pt x="224" y="129"/>
                  </a:cubicBezTo>
                  <a:cubicBezTo>
                    <a:pt x="225" y="130"/>
                    <a:pt x="226" y="131"/>
                    <a:pt x="227" y="132"/>
                  </a:cubicBezTo>
                  <a:cubicBezTo>
                    <a:pt x="283" y="172"/>
                    <a:pt x="283" y="172"/>
                    <a:pt x="283" y="172"/>
                  </a:cubicBezTo>
                  <a:cubicBezTo>
                    <a:pt x="289" y="177"/>
                    <a:pt x="299" y="175"/>
                    <a:pt x="304" y="169"/>
                  </a:cubicBezTo>
                  <a:cubicBezTo>
                    <a:pt x="307" y="164"/>
                    <a:pt x="307" y="164"/>
                    <a:pt x="307" y="164"/>
                  </a:cubicBezTo>
                  <a:cubicBezTo>
                    <a:pt x="312" y="157"/>
                    <a:pt x="310" y="148"/>
                    <a:pt x="304" y="143"/>
                  </a:cubicBezTo>
                  <a:close/>
                  <a:moveTo>
                    <a:pt x="206" y="119"/>
                  </a:moveTo>
                  <a:cubicBezTo>
                    <a:pt x="186" y="128"/>
                    <a:pt x="162" y="120"/>
                    <a:pt x="151" y="99"/>
                  </a:cubicBezTo>
                  <a:cubicBezTo>
                    <a:pt x="141" y="78"/>
                    <a:pt x="149" y="53"/>
                    <a:pt x="169" y="43"/>
                  </a:cubicBezTo>
                  <a:cubicBezTo>
                    <a:pt x="189" y="33"/>
                    <a:pt x="213" y="42"/>
                    <a:pt x="224" y="63"/>
                  </a:cubicBezTo>
                  <a:cubicBezTo>
                    <a:pt x="234" y="84"/>
                    <a:pt x="226" y="109"/>
                    <a:pt x="206" y="119"/>
                  </a:cubicBezTo>
                  <a:close/>
                </a:path>
              </a:pathLst>
            </a:custGeom>
            <a:solidFill>
              <a:srgbClr val="014924"/>
            </a:solidFill>
            <a:ln>
              <a:noFill/>
            </a:ln>
          </p:spPr>
          <p:txBody>
            <a:bodyPr vert="horz" wrap="square" lIns="91440" tIns="45720" rIns="91440" bIns="45720" numCol="1" anchor="t" anchorCtr="0" compatLnSpc="1"/>
            <a:lstStyle/>
            <a:p>
              <a:endParaRPr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18" name="组合 17"/>
          <p:cNvGrpSpPr/>
          <p:nvPr/>
        </p:nvGrpSpPr>
        <p:grpSpPr>
          <a:xfrm>
            <a:off x="431833" y="1656862"/>
            <a:ext cx="1994215" cy="4615416"/>
            <a:chOff x="415637" y="1971857"/>
            <a:chExt cx="1994215" cy="4615416"/>
          </a:xfrm>
        </p:grpSpPr>
        <p:cxnSp>
          <p:nvCxnSpPr>
            <p:cNvPr id="12" name="Straight Connector 74"/>
            <p:cNvCxnSpPr/>
            <p:nvPr/>
          </p:nvCxnSpPr>
          <p:spPr>
            <a:xfrm>
              <a:off x="616666" y="2627273"/>
              <a:ext cx="0" cy="3960000"/>
            </a:xfrm>
            <a:prstGeom prst="line">
              <a:avLst/>
            </a:prstGeom>
            <a:noFill/>
            <a:ln w="9525" cap="flat" cmpd="sng" algn="ctr">
              <a:solidFill>
                <a:srgbClr val="014924"/>
              </a:solidFill>
              <a:prstDash val="dash"/>
              <a:miter lim="800000"/>
            </a:ln>
            <a:effectLst/>
          </p:spPr>
        </p:cxnSp>
        <p:sp>
          <p:nvSpPr>
            <p:cNvPr id="13" name="TextBox 76"/>
            <p:cNvSpPr txBox="1"/>
            <p:nvPr/>
          </p:nvSpPr>
          <p:spPr>
            <a:xfrm>
              <a:off x="1004530" y="2054992"/>
              <a:ext cx="1405322" cy="400105"/>
            </a:xfrm>
            <a:prstGeom prst="rect">
              <a:avLst/>
            </a:prstGeom>
            <a:noFill/>
          </p:spPr>
          <p:txBody>
            <a:bodyPr wrap="squar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2000" b="1" i="0" u="none" strike="noStrike" kern="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数据收集</a:t>
              </a:r>
            </a:p>
          </p:txBody>
        </p:sp>
        <p:sp>
          <p:nvSpPr>
            <p:cNvPr id="14" name="Freeform 87"/>
            <p:cNvSpPr>
              <a:spLocks noEditPoints="1"/>
            </p:cNvSpPr>
            <p:nvPr/>
          </p:nvSpPr>
          <p:spPr bwMode="auto">
            <a:xfrm>
              <a:off x="415637" y="1971857"/>
              <a:ext cx="513160" cy="492122"/>
            </a:xfrm>
            <a:custGeom>
              <a:avLst/>
              <a:gdLst>
                <a:gd name="T0" fmla="*/ 213 w 239"/>
                <a:gd name="T1" fmla="*/ 93 h 266"/>
                <a:gd name="T2" fmla="*/ 93 w 239"/>
                <a:gd name="T3" fmla="*/ 104 h 266"/>
                <a:gd name="T4" fmla="*/ 94 w 239"/>
                <a:gd name="T5" fmla="*/ 132 h 266"/>
                <a:gd name="T6" fmla="*/ 214 w 239"/>
                <a:gd name="T7" fmla="*/ 121 h 266"/>
                <a:gd name="T8" fmla="*/ 94 w 239"/>
                <a:gd name="T9" fmla="*/ 132 h 266"/>
                <a:gd name="T10" fmla="*/ 69 w 239"/>
                <a:gd name="T11" fmla="*/ 69 h 266"/>
                <a:gd name="T12" fmla="*/ 85 w 239"/>
                <a:gd name="T13" fmla="*/ 79 h 266"/>
                <a:gd name="T14" fmla="*/ 223 w 239"/>
                <a:gd name="T15" fmla="*/ 250 h 266"/>
                <a:gd name="T16" fmla="*/ 116 w 239"/>
                <a:gd name="T17" fmla="*/ 251 h 266"/>
                <a:gd name="T18" fmla="*/ 85 w 239"/>
                <a:gd name="T19" fmla="*/ 250 h 266"/>
                <a:gd name="T20" fmla="*/ 72 w 239"/>
                <a:gd name="T21" fmla="*/ 209 h 266"/>
                <a:gd name="T22" fmla="*/ 71 w 239"/>
                <a:gd name="T23" fmla="*/ 208 h 266"/>
                <a:gd name="T24" fmla="*/ 69 w 239"/>
                <a:gd name="T25" fmla="*/ 266 h 266"/>
                <a:gd name="T26" fmla="*/ 239 w 239"/>
                <a:gd name="T27" fmla="*/ 63 h 266"/>
                <a:gd name="T28" fmla="*/ 100 w 239"/>
                <a:gd name="T29" fmla="*/ 146 h 266"/>
                <a:gd name="T30" fmla="*/ 213 w 239"/>
                <a:gd name="T31" fmla="*/ 157 h 266"/>
                <a:gd name="T32" fmla="*/ 100 w 239"/>
                <a:gd name="T33" fmla="*/ 146 h 266"/>
                <a:gd name="T34" fmla="*/ 214 w 239"/>
                <a:gd name="T35" fmla="*/ 185 h 266"/>
                <a:gd name="T36" fmla="*/ 112 w 239"/>
                <a:gd name="T37" fmla="*/ 174 h 266"/>
                <a:gd name="T38" fmla="*/ 118 w 239"/>
                <a:gd name="T39" fmla="*/ 196 h 266"/>
                <a:gd name="T40" fmla="*/ 214 w 239"/>
                <a:gd name="T41" fmla="*/ 207 h 266"/>
                <a:gd name="T42" fmla="*/ 118 w 239"/>
                <a:gd name="T43" fmla="*/ 196 h 266"/>
                <a:gd name="T44" fmla="*/ 113 w 239"/>
                <a:gd name="T45" fmla="*/ 190 h 266"/>
                <a:gd name="T46" fmla="*/ 111 w 239"/>
                <a:gd name="T47" fmla="*/ 240 h 266"/>
                <a:gd name="T48" fmla="*/ 20 w 239"/>
                <a:gd name="T49" fmla="*/ 3 h 266"/>
                <a:gd name="T50" fmla="*/ 3 w 239"/>
                <a:gd name="T51" fmla="*/ 27 h 266"/>
                <a:gd name="T52" fmla="*/ 48 w 239"/>
                <a:gd name="T53" fmla="*/ 30 h 266"/>
                <a:gd name="T54" fmla="*/ 116 w 239"/>
                <a:gd name="T55" fmla="*/ 235 h 266"/>
                <a:gd name="T56" fmla="*/ 215 w 239"/>
                <a:gd name="T57" fmla="*/ 224 h 266"/>
                <a:gd name="T58" fmla="*/ 116 w 239"/>
                <a:gd name="T59" fmla="*/ 235 h 266"/>
                <a:gd name="T60" fmla="*/ 12 w 239"/>
                <a:gd name="T61" fmla="*/ 50 h 266"/>
                <a:gd name="T62" fmla="*/ 112 w 239"/>
                <a:gd name="T63" fmla="*/ 187 h 266"/>
                <a:gd name="T64" fmla="*/ 37 w 239"/>
                <a:gd name="T65" fmla="*/ 44 h 266"/>
                <a:gd name="T66" fmla="*/ 85 w 239"/>
                <a:gd name="T67" fmla="*/ 150 h 266"/>
                <a:gd name="T68" fmla="*/ 46 w 239"/>
                <a:gd name="T69" fmla="*/ 41 h 266"/>
                <a:gd name="T70" fmla="*/ 70 w 239"/>
                <a:gd name="T71" fmla="*/ 149 h 266"/>
                <a:gd name="T72" fmla="*/ 21 w 239"/>
                <a:gd name="T73" fmla="*/ 51 h 266"/>
                <a:gd name="T74" fmla="*/ 68 w 239"/>
                <a:gd name="T75" fmla="*/ 157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9" h="266">
                  <a:moveTo>
                    <a:pt x="93" y="93"/>
                  </a:moveTo>
                  <a:cubicBezTo>
                    <a:pt x="213" y="93"/>
                    <a:pt x="213" y="93"/>
                    <a:pt x="213" y="93"/>
                  </a:cubicBezTo>
                  <a:cubicBezTo>
                    <a:pt x="213" y="104"/>
                    <a:pt x="213" y="104"/>
                    <a:pt x="213" y="104"/>
                  </a:cubicBezTo>
                  <a:cubicBezTo>
                    <a:pt x="93" y="104"/>
                    <a:pt x="93" y="104"/>
                    <a:pt x="93" y="104"/>
                  </a:cubicBezTo>
                  <a:lnTo>
                    <a:pt x="93" y="93"/>
                  </a:lnTo>
                  <a:close/>
                  <a:moveTo>
                    <a:pt x="94" y="132"/>
                  </a:moveTo>
                  <a:cubicBezTo>
                    <a:pt x="214" y="132"/>
                    <a:pt x="214" y="132"/>
                    <a:pt x="214" y="132"/>
                  </a:cubicBezTo>
                  <a:cubicBezTo>
                    <a:pt x="214" y="121"/>
                    <a:pt x="214" y="121"/>
                    <a:pt x="214" y="121"/>
                  </a:cubicBezTo>
                  <a:cubicBezTo>
                    <a:pt x="94" y="121"/>
                    <a:pt x="94" y="121"/>
                    <a:pt x="94" y="121"/>
                  </a:cubicBezTo>
                  <a:lnTo>
                    <a:pt x="94" y="132"/>
                  </a:lnTo>
                  <a:close/>
                  <a:moveTo>
                    <a:pt x="69" y="63"/>
                  </a:moveTo>
                  <a:cubicBezTo>
                    <a:pt x="69" y="69"/>
                    <a:pt x="69" y="69"/>
                    <a:pt x="69" y="69"/>
                  </a:cubicBezTo>
                  <a:cubicBezTo>
                    <a:pt x="85" y="108"/>
                    <a:pt x="85" y="108"/>
                    <a:pt x="85" y="108"/>
                  </a:cubicBezTo>
                  <a:cubicBezTo>
                    <a:pt x="85" y="79"/>
                    <a:pt x="85" y="79"/>
                    <a:pt x="85" y="79"/>
                  </a:cubicBezTo>
                  <a:cubicBezTo>
                    <a:pt x="223" y="79"/>
                    <a:pt x="223" y="79"/>
                    <a:pt x="223" y="79"/>
                  </a:cubicBezTo>
                  <a:cubicBezTo>
                    <a:pt x="223" y="250"/>
                    <a:pt x="223" y="250"/>
                    <a:pt x="223" y="250"/>
                  </a:cubicBezTo>
                  <a:cubicBezTo>
                    <a:pt x="116" y="250"/>
                    <a:pt x="116" y="250"/>
                    <a:pt x="116" y="250"/>
                  </a:cubicBezTo>
                  <a:cubicBezTo>
                    <a:pt x="116" y="251"/>
                    <a:pt x="116" y="251"/>
                    <a:pt x="116" y="251"/>
                  </a:cubicBezTo>
                  <a:cubicBezTo>
                    <a:pt x="115" y="250"/>
                    <a:pt x="115" y="250"/>
                    <a:pt x="115" y="250"/>
                  </a:cubicBezTo>
                  <a:cubicBezTo>
                    <a:pt x="85" y="250"/>
                    <a:pt x="85" y="250"/>
                    <a:pt x="85" y="250"/>
                  </a:cubicBezTo>
                  <a:cubicBezTo>
                    <a:pt x="85" y="221"/>
                    <a:pt x="85" y="221"/>
                    <a:pt x="85" y="221"/>
                  </a:cubicBezTo>
                  <a:cubicBezTo>
                    <a:pt x="72" y="209"/>
                    <a:pt x="72" y="209"/>
                    <a:pt x="72" y="209"/>
                  </a:cubicBezTo>
                  <a:cubicBezTo>
                    <a:pt x="72" y="209"/>
                    <a:pt x="72" y="209"/>
                    <a:pt x="72" y="209"/>
                  </a:cubicBezTo>
                  <a:cubicBezTo>
                    <a:pt x="71" y="208"/>
                    <a:pt x="71" y="208"/>
                    <a:pt x="71" y="208"/>
                  </a:cubicBezTo>
                  <a:cubicBezTo>
                    <a:pt x="69" y="206"/>
                    <a:pt x="69" y="206"/>
                    <a:pt x="69" y="206"/>
                  </a:cubicBezTo>
                  <a:cubicBezTo>
                    <a:pt x="69" y="266"/>
                    <a:pt x="69" y="266"/>
                    <a:pt x="69" y="266"/>
                  </a:cubicBezTo>
                  <a:cubicBezTo>
                    <a:pt x="239" y="266"/>
                    <a:pt x="239" y="266"/>
                    <a:pt x="239" y="266"/>
                  </a:cubicBezTo>
                  <a:cubicBezTo>
                    <a:pt x="239" y="63"/>
                    <a:pt x="239" y="63"/>
                    <a:pt x="239" y="63"/>
                  </a:cubicBezTo>
                  <a:lnTo>
                    <a:pt x="69" y="63"/>
                  </a:lnTo>
                  <a:close/>
                  <a:moveTo>
                    <a:pt x="100" y="146"/>
                  </a:moveTo>
                  <a:cubicBezTo>
                    <a:pt x="105" y="157"/>
                    <a:pt x="105" y="157"/>
                    <a:pt x="105" y="157"/>
                  </a:cubicBezTo>
                  <a:cubicBezTo>
                    <a:pt x="213" y="157"/>
                    <a:pt x="213" y="157"/>
                    <a:pt x="213" y="157"/>
                  </a:cubicBezTo>
                  <a:cubicBezTo>
                    <a:pt x="213" y="146"/>
                    <a:pt x="213" y="146"/>
                    <a:pt x="213" y="146"/>
                  </a:cubicBezTo>
                  <a:lnTo>
                    <a:pt x="100" y="146"/>
                  </a:lnTo>
                  <a:close/>
                  <a:moveTo>
                    <a:pt x="118" y="185"/>
                  </a:moveTo>
                  <a:cubicBezTo>
                    <a:pt x="214" y="185"/>
                    <a:pt x="214" y="185"/>
                    <a:pt x="214" y="185"/>
                  </a:cubicBezTo>
                  <a:cubicBezTo>
                    <a:pt x="214" y="174"/>
                    <a:pt x="214" y="174"/>
                    <a:pt x="214" y="174"/>
                  </a:cubicBezTo>
                  <a:cubicBezTo>
                    <a:pt x="112" y="174"/>
                    <a:pt x="112" y="174"/>
                    <a:pt x="112" y="174"/>
                  </a:cubicBezTo>
                  <a:lnTo>
                    <a:pt x="118" y="185"/>
                  </a:lnTo>
                  <a:close/>
                  <a:moveTo>
                    <a:pt x="118" y="196"/>
                  </a:moveTo>
                  <a:cubicBezTo>
                    <a:pt x="117" y="207"/>
                    <a:pt x="117" y="207"/>
                    <a:pt x="117" y="207"/>
                  </a:cubicBezTo>
                  <a:cubicBezTo>
                    <a:pt x="214" y="207"/>
                    <a:pt x="214" y="207"/>
                    <a:pt x="214" y="207"/>
                  </a:cubicBezTo>
                  <a:cubicBezTo>
                    <a:pt x="214" y="196"/>
                    <a:pt x="214" y="196"/>
                    <a:pt x="214" y="196"/>
                  </a:cubicBezTo>
                  <a:lnTo>
                    <a:pt x="118" y="196"/>
                  </a:lnTo>
                  <a:close/>
                  <a:moveTo>
                    <a:pt x="111" y="240"/>
                  </a:moveTo>
                  <a:cubicBezTo>
                    <a:pt x="113" y="190"/>
                    <a:pt x="113" y="190"/>
                    <a:pt x="113" y="190"/>
                  </a:cubicBezTo>
                  <a:cubicBezTo>
                    <a:pt x="75" y="205"/>
                    <a:pt x="75" y="205"/>
                    <a:pt x="75" y="205"/>
                  </a:cubicBezTo>
                  <a:lnTo>
                    <a:pt x="111" y="240"/>
                  </a:lnTo>
                  <a:close/>
                  <a:moveTo>
                    <a:pt x="40" y="12"/>
                  </a:moveTo>
                  <a:cubicBezTo>
                    <a:pt x="37" y="4"/>
                    <a:pt x="28" y="0"/>
                    <a:pt x="20" y="3"/>
                  </a:cubicBezTo>
                  <a:cubicBezTo>
                    <a:pt x="11" y="7"/>
                    <a:pt x="11" y="7"/>
                    <a:pt x="11" y="7"/>
                  </a:cubicBezTo>
                  <a:cubicBezTo>
                    <a:pt x="3" y="10"/>
                    <a:pt x="0" y="19"/>
                    <a:pt x="3" y="27"/>
                  </a:cubicBezTo>
                  <a:cubicBezTo>
                    <a:pt x="10" y="46"/>
                    <a:pt x="10" y="46"/>
                    <a:pt x="10" y="46"/>
                  </a:cubicBezTo>
                  <a:cubicBezTo>
                    <a:pt x="48" y="30"/>
                    <a:pt x="48" y="30"/>
                    <a:pt x="48" y="30"/>
                  </a:cubicBezTo>
                  <a:lnTo>
                    <a:pt x="40" y="12"/>
                  </a:lnTo>
                  <a:close/>
                  <a:moveTo>
                    <a:pt x="116" y="235"/>
                  </a:moveTo>
                  <a:cubicBezTo>
                    <a:pt x="215" y="235"/>
                    <a:pt x="215" y="235"/>
                    <a:pt x="215" y="235"/>
                  </a:cubicBezTo>
                  <a:cubicBezTo>
                    <a:pt x="215" y="224"/>
                    <a:pt x="215" y="224"/>
                    <a:pt x="215" y="224"/>
                  </a:cubicBezTo>
                  <a:cubicBezTo>
                    <a:pt x="117" y="224"/>
                    <a:pt x="117" y="224"/>
                    <a:pt x="117" y="224"/>
                  </a:cubicBezTo>
                  <a:lnTo>
                    <a:pt x="116" y="235"/>
                  </a:lnTo>
                  <a:close/>
                  <a:moveTo>
                    <a:pt x="74" y="202"/>
                  </a:moveTo>
                  <a:cubicBezTo>
                    <a:pt x="12" y="50"/>
                    <a:pt x="12" y="50"/>
                    <a:pt x="12" y="50"/>
                  </a:cubicBezTo>
                  <a:cubicBezTo>
                    <a:pt x="50" y="34"/>
                    <a:pt x="50" y="34"/>
                    <a:pt x="50" y="34"/>
                  </a:cubicBezTo>
                  <a:cubicBezTo>
                    <a:pt x="112" y="187"/>
                    <a:pt x="112" y="187"/>
                    <a:pt x="112" y="187"/>
                  </a:cubicBezTo>
                  <a:lnTo>
                    <a:pt x="74" y="202"/>
                  </a:lnTo>
                  <a:close/>
                  <a:moveTo>
                    <a:pt x="37" y="44"/>
                  </a:moveTo>
                  <a:cubicBezTo>
                    <a:pt x="79" y="145"/>
                    <a:pt x="79" y="145"/>
                    <a:pt x="79" y="145"/>
                  </a:cubicBezTo>
                  <a:cubicBezTo>
                    <a:pt x="80" y="149"/>
                    <a:pt x="83" y="151"/>
                    <a:pt x="85" y="150"/>
                  </a:cubicBezTo>
                  <a:cubicBezTo>
                    <a:pt x="88" y="149"/>
                    <a:pt x="88" y="145"/>
                    <a:pt x="87" y="142"/>
                  </a:cubicBezTo>
                  <a:cubicBezTo>
                    <a:pt x="46" y="41"/>
                    <a:pt x="46" y="41"/>
                    <a:pt x="46" y="41"/>
                  </a:cubicBezTo>
                  <a:lnTo>
                    <a:pt x="37" y="44"/>
                  </a:lnTo>
                  <a:close/>
                  <a:moveTo>
                    <a:pt x="70" y="149"/>
                  </a:moveTo>
                  <a:cubicBezTo>
                    <a:pt x="29" y="48"/>
                    <a:pt x="29" y="48"/>
                    <a:pt x="29" y="48"/>
                  </a:cubicBezTo>
                  <a:cubicBezTo>
                    <a:pt x="21" y="51"/>
                    <a:pt x="21" y="51"/>
                    <a:pt x="21" y="51"/>
                  </a:cubicBezTo>
                  <a:cubicBezTo>
                    <a:pt x="62" y="152"/>
                    <a:pt x="62" y="152"/>
                    <a:pt x="62" y="152"/>
                  </a:cubicBezTo>
                  <a:cubicBezTo>
                    <a:pt x="63" y="156"/>
                    <a:pt x="66" y="158"/>
                    <a:pt x="68" y="157"/>
                  </a:cubicBezTo>
                  <a:cubicBezTo>
                    <a:pt x="71" y="156"/>
                    <a:pt x="72" y="152"/>
                    <a:pt x="70" y="149"/>
                  </a:cubicBezTo>
                  <a:close/>
                </a:path>
              </a:pathLst>
            </a:custGeom>
            <a:solidFill>
              <a:srgbClr val="014924"/>
            </a:solidFill>
            <a:ln>
              <a:noFill/>
            </a:ln>
          </p:spPr>
          <p:txBody>
            <a:bodyPr vert="horz" wrap="square" lIns="91440" tIns="45720" rIns="91440" bIns="45720" numCol="1" anchor="t" anchorCtr="0" compatLnSpc="1"/>
            <a:lstStyle/>
            <a:p>
              <a:endParaRPr lang="zh-CN" altLang="en-US">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aphicFrame>
        <p:nvGraphicFramePr>
          <p:cNvPr id="15" name="表格 14"/>
          <p:cNvGraphicFramePr>
            <a:graphicFrameLocks noGrp="1"/>
          </p:cNvGraphicFramePr>
          <p:nvPr/>
        </p:nvGraphicFramePr>
        <p:xfrm>
          <a:off x="780536" y="2254051"/>
          <a:ext cx="10995828" cy="4046413"/>
        </p:xfrm>
        <a:graphic>
          <a:graphicData uri="http://schemas.openxmlformats.org/drawingml/2006/table">
            <a:tbl>
              <a:tblPr firstRow="1" firstCol="1" bandRow="1"/>
              <a:tblGrid>
                <a:gridCol w="1740991">
                  <a:extLst>
                    <a:ext uri="{9D8B030D-6E8A-4147-A177-3AD203B41FA5}">
                      <a16:colId xmlns:a16="http://schemas.microsoft.com/office/drawing/2014/main" val="20000"/>
                    </a:ext>
                  </a:extLst>
                </a:gridCol>
                <a:gridCol w="9254837">
                  <a:extLst>
                    <a:ext uri="{9D8B030D-6E8A-4147-A177-3AD203B41FA5}">
                      <a16:colId xmlns:a16="http://schemas.microsoft.com/office/drawing/2014/main" val="20001"/>
                    </a:ext>
                  </a:extLst>
                </a:gridCol>
              </a:tblGrid>
              <a:tr h="347473">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zh-CN" sz="1800" kern="100" dirty="0">
                          <a:effectLst/>
                          <a:latin typeface="微软雅黑" panose="020B0503020204020204" pitchFamily="34" charset="-122"/>
                          <a:ea typeface="微软雅黑" panose="020B0503020204020204" pitchFamily="34" charset="-122"/>
                        </a:rPr>
                        <a:t>数据类型</a:t>
                      </a:r>
                      <a:endParaRPr lang="zh-CN" sz="1800" kern="100" dirty="0">
                        <a:effectLst/>
                        <a:latin typeface="微软雅黑" panose="020B0503020204020204" pitchFamily="34" charset="-122"/>
                        <a:ea typeface="微软雅黑" panose="020B0503020204020204" pitchFamily="34" charset="-122"/>
                        <a:cs typeface="宋体" pitchFamily="2" charset="-122"/>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49E39">
                        <a:lumMod val="75000"/>
                      </a:srgbClr>
                    </a:solidFill>
                  </a:tcPr>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zh-CN" sz="1800" kern="100" dirty="0">
                          <a:effectLst/>
                          <a:latin typeface="微软雅黑" panose="020B0503020204020204" pitchFamily="34" charset="-122"/>
                          <a:ea typeface="微软雅黑" panose="020B0503020204020204" pitchFamily="34" charset="-122"/>
                        </a:rPr>
                        <a:t>数据内容</a:t>
                      </a:r>
                      <a:endParaRPr lang="zh-CN" sz="1800" kern="100" dirty="0">
                        <a:effectLst/>
                        <a:latin typeface="微软雅黑" panose="020B0503020204020204" pitchFamily="34" charset="-122"/>
                        <a:ea typeface="微软雅黑" panose="020B0503020204020204" pitchFamily="34" charset="-122"/>
                        <a:cs typeface="宋体" pitchFamily="2" charset="-122"/>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549E39">
                        <a:lumMod val="75000"/>
                      </a:srgbClr>
                    </a:solidFill>
                  </a:tcPr>
                </a:tc>
                <a:extLst>
                  <a:ext uri="{0D108BD9-81ED-4DB2-BD59-A6C34878D82A}">
                    <a16:rowId xmlns:a16="http://schemas.microsoft.com/office/drawing/2014/main" val="10000"/>
                  </a:ext>
                </a:extLst>
              </a:tr>
              <a:tr h="1081965">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800" kern="100" dirty="0">
                          <a:effectLst/>
                          <a:latin typeface="微软雅黑" panose="020B0503020204020204" pitchFamily="34" charset="-122"/>
                          <a:ea typeface="微软雅黑" panose="020B0503020204020204" pitchFamily="34" charset="-122"/>
                        </a:rPr>
                        <a:t>炎症指标</a:t>
                      </a: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E762A"/>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lvl="0" indent="0" algn="l" defTabSz="914400" rtl="0" eaLnBrk="1" fontAlgn="auto" latinLnBrk="0" hangingPunct="1">
                        <a:lnSpc>
                          <a:spcPct val="110000"/>
                        </a:lnSpc>
                        <a:spcBef>
                          <a:spcPts val="0"/>
                        </a:spcBef>
                        <a:spcAft>
                          <a:spcPts val="600"/>
                        </a:spcAft>
                        <a:buClrTx/>
                        <a:buSzTx/>
                        <a:buFontTx/>
                        <a:buNone/>
                        <a:defRPr/>
                      </a:pPr>
                      <a:r>
                        <a:rPr lang="en-GB" altLang="zh-CN" sz="1600" kern="100" dirty="0">
                          <a:effectLst/>
                          <a:latin typeface="微软雅黑" panose="020B0503020204020204" pitchFamily="34" charset="-122"/>
                          <a:ea typeface="微软雅黑" panose="020B0503020204020204" pitchFamily="34" charset="-122"/>
                        </a:rPr>
                        <a:t>C </a:t>
                      </a:r>
                      <a:r>
                        <a:rPr lang="zh-CN" altLang="en-US" sz="1600" kern="100" dirty="0">
                          <a:effectLst/>
                          <a:latin typeface="微软雅黑" panose="020B0503020204020204" pitchFamily="34" charset="-122"/>
                          <a:ea typeface="微软雅黑" panose="020B0503020204020204" pitchFamily="34" charset="-122"/>
                        </a:rPr>
                        <a:t>反应蛋白与白蛋白比值（</a:t>
                      </a:r>
                      <a:r>
                        <a:rPr lang="en-GB" altLang="zh-CN" sz="1600" kern="100" dirty="0">
                          <a:effectLst/>
                          <a:latin typeface="微软雅黑" panose="020B0503020204020204" pitchFamily="34" charset="-122"/>
                          <a:ea typeface="微软雅黑" panose="020B0503020204020204" pitchFamily="34" charset="-122"/>
                        </a:rPr>
                        <a:t>CAR</a:t>
                      </a:r>
                      <a:r>
                        <a:rPr lang="zh-CN" altLang="en-GB" sz="1600" kern="100" dirty="0">
                          <a:effectLst/>
                          <a:latin typeface="微软雅黑" panose="020B0503020204020204" pitchFamily="34" charset="-122"/>
                          <a:ea typeface="微软雅黑" panose="020B0503020204020204" pitchFamily="34" charset="-122"/>
                        </a:rPr>
                        <a:t>）、</a:t>
                      </a:r>
                      <a:r>
                        <a:rPr lang="en-GB" altLang="zh-CN" sz="1600" kern="100" dirty="0">
                          <a:effectLst/>
                          <a:latin typeface="微软雅黑" panose="020B0503020204020204" pitchFamily="34" charset="-122"/>
                          <a:ea typeface="微软雅黑" panose="020B0503020204020204" pitchFamily="34" charset="-122"/>
                        </a:rPr>
                        <a:t>C </a:t>
                      </a:r>
                      <a:r>
                        <a:rPr lang="zh-CN" altLang="en-US" sz="1600" kern="100" dirty="0">
                          <a:effectLst/>
                          <a:latin typeface="微软雅黑" panose="020B0503020204020204" pitchFamily="34" charset="-122"/>
                          <a:ea typeface="微软雅黑" panose="020B0503020204020204" pitchFamily="34" charset="-122"/>
                        </a:rPr>
                        <a:t>反应蛋白与淋巴细胞比值（</a:t>
                      </a:r>
                      <a:r>
                        <a:rPr lang="en-GB" altLang="zh-CN" sz="1600" kern="100" dirty="0">
                          <a:effectLst/>
                          <a:latin typeface="微软雅黑" panose="020B0503020204020204" pitchFamily="34" charset="-122"/>
                          <a:ea typeface="微软雅黑" panose="020B0503020204020204" pitchFamily="34" charset="-122"/>
                        </a:rPr>
                        <a:t>CLR</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衍生中性粒细胞与淋巴细胞比值（</a:t>
                      </a:r>
                      <a:r>
                        <a:rPr lang="en-GB" altLang="zh-CN" sz="1600" kern="100" dirty="0" err="1">
                          <a:effectLst/>
                          <a:latin typeface="微软雅黑" panose="020B0503020204020204" pitchFamily="34" charset="-122"/>
                          <a:ea typeface="微软雅黑" panose="020B0503020204020204" pitchFamily="34" charset="-122"/>
                        </a:rPr>
                        <a:t>dNLR</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嗜酸性粒细胞与淋巴细胞比值（</a:t>
                      </a:r>
                      <a:r>
                        <a:rPr lang="en-GB" altLang="zh-CN" sz="1600" kern="100" dirty="0">
                          <a:effectLst/>
                          <a:latin typeface="微软雅黑" panose="020B0503020204020204" pitchFamily="34" charset="-122"/>
                          <a:ea typeface="微软雅黑" panose="020B0503020204020204" pitchFamily="34" charset="-122"/>
                        </a:rPr>
                        <a:t>ELR</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嗜酸性粒细胞与单核细胞比值（</a:t>
                      </a:r>
                      <a:r>
                        <a:rPr lang="en-GB" altLang="zh-CN" sz="1600" kern="100" dirty="0">
                          <a:effectLst/>
                          <a:latin typeface="微软雅黑" panose="020B0503020204020204" pitchFamily="34" charset="-122"/>
                          <a:ea typeface="微软雅黑" panose="020B0503020204020204" pitchFamily="34" charset="-122"/>
                        </a:rPr>
                        <a:t>EMR</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嗜酸性粒细胞与中性粒细胞比值（</a:t>
                      </a:r>
                      <a:r>
                        <a:rPr lang="en-GB" altLang="zh-CN" sz="1600" kern="100" dirty="0">
                          <a:effectLst/>
                          <a:latin typeface="微软雅黑" panose="020B0503020204020204" pitchFamily="34" charset="-122"/>
                          <a:ea typeface="微软雅黑" panose="020B0503020204020204" pitchFamily="34" charset="-122"/>
                        </a:rPr>
                        <a:t>ENR</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单核细胞与淋巴细胞比值（</a:t>
                      </a:r>
                      <a:r>
                        <a:rPr lang="en-GB" altLang="zh-CN" sz="1600" kern="100" dirty="0">
                          <a:effectLst/>
                          <a:latin typeface="微软雅黑" panose="020B0503020204020204" pitchFamily="34" charset="-122"/>
                          <a:ea typeface="微软雅黑" panose="020B0503020204020204" pitchFamily="34" charset="-122"/>
                        </a:rPr>
                        <a:t>MLR</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中性粒细胞与淋巴细胞比值（</a:t>
                      </a:r>
                      <a:r>
                        <a:rPr lang="en-GB" altLang="zh-CN" sz="1600" kern="100" dirty="0">
                          <a:effectLst/>
                          <a:latin typeface="微软雅黑" panose="020B0503020204020204" pitchFamily="34" charset="-122"/>
                          <a:ea typeface="微软雅黑" panose="020B0503020204020204" pitchFamily="34" charset="-122"/>
                        </a:rPr>
                        <a:t>NLR</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血小板与淋巴细胞比值（</a:t>
                      </a:r>
                      <a:r>
                        <a:rPr lang="en-GB" altLang="zh-CN" sz="1600" kern="100" dirty="0">
                          <a:effectLst/>
                          <a:latin typeface="微软雅黑" panose="020B0503020204020204" pitchFamily="34" charset="-122"/>
                          <a:ea typeface="微软雅黑" panose="020B0503020204020204" pitchFamily="34" charset="-122"/>
                        </a:rPr>
                        <a:t>PLR</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预后营养指数（</a:t>
                      </a:r>
                      <a:r>
                        <a:rPr lang="en-GB" altLang="zh-CN" sz="1600" kern="100" dirty="0">
                          <a:effectLst/>
                          <a:latin typeface="微软雅黑" panose="020B0503020204020204" pitchFamily="34" charset="-122"/>
                          <a:ea typeface="微软雅黑" panose="020B0503020204020204" pitchFamily="34" charset="-122"/>
                        </a:rPr>
                        <a:t>PNI</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全身免疫炎症指数（</a:t>
                      </a:r>
                      <a:r>
                        <a:rPr lang="en-GB" altLang="zh-CN" sz="1600" kern="100" dirty="0">
                          <a:effectLst/>
                          <a:latin typeface="微软雅黑" panose="020B0503020204020204" pitchFamily="34" charset="-122"/>
                          <a:ea typeface="微软雅黑" panose="020B0503020204020204" pitchFamily="34" charset="-122"/>
                        </a:rPr>
                        <a:t>SII</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和全身炎症反应指数（</a:t>
                      </a:r>
                      <a:r>
                        <a:rPr lang="en-GB" altLang="zh-CN" sz="1600" kern="100" dirty="0">
                          <a:effectLst/>
                          <a:latin typeface="微软雅黑" panose="020B0503020204020204" pitchFamily="34" charset="-122"/>
                          <a:ea typeface="微软雅黑" panose="020B0503020204020204" pitchFamily="34" charset="-122"/>
                        </a:rPr>
                        <a:t>SIRI</a:t>
                      </a:r>
                      <a:r>
                        <a:rPr lang="zh-CN" altLang="en-GB" sz="1600" kern="100" dirty="0">
                          <a:effectLst/>
                          <a:latin typeface="微软雅黑" panose="020B0503020204020204" pitchFamily="34" charset="-122"/>
                          <a:ea typeface="微软雅黑" panose="020B0503020204020204" pitchFamily="34" charset="-122"/>
                        </a:rPr>
                        <a:t>）</a:t>
                      </a:r>
                    </a:p>
                  </a:txBody>
                  <a:tcPr marL="68580" marR="6858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2E0CE"/>
                    </a:solidFill>
                  </a:tcPr>
                </a:tc>
                <a:extLst>
                  <a:ext uri="{0D108BD9-81ED-4DB2-BD59-A6C34878D82A}">
                    <a16:rowId xmlns:a16="http://schemas.microsoft.com/office/drawing/2014/main" val="10001"/>
                  </a:ext>
                </a:extLst>
              </a:tr>
              <a:tr h="997256">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zh-CN" altLang="en-US" sz="1800" kern="100" dirty="0">
                          <a:effectLst/>
                          <a:latin typeface="微软雅黑" panose="020B0503020204020204" pitchFamily="34" charset="-122"/>
                          <a:ea typeface="微软雅黑" panose="020B0503020204020204" pitchFamily="34" charset="-122"/>
                        </a:rPr>
                        <a:t>治疗结局</a:t>
                      </a:r>
                      <a:r>
                        <a:rPr lang="en-US" altLang="zh-CN" sz="1800" kern="100" baseline="30000" dirty="0">
                          <a:effectLst/>
                          <a:latin typeface="微软雅黑" panose="020B0503020204020204" pitchFamily="34" charset="-122"/>
                          <a:ea typeface="微软雅黑" panose="020B0503020204020204" pitchFamily="34" charset="-122"/>
                        </a:rPr>
                        <a:t>[1,2]</a:t>
                      </a:r>
                      <a:endParaRPr lang="zh-CN" sz="1800" kern="100" baseline="30000" dirty="0">
                        <a:effectLst/>
                        <a:latin typeface="微软雅黑" panose="020B0503020204020204" pitchFamily="34" charset="-122"/>
                        <a:ea typeface="微软雅黑" panose="020B0503020204020204" pitchFamily="34" charset="-122"/>
                        <a:cs typeface="宋体" pitchFamily="2" charset="-122"/>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49E39">
                        <a:lumMod val="75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10000"/>
                        </a:lnSpc>
                        <a:spcBef>
                          <a:spcPts val="0"/>
                        </a:spcBef>
                        <a:spcAft>
                          <a:spcPts val="0"/>
                        </a:spcAft>
                        <a:buClrTx/>
                        <a:buSzTx/>
                        <a:buFontTx/>
                        <a:buNone/>
                        <a:defRPr/>
                      </a:pPr>
                      <a:r>
                        <a:rPr lang="zh-CN" altLang="en-US" sz="1600" kern="100" dirty="0">
                          <a:effectLst/>
                          <a:latin typeface="微软雅黑" panose="020B0503020204020204" pitchFamily="34" charset="-122"/>
                          <a:ea typeface="微软雅黑" panose="020B0503020204020204" pitchFamily="34" charset="-122"/>
                          <a:cs typeface="宋体" pitchFamily="2" charset="-122"/>
                        </a:rPr>
                        <a:t>治疗成功：</a:t>
                      </a:r>
                      <a:r>
                        <a:rPr lang="zh-CN" altLang="en-US"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a:t>
                      </a:r>
                      <a:r>
                        <a:rPr lang="en-US" altLang="zh-CN"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1</a:t>
                      </a:r>
                      <a:r>
                        <a:rPr lang="zh-CN" altLang="en-US"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）治愈：在治疗开始时经细菌学确诊为肺结核的患者，按照国家政策完成治疗，有细菌学反应的证据且无治疗失败的证据；</a:t>
                      </a:r>
                      <a:r>
                        <a:rPr lang="en-US" altLang="zh-CN"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(2) </a:t>
                      </a:r>
                      <a:r>
                        <a:rPr lang="zh-CN" altLang="en-US"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治疗完成：按照国家政策完成治疗，但结果不符合治愈或治疗失败的定义的患者</a:t>
                      </a:r>
                      <a:endParaRPr lang="en-US" altLang="zh-CN"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endParaRPr>
                    </a:p>
                    <a:p>
                      <a:pPr marL="0" marR="0" indent="0" algn="l" defTabSz="914400" rtl="0" eaLnBrk="1" fontAlgn="auto" latinLnBrk="0" hangingPunct="1">
                        <a:lnSpc>
                          <a:spcPct val="110000"/>
                        </a:lnSpc>
                        <a:spcBef>
                          <a:spcPts val="0"/>
                        </a:spcBef>
                        <a:spcAft>
                          <a:spcPts val="0"/>
                        </a:spcAft>
                        <a:buClrTx/>
                        <a:buSzTx/>
                        <a:buFontTx/>
                        <a:buNone/>
                        <a:defRPr/>
                      </a:pPr>
                      <a:r>
                        <a:rPr lang="zh-CN" altLang="en-US"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不良结局：</a:t>
                      </a:r>
                      <a:r>
                        <a:rPr lang="en-US" altLang="zh-CN"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(3) </a:t>
                      </a:r>
                      <a:r>
                        <a:rPr lang="zh-CN" altLang="en-US"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治疗失败：需要终止治疗方案或永久性改为新的治疗方案或治疗策略的患者；</a:t>
                      </a:r>
                      <a:r>
                        <a:rPr lang="en-US" altLang="zh-CN"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(4) </a:t>
                      </a:r>
                      <a:r>
                        <a:rPr lang="zh-CN" altLang="en-US" sz="1600" kern="100" dirty="0">
                          <a:effectLst/>
                          <a:latin typeface="微软雅黑" panose="020B0503020204020204" pitchFamily="34" charset="-122"/>
                          <a:ea typeface="微软雅黑" panose="020B0503020204020204" pitchFamily="34" charset="-122"/>
                          <a:cs typeface="宋体" pitchFamily="2" charset="-122"/>
                          <a:sym typeface="Wingdings" panose="05000000000000000000" pitchFamily="2" charset="2"/>
                        </a:rPr>
                        <a:t>死亡：在开始治疗前或治疗期间死亡的患者</a:t>
                      </a:r>
                      <a:endParaRPr lang="zh-CN" sz="1600" kern="100" dirty="0">
                        <a:effectLst/>
                        <a:latin typeface="微软雅黑" panose="020B0503020204020204" pitchFamily="34" charset="-122"/>
                        <a:ea typeface="微软雅黑" panose="020B0503020204020204" pitchFamily="34" charset="-122"/>
                        <a:cs typeface="宋体" pitchFamily="2" charset="-122"/>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49E39">
                        <a:tint val="20000"/>
                      </a:srgbClr>
                    </a:solidFill>
                  </a:tcPr>
                </a:tc>
                <a:extLst>
                  <a:ext uri="{0D108BD9-81ED-4DB2-BD59-A6C34878D82A}">
                    <a16:rowId xmlns:a16="http://schemas.microsoft.com/office/drawing/2014/main" val="10002"/>
                  </a:ext>
                </a:extLst>
              </a:tr>
              <a:tr h="811474">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zh-CN" altLang="en-US" sz="1800" kern="100" dirty="0">
                          <a:effectLst/>
                          <a:latin typeface="微软雅黑" panose="020B0503020204020204" pitchFamily="34" charset="-122"/>
                          <a:ea typeface="微软雅黑" panose="020B0503020204020204" pitchFamily="34" charset="-122"/>
                        </a:rPr>
                        <a:t>临床人口学特征</a:t>
                      </a:r>
                      <a:endParaRPr lang="zh-CN" sz="1800" kern="100" dirty="0">
                        <a:effectLst/>
                        <a:latin typeface="微软雅黑" panose="020B0503020204020204" pitchFamily="34" charset="-122"/>
                        <a:ea typeface="微软雅黑" panose="020B0503020204020204" pitchFamily="34" charset="-122"/>
                        <a:cs typeface="宋体" pitchFamily="2" charset="-122"/>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49E39">
                        <a:lumMod val="75000"/>
                      </a:srgbClr>
                    </a:solidFill>
                  </a:tcPr>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l" defTabSz="914400" rtl="0" eaLnBrk="1" fontAlgn="auto" latinLnBrk="0" hangingPunct="1">
                        <a:lnSpc>
                          <a:spcPct val="110000"/>
                        </a:lnSpc>
                        <a:spcBef>
                          <a:spcPts val="0"/>
                        </a:spcBef>
                        <a:spcAft>
                          <a:spcPts val="0"/>
                        </a:spcAft>
                        <a:buClrTx/>
                        <a:buSzTx/>
                        <a:buFontTx/>
                        <a:buNone/>
                        <a:defRPr/>
                      </a:pPr>
                      <a:r>
                        <a:rPr lang="zh-CN" altLang="en-US" sz="1600" kern="100" dirty="0">
                          <a:effectLst/>
                          <a:latin typeface="微软雅黑" panose="020B0503020204020204" pitchFamily="34" charset="-122"/>
                          <a:ea typeface="微软雅黑" panose="020B0503020204020204" pitchFamily="34" charset="-122"/>
                        </a:rPr>
                        <a:t>年龄、性别、</a:t>
                      </a:r>
                      <a:r>
                        <a:rPr lang="en-GB" altLang="zh-CN" sz="1600" kern="100" dirty="0">
                          <a:effectLst/>
                          <a:latin typeface="微软雅黑" panose="020B0503020204020204" pitchFamily="34" charset="-122"/>
                          <a:ea typeface="微软雅黑" panose="020B0503020204020204" pitchFamily="34" charset="-122"/>
                        </a:rPr>
                        <a:t>BMI</a:t>
                      </a:r>
                      <a:r>
                        <a:rPr lang="zh-CN" altLang="en-GB" sz="1600" kern="100" dirty="0">
                          <a:effectLst/>
                          <a:latin typeface="微软雅黑" panose="020B0503020204020204" pitchFamily="34" charset="-122"/>
                          <a:ea typeface="微软雅黑" panose="020B0503020204020204" pitchFamily="34" charset="-122"/>
                        </a:rPr>
                        <a:t>、</a:t>
                      </a:r>
                      <a:r>
                        <a:rPr lang="zh-CN" altLang="en-US" sz="1600" kern="100" dirty="0">
                          <a:effectLst/>
                          <a:latin typeface="微软雅黑" panose="020B0503020204020204" pitchFamily="34" charset="-122"/>
                          <a:ea typeface="微软雅黑" panose="020B0503020204020204" pitchFamily="34" charset="-122"/>
                        </a:rPr>
                        <a:t>户籍、就业状况、饮酒情况、吸烟状况、诊断延迟 （患者相关、医院相关和总诊断延迟）、治疗类别、结核病相关症状（咳嗽、咳痰、发热、胸痛、咯血、盗汗、乏力和体重减轻）、合并症（糖尿病、乙型肝炎病毒感染、高血压、肿瘤、贫血和肺外结核）、基线及治疗两个月后的病原学状态、药物敏感性试验结果以及影像学表现（空洞、胸膜病变和胸腔积液）</a:t>
                      </a:r>
                      <a:endParaRPr lang="zh-CN" sz="1600" kern="100" dirty="0">
                        <a:effectLst/>
                        <a:latin typeface="微软雅黑" panose="020B0503020204020204" pitchFamily="34" charset="-122"/>
                        <a:ea typeface="微软雅黑" panose="020B0503020204020204" pitchFamily="34" charset="-122"/>
                        <a:cs typeface="宋体" pitchFamily="2" charset="-122"/>
                      </a:endParaRPr>
                    </a:p>
                  </a:txBody>
                  <a:tcPr marL="68580" marR="6858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549E39">
                        <a:tint val="40000"/>
                      </a:srgbClr>
                    </a:solidFill>
                  </a:tcPr>
                </a:tc>
                <a:extLst>
                  <a:ext uri="{0D108BD9-81ED-4DB2-BD59-A6C34878D82A}">
                    <a16:rowId xmlns:a16="http://schemas.microsoft.com/office/drawing/2014/main" val="10003"/>
                  </a:ext>
                </a:extLst>
              </a:tr>
            </a:tbl>
          </a:graphicData>
        </a:graphic>
      </p:graphicFrame>
      <p:sp>
        <p:nvSpPr>
          <p:cNvPr id="17" name="文本框 16"/>
          <p:cNvSpPr txBox="1"/>
          <p:nvPr/>
        </p:nvSpPr>
        <p:spPr>
          <a:xfrm>
            <a:off x="780536" y="6356350"/>
            <a:ext cx="3600000" cy="400110"/>
          </a:xfrm>
          <a:prstGeom prst="rect">
            <a:avLst/>
          </a:prstGeom>
          <a:noFill/>
          <a:ln w="19050">
            <a:noFill/>
          </a:ln>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[1]Linh N N, et al. European Respiratory Journal, 2021.</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000" b="0" i="0" u="none" strike="noStrike" kern="1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[2]Liu X, et al. The Lancet. Global Health, 2023..</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8610600" y="6356350"/>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13</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4" name="组合 3"/>
          <p:cNvGrpSpPr>
            <a:grpSpLocks noChangeAspect="1"/>
          </p:cNvGrpSpPr>
          <p:nvPr/>
        </p:nvGrpSpPr>
        <p:grpSpPr>
          <a:xfrm>
            <a:off x="2390007" y="543609"/>
            <a:ext cx="7379649" cy="3945771"/>
            <a:chOff x="5163882" y="914893"/>
            <a:chExt cx="6458831" cy="3453425"/>
          </a:xfrm>
        </p:grpSpPr>
        <p:pic>
          <p:nvPicPr>
            <p:cNvPr id="54" name="图片 5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5263060" y="914893"/>
              <a:ext cx="6359653" cy="3176062"/>
            </a:xfrm>
            <a:prstGeom prst="rect">
              <a:avLst/>
            </a:prstGeom>
          </p:spPr>
        </p:pic>
        <p:sp>
          <p:nvSpPr>
            <p:cNvPr id="3" name="文本框 2"/>
            <p:cNvSpPr txBox="1"/>
            <p:nvPr/>
          </p:nvSpPr>
          <p:spPr>
            <a:xfrm>
              <a:off x="5163882" y="4098945"/>
              <a:ext cx="6458831" cy="269373"/>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技术路线图</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67" name="组合 66"/>
          <p:cNvGrpSpPr/>
          <p:nvPr/>
        </p:nvGrpSpPr>
        <p:grpSpPr>
          <a:xfrm>
            <a:off x="-80276" y="-309462"/>
            <a:ext cx="12272277" cy="991435"/>
            <a:chOff x="-80276" y="-309462"/>
            <a:chExt cx="12272277" cy="991435"/>
          </a:xfrm>
        </p:grpSpPr>
        <p:sp>
          <p:nvSpPr>
            <p:cNvPr id="5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6" name="组合 65"/>
            <p:cNvGrpSpPr/>
            <p:nvPr/>
          </p:nvGrpSpPr>
          <p:grpSpPr>
            <a:xfrm>
              <a:off x="4416378" y="-31583"/>
              <a:ext cx="2576999" cy="581449"/>
              <a:chOff x="4826291" y="-31583"/>
              <a:chExt cx="2576999" cy="581449"/>
            </a:xfrm>
          </p:grpSpPr>
          <p:sp>
            <p:nvSpPr>
              <p:cNvPr id="60"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1"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研究方法</a:t>
                </a:r>
              </a:p>
            </p:txBody>
          </p:sp>
        </p:grpSp>
        <p:sp>
          <p:nvSpPr>
            <p:cNvPr id="62"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63"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64"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65"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15" name="文本框 14"/>
          <p:cNvSpPr txBox="1"/>
          <p:nvPr/>
        </p:nvSpPr>
        <p:spPr>
          <a:xfrm>
            <a:off x="389644" y="5150248"/>
            <a:ext cx="4100383" cy="1225592"/>
          </a:xfrm>
          <a:prstGeom prst="rect">
            <a:avLst/>
          </a:prstGeom>
          <a:noFill/>
          <a:ln w="19050">
            <a:solidFill>
              <a:schemeClr val="accent1"/>
            </a:solidFill>
          </a:ln>
        </p:spPr>
        <p:txBody>
          <a:bodyPr wrap="square">
            <a:spAutoFit/>
          </a:bodyPr>
          <a:lstStyle/>
          <a:p>
            <a:pPr marL="0" marR="0" lvl="0" indent="0" defTabSz="914400" rtl="0" eaLnBrk="1" fontAlgn="auto" latinLnBrk="0" hangingPunct="1">
              <a:lnSpc>
                <a:spcPct val="13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统计描述</a:t>
            </a:r>
            <a:endParaRPr kumimoji="0" lang="en-US" altLang="zh-CN"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Ø"/>
              <a:defRPr/>
            </a:pP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连续变量：</a:t>
            </a:r>
            <a:r>
              <a:rPr kumimoji="0" lang="en-GB" altLang="zh-CN" sz="14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Mean±SD</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Median(IQR); </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方差分析</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秩和检验</a:t>
            </a:r>
            <a:endPar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Ø"/>
              <a:defRPr/>
            </a:pP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分类变量：</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 </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；卡方检验</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/Fisher</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检验</a:t>
            </a:r>
            <a:endPar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6" name="圆角矩形 15"/>
          <p:cNvSpPr/>
          <p:nvPr/>
        </p:nvSpPr>
        <p:spPr>
          <a:xfrm>
            <a:off x="2590798" y="2241075"/>
            <a:ext cx="1336707" cy="516612"/>
          </a:xfrm>
          <a:prstGeom prst="roundRect">
            <a:avLst/>
          </a:prstGeom>
          <a:noFill/>
          <a:ln w="381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7" name="圆角矩形 16"/>
          <p:cNvSpPr/>
          <p:nvPr/>
        </p:nvSpPr>
        <p:spPr>
          <a:xfrm>
            <a:off x="4268495" y="2241075"/>
            <a:ext cx="2196000" cy="516612"/>
          </a:xfrm>
          <a:prstGeom prst="round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2"/>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9" name="文本框 18"/>
          <p:cNvSpPr txBox="1"/>
          <p:nvPr/>
        </p:nvSpPr>
        <p:spPr>
          <a:xfrm>
            <a:off x="4831016" y="4626224"/>
            <a:ext cx="5882511" cy="1954253"/>
          </a:xfrm>
          <a:prstGeom prst="rect">
            <a:avLst/>
          </a:prstGeom>
          <a:noFill/>
          <a:ln w="19050">
            <a:solidFill>
              <a:schemeClr val="accent2"/>
            </a:solidFill>
          </a:ln>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数据处理</a:t>
            </a:r>
            <a:endParaRPr kumimoji="0" lang="en-US" altLang="zh-CN"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defRPr/>
            </a:pP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对含缺失数据的协变量进行多重插补</a:t>
            </a:r>
            <a:endPar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defRPr/>
            </a:pP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根据炎症指标的三分位数将患者划分为</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Q1</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Q2</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Q3</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组</a:t>
            </a:r>
            <a:endPar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炎症指标与预后的关联分析</a:t>
            </a:r>
            <a:endParaRPr kumimoji="0" lang="en-US" altLang="zh-CN"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defRPr/>
            </a:pP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累计风险差异：</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Kaplan-Meier</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分析，</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Log-rank</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检验</a:t>
            </a:r>
            <a:endPar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defRPr/>
            </a:pP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关联程度：</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Cox</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回归模型，基于不同校正因素构建</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Model</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1-3</a:t>
            </a:r>
          </a:p>
          <a:p>
            <a:pPr marL="285750" marR="0" lvl="0" indent="-285750" algn="l" defTabSz="914400" rtl="0" eaLnBrk="1" fontAlgn="auto" latinLnBrk="0" hangingPunct="1">
              <a:lnSpc>
                <a:spcPct val="120000"/>
              </a:lnSpc>
              <a:spcBef>
                <a:spcPts val="0"/>
              </a:spcBef>
              <a:spcAft>
                <a:spcPts val="0"/>
              </a:spcAft>
              <a:buClrTx/>
              <a:buSzTx/>
              <a:buFont typeface="Wingdings" panose="05000000000000000000" pitchFamily="2" charset="2"/>
              <a:buChar char="Ø"/>
              <a:defRPr/>
            </a:pP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关联形式：</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RCS</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分析，基于</a:t>
            </a:r>
            <a:r>
              <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AIC</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确定最佳</a:t>
            </a:r>
            <a:r>
              <a:rPr kumimoji="0" lang="en-US" altLang="zh-CN" sz="14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kont</a:t>
            </a:r>
            <a:r>
              <a:rPr kumimoji="0" lang="zh-CN" altLang="en-US"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值</a:t>
            </a:r>
            <a:endParaRPr kumimoji="0" lang="en-US" altLang="zh-CN" sz="14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cxnSp>
        <p:nvCxnSpPr>
          <p:cNvPr id="21" name="肘形连接符 20"/>
          <p:cNvCxnSpPr/>
          <p:nvPr/>
        </p:nvCxnSpPr>
        <p:spPr>
          <a:xfrm rot="5400000">
            <a:off x="881830" y="3463700"/>
            <a:ext cx="2650865" cy="722230"/>
          </a:xfrm>
          <a:prstGeom prst="bentConnector3">
            <a:avLst>
              <a:gd name="adj1" fmla="val -174"/>
            </a:avLst>
          </a:prstGeom>
          <a:ln w="1905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4" name="肘形连接符 23"/>
          <p:cNvCxnSpPr>
            <a:stCxn id="17" idx="1"/>
          </p:cNvCxnSpPr>
          <p:nvPr/>
        </p:nvCxnSpPr>
        <p:spPr>
          <a:xfrm rot="10800000" flipH="1" flipV="1">
            <a:off x="4268494" y="2499381"/>
            <a:ext cx="562519" cy="2407920"/>
          </a:xfrm>
          <a:prstGeom prst="bentConnector4">
            <a:avLst>
              <a:gd name="adj1" fmla="val -40639"/>
              <a:gd name="adj2" fmla="val 99866"/>
            </a:avLst>
          </a:prstGeom>
          <a:ln w="19050">
            <a:solidFill>
              <a:schemeClr val="accent2"/>
            </a:solidFill>
            <a:prstDash val="sysDash"/>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80276" y="-309462"/>
            <a:ext cx="12272277" cy="991435"/>
            <a:chOff x="-80276" y="-309462"/>
            <a:chExt cx="12272277" cy="991435"/>
          </a:xfrm>
        </p:grpSpPr>
        <p:sp>
          <p:nvSpPr>
            <p:cNvPr id="4"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5" name="组合 4"/>
            <p:cNvGrpSpPr/>
            <p:nvPr/>
          </p:nvGrpSpPr>
          <p:grpSpPr>
            <a:xfrm>
              <a:off x="4416378" y="-31583"/>
              <a:ext cx="2576999" cy="581449"/>
              <a:chOff x="4826291" y="-31583"/>
              <a:chExt cx="2576999" cy="581449"/>
            </a:xfrm>
          </p:grpSpPr>
          <p:sp>
            <p:nvSpPr>
              <p:cNvPr id="10"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1"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研究结果</a:t>
                </a:r>
              </a:p>
            </p:txBody>
          </p:sp>
        </p:grpSp>
        <p:sp>
          <p:nvSpPr>
            <p:cNvPr id="6"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7"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8"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9"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52" name="灯片编号占位符 21"/>
          <p:cNvSpPr>
            <a:spLocks noGrp="1"/>
          </p:cNvSpPr>
          <p:nvPr>
            <p:ph type="sldNum" sz="quarter" idx="12"/>
          </p:nvPr>
        </p:nvSpPr>
        <p:spPr>
          <a:xfrm>
            <a:off x="9357163" y="6328968"/>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14</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 name="TextBox 9"/>
          <p:cNvSpPr txBox="1"/>
          <p:nvPr/>
        </p:nvSpPr>
        <p:spPr>
          <a:xfrm>
            <a:off x="395829" y="668118"/>
            <a:ext cx="1762525"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患者基线特征</a:t>
            </a:r>
          </a:p>
        </p:txBody>
      </p:sp>
      <p:sp>
        <p:nvSpPr>
          <p:cNvPr id="18" name="Text Box 9"/>
          <p:cNvSpPr txBox="1"/>
          <p:nvPr/>
        </p:nvSpPr>
        <p:spPr>
          <a:xfrm>
            <a:off x="560609" y="3711446"/>
            <a:ext cx="5313045" cy="2675156"/>
          </a:xfrm>
          <a:prstGeom prst="rect">
            <a:avLst/>
          </a:prstGeom>
          <a:noFill/>
        </p:spPr>
        <p:txBody>
          <a:bodyPr wrap="square" rtlCol="0" anchor="t">
            <a:spAutoFit/>
          </a:bodyPr>
          <a:lstStyle/>
          <a:p>
            <a:pPr indent="0">
              <a:lnSpc>
                <a:spcPct val="150000"/>
              </a:lnSpc>
              <a:buFont typeface="Wingdings" panose="05000000000000000000" charset="0"/>
              <a:buNone/>
            </a:pPr>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sym typeface="+mn-ea"/>
              </a:rPr>
              <a:t>与治疗成功的患者相比，发生不良结局的患者：</a:t>
            </a:r>
          </a:p>
          <a:p>
            <a:pPr marL="342900" indent="-342900">
              <a:lnSpc>
                <a:spcPct val="150000"/>
              </a:lnSpc>
              <a:buFont typeface="Wingdings" panose="05000000000000000000" charset="0"/>
              <a:buChar char=""/>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年龄更大、</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BMI</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较低、男性较多</a:t>
            </a:r>
          </a:p>
          <a:p>
            <a:pPr marL="342900" indent="-342900">
              <a:lnSpc>
                <a:spcPct val="150000"/>
              </a:lnSpc>
              <a:buFont typeface="Wingdings" panose="05000000000000000000" charset="0"/>
              <a:buChar char=""/>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无业人员、复治患者更多</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342900" indent="-342900">
              <a:lnSpc>
                <a:spcPct val="150000"/>
              </a:lnSpc>
              <a:buFont typeface="Wingdings" panose="05000000000000000000" charset="0"/>
              <a:buChar char=""/>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咳痰、乏力和体重减轻发生率更高</a:t>
            </a:r>
          </a:p>
          <a:p>
            <a:pPr marL="342900" indent="-342900">
              <a:lnSpc>
                <a:spcPct val="150000"/>
              </a:lnSpc>
              <a:buFont typeface="Wingdings" panose="05000000000000000000" charset="0"/>
              <a:buChar char=""/>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糖尿病、高血压、肿瘤和贫血的患病率更高</a:t>
            </a:r>
          </a:p>
          <a:p>
            <a:pPr marL="342900" indent="-342900">
              <a:lnSpc>
                <a:spcPct val="150000"/>
              </a:lnSpc>
              <a:buFont typeface="Wingdings" panose="05000000000000000000" charset="0"/>
              <a:buChar char=""/>
            </a:pP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2</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月末病原学阳性率更高</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342900" indent="-342900">
              <a:lnSpc>
                <a:spcPct val="150000"/>
              </a:lnSpc>
              <a:buFont typeface="Wingdings" panose="05000000000000000000" charset="0"/>
              <a:buChar char=""/>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肺部空洞、胸膜炎、胸腔积液和耐药检出率更高</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p:txBody>
      </p:sp>
      <p:sp>
        <p:nvSpPr>
          <p:cNvPr id="19" name="Text Box 9"/>
          <p:cNvSpPr txBox="1"/>
          <p:nvPr/>
        </p:nvSpPr>
        <p:spPr>
          <a:xfrm>
            <a:off x="560609" y="1163956"/>
            <a:ext cx="7381447" cy="2265044"/>
          </a:xfrm>
          <a:prstGeom prst="rect">
            <a:avLst/>
          </a:prstGeom>
          <a:noFill/>
        </p:spPr>
        <p:txBody>
          <a:bodyPr wrap="square" rtlCol="0" anchor="t">
            <a:spAutoFit/>
          </a:bodyPr>
          <a:lstStyle/>
          <a:p>
            <a:pPr indent="0">
              <a:lnSpc>
                <a:spcPct val="150000"/>
              </a:lnSpc>
              <a:buFont typeface="Wingdings" panose="05000000000000000000" charset="0"/>
              <a:buNone/>
            </a:pPr>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sym typeface="+mn-ea"/>
              </a:rPr>
              <a:t>共纳入</a:t>
            </a:r>
            <a:r>
              <a:rPr lang="en-US" altLang="zh-CN" sz="1600" b="1" dirty="0">
                <a:latin typeface="Times New Roman" panose="02020503050405090304" pitchFamily="18" charset="0"/>
                <a:ea typeface="Microsoft YaHei UI" panose="020B0503020204020204" pitchFamily="34" charset="-122"/>
                <a:cs typeface="Times New Roman" panose="02020503050405090304" pitchFamily="18" charset="0"/>
                <a:sym typeface="+mn-ea"/>
              </a:rPr>
              <a:t>4027</a:t>
            </a:r>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sym typeface="+mn-ea"/>
              </a:rPr>
              <a:t>名肺结核患者：</a:t>
            </a:r>
            <a:endParaRPr lang="en-US" altLang="zh-CN" sz="1600" b="1"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285750" indent="-285750">
              <a:lnSpc>
                <a:spcPct val="150000"/>
              </a:lnSpc>
              <a:buFont typeface="Wingdings" panose="05000000000000000000" pitchFamily="2" charset="2"/>
              <a:buChar char="Ø"/>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中位年龄为</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38</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岁，中位治疗时间为</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9.37</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月。</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285750" indent="-285750">
              <a:lnSpc>
                <a:spcPct val="150000"/>
              </a:lnSpc>
              <a:buFont typeface="Wingdings" panose="05000000000000000000" pitchFamily="2" charset="2"/>
              <a:buChar char="Ø"/>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以男性、流动人口和初治患者为主</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285750" indent="-285750">
              <a:lnSpc>
                <a:spcPct val="150000"/>
              </a:lnSpc>
              <a:buFont typeface="Wingdings" panose="05000000000000000000" pitchFamily="2" charset="2"/>
              <a:buChar char="Ø"/>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咳嗽和糖尿病分别是最常见的结核病相关症状和合并症</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285750" indent="-285750">
              <a:lnSpc>
                <a:spcPct val="150000"/>
              </a:lnSpc>
              <a:buFont typeface="Wingdings" panose="05000000000000000000" pitchFamily="2" charset="2"/>
              <a:buChar char="Ø"/>
            </a:pP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97.4%</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的患者基线</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MTB</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病原学阳性，仍有</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8.7%</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的患者在</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2</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月末病原学阳性</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285750" indent="-285750">
              <a:lnSpc>
                <a:spcPct val="150000"/>
              </a:lnSpc>
              <a:buFont typeface="Wingdings" panose="05000000000000000000" pitchFamily="2" charset="2"/>
              <a:buChar char="Ø"/>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药物敏感性肺结核和耐多药肺结核分别有</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2456</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例和</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163</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sym typeface="+mn-ea"/>
              </a:rPr>
              <a:t>例</a:t>
            </a:r>
          </a:p>
        </p:txBody>
      </p:sp>
      <p:cxnSp>
        <p:nvCxnSpPr>
          <p:cNvPr id="20" name="直线连接符 19"/>
          <p:cNvCxnSpPr/>
          <p:nvPr/>
        </p:nvCxnSpPr>
        <p:spPr>
          <a:xfrm flipV="1">
            <a:off x="177990" y="3561166"/>
            <a:ext cx="7304260" cy="18114"/>
          </a:xfrm>
          <a:prstGeom prst="line">
            <a:avLst/>
          </a:prstGeom>
          <a:ln w="12700">
            <a:solidFill>
              <a:schemeClr val="tx1">
                <a:lumMod val="50000"/>
                <a:lumOff val="50000"/>
              </a:schemeClr>
            </a:solidFill>
            <a:prstDash val="dash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7738726" y="-18781"/>
            <a:ext cx="3598760" cy="261610"/>
          </a:xfrm>
          <a:prstGeom prst="rect">
            <a:avLst/>
          </a:prstGeom>
          <a:solidFill>
            <a:schemeClr val="bg1"/>
          </a:solidFill>
          <a:ln w="19050">
            <a:noFill/>
          </a:ln>
        </p:spPr>
        <p:txBody>
          <a:bodyPr wrap="square">
            <a:spAutoFit/>
          </a:bodyPr>
          <a:lstStyle/>
          <a:p>
            <a:pPr algn="ctr"/>
            <a:r>
              <a:rPr lang="zh-CN" altLang="en-US" sz="11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表</a:t>
            </a:r>
            <a:r>
              <a:rPr lang="en-US" altLang="zh-CN" sz="11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2-4/2-5</a:t>
            </a:r>
            <a:r>
              <a:rPr lang="zh-CN" altLang="en-US" sz="11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  研究对象人口学和临床特征（节选）</a:t>
            </a:r>
            <a:endParaRPr lang="zh-CN" altLang="en-US" sz="1100" baseline="300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17" name="图片 16"/>
          <p:cNvPicPr>
            <a:picLocks noChangeAspect="1"/>
          </p:cNvPicPr>
          <p:nvPr/>
        </p:nvPicPr>
        <p:blipFill>
          <a:blip r:embed="rId4"/>
          <a:stretch>
            <a:fillRect/>
          </a:stretch>
        </p:blipFill>
        <p:spPr>
          <a:xfrm>
            <a:off x="7738726" y="185115"/>
            <a:ext cx="3598760" cy="6702038"/>
          </a:xfrm>
          <a:prstGeom prst="rect">
            <a:avLst/>
          </a:prstGeom>
          <a:solidFill>
            <a:schemeClr val="bg1"/>
          </a:solidFill>
        </p:spPr>
      </p:pic>
      <p:pic>
        <p:nvPicPr>
          <p:cNvPr id="12" name="图片 11"/>
          <p:cNvPicPr>
            <a:picLocks noChangeAspect="1"/>
          </p:cNvPicPr>
          <p:nvPr/>
        </p:nvPicPr>
        <p:blipFill>
          <a:blip r:embed="rId5"/>
          <a:stretch>
            <a:fillRect/>
          </a:stretch>
        </p:blipFill>
        <p:spPr>
          <a:xfrm>
            <a:off x="7730686" y="185115"/>
            <a:ext cx="3606800" cy="67183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8610600" y="6356350"/>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15</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 name="TextBox 9"/>
          <p:cNvSpPr txBox="1"/>
          <p:nvPr/>
        </p:nvSpPr>
        <p:spPr>
          <a:xfrm>
            <a:off x="326554" y="717052"/>
            <a:ext cx="1762525"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患者基线特征</a:t>
            </a:r>
          </a:p>
        </p:txBody>
      </p:sp>
      <p:grpSp>
        <p:nvGrpSpPr>
          <p:cNvPr id="10" name="组合 9"/>
          <p:cNvGrpSpPr/>
          <p:nvPr/>
        </p:nvGrpSpPr>
        <p:grpSpPr>
          <a:xfrm>
            <a:off x="5080271" y="1242938"/>
            <a:ext cx="6945595" cy="5025653"/>
            <a:chOff x="4919851" y="1242938"/>
            <a:chExt cx="6945595" cy="5025653"/>
          </a:xfrm>
        </p:grpSpPr>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9852" y="1242938"/>
              <a:ext cx="6945594" cy="4630117"/>
            </a:xfrm>
            <a:prstGeom prst="rect">
              <a:avLst/>
            </a:prstGeom>
          </p:spPr>
        </p:pic>
        <p:sp>
          <p:nvSpPr>
            <p:cNvPr id="9" name="文本框 8"/>
            <p:cNvSpPr txBox="1"/>
            <p:nvPr/>
          </p:nvSpPr>
          <p:spPr>
            <a:xfrm>
              <a:off x="4919851" y="5960814"/>
              <a:ext cx="6945593"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2-3</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治疗成功与不良结局患者之间</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炎症指标</a:t>
              </a:r>
              <a:r>
                <a:rPr lang="zh-CN"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的分布差异</a:t>
              </a:r>
              <a:r>
                <a:rPr lang="zh-CN" altLang="zh-CN" sz="14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13" name="Text Box 9"/>
          <p:cNvSpPr txBox="1"/>
          <p:nvPr/>
        </p:nvSpPr>
        <p:spPr>
          <a:xfrm>
            <a:off x="176398" y="2316708"/>
            <a:ext cx="4943222" cy="2224583"/>
          </a:xfrm>
          <a:prstGeom prst="rect">
            <a:avLst/>
          </a:prstGeom>
          <a:noFill/>
        </p:spPr>
        <p:txBody>
          <a:bodyPr wrap="square" rtlCol="0" anchor="t">
            <a:spAutoFit/>
          </a:bodyPr>
          <a:lstStyle/>
          <a:p>
            <a:pPr>
              <a:lnSpc>
                <a:spcPct val="200000"/>
              </a:lnSpc>
            </a:pP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相比于</a:t>
            </a:r>
            <a:r>
              <a:rPr lang="zh-CN" altLang="en-US" b="1" dirty="0">
                <a:solidFill>
                  <a:srgbClr val="75C2BB"/>
                </a:solidFill>
                <a:latin typeface="Times New Roman" panose="02020503050405090304" pitchFamily="18" charset="0"/>
                <a:ea typeface="Microsoft YaHei UI" panose="020B0503020204020204" pitchFamily="34" charset="-122"/>
                <a:cs typeface="Times New Roman" panose="02020503050405090304" pitchFamily="18" charset="0"/>
                <a:sym typeface="+mn-ea"/>
              </a:rPr>
              <a:t>治疗成功</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的患者，</a:t>
            </a:r>
            <a:r>
              <a:rPr lang="zh-CN" altLang="en-US" b="1" dirty="0">
                <a:solidFill>
                  <a:srgbClr val="EF7E89"/>
                </a:solidFill>
                <a:latin typeface="Times New Roman" panose="02020503050405090304" pitchFamily="18" charset="0"/>
                <a:ea typeface="Microsoft YaHei UI" panose="020B0503020204020204" pitchFamily="34" charset="-122"/>
                <a:cs typeface="Times New Roman" panose="02020503050405090304" pitchFamily="18" charset="0"/>
                <a:sym typeface="+mn-ea"/>
              </a:rPr>
              <a:t>不良结局</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患者：</a:t>
            </a:r>
            <a:endPar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285750" indent="-285750">
              <a:lnSpc>
                <a:spcPct val="200000"/>
              </a:lnSpc>
              <a:buFont typeface="Wingdings" panose="05000000000000000000" pitchFamily="2" charset="2"/>
              <a:buChar char="Ø"/>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CAR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CLR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err="1">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dNLR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MLR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NLR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PNI</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SII</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SIRI</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的水平显著更高（</a:t>
            </a:r>
            <a:r>
              <a:rPr lang="zh-CN" altLang="en-US" dirty="0">
                <a:solidFill>
                  <a:srgbClr val="EF7E89"/>
                </a:solidFill>
                <a:latin typeface="Times New Roman" panose="02020503050405090304" pitchFamily="18" charset="0"/>
                <a:ea typeface="Microsoft YaHei UI" panose="020B0503020204020204" pitchFamily="34" charset="-122"/>
                <a:cs typeface="Times New Roman" panose="02020503050405090304" pitchFamily="18" charset="0"/>
                <a:sym typeface="+mn-ea"/>
              </a:rPr>
              <a:t>红色</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&gt;</a:t>
            </a:r>
            <a:r>
              <a:rPr lang="zh-CN" altLang="en-US" dirty="0">
                <a:solidFill>
                  <a:srgbClr val="75C2BB"/>
                </a:solidFill>
                <a:latin typeface="Times New Roman" panose="02020503050405090304" pitchFamily="18" charset="0"/>
                <a:ea typeface="Microsoft YaHei UI" panose="020B0503020204020204" pitchFamily="34" charset="-122"/>
                <a:cs typeface="Times New Roman" panose="02020503050405090304" pitchFamily="18" charset="0"/>
                <a:sym typeface="+mn-ea"/>
              </a:rPr>
              <a:t>绿色</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marL="285750" indent="-285750">
              <a:lnSpc>
                <a:spcPct val="200000"/>
              </a:lnSpc>
              <a:buFont typeface="Wingdings" panose="05000000000000000000" pitchFamily="2" charset="2"/>
              <a:buChar char="Ø"/>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EMR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和</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ENR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的水平显著更低（</a:t>
            </a:r>
            <a:r>
              <a:rPr lang="zh-CN" altLang="en-US" dirty="0">
                <a:solidFill>
                  <a:srgbClr val="EF7E89"/>
                </a:solidFill>
                <a:latin typeface="Times New Roman" panose="02020503050405090304" pitchFamily="18" charset="0"/>
                <a:ea typeface="Microsoft YaHei UI" panose="020B0503020204020204" pitchFamily="34" charset="-122"/>
                <a:cs typeface="Times New Roman" panose="02020503050405090304" pitchFamily="18" charset="0"/>
                <a:sym typeface="+mn-ea"/>
              </a:rPr>
              <a:t>红色</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&lt;</a:t>
            </a:r>
            <a:r>
              <a:rPr lang="zh-CN" altLang="en-US" dirty="0">
                <a:solidFill>
                  <a:srgbClr val="75C2BB"/>
                </a:solidFill>
                <a:latin typeface="Times New Roman" panose="02020503050405090304" pitchFamily="18" charset="0"/>
                <a:ea typeface="Microsoft YaHei UI" panose="020B0503020204020204" pitchFamily="34" charset="-122"/>
                <a:cs typeface="Times New Roman" panose="02020503050405090304" pitchFamily="18" charset="0"/>
                <a:sym typeface="+mn-ea"/>
              </a:rPr>
              <a:t>绿色</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p:txBody>
      </p:sp>
      <p:grpSp>
        <p:nvGrpSpPr>
          <p:cNvPr id="16" name="组合 15"/>
          <p:cNvGrpSpPr/>
          <p:nvPr/>
        </p:nvGrpSpPr>
        <p:grpSpPr>
          <a:xfrm>
            <a:off x="-80276" y="-309462"/>
            <a:ext cx="12272277" cy="991435"/>
            <a:chOff x="-80276" y="-309462"/>
            <a:chExt cx="12272277" cy="991435"/>
          </a:xfrm>
        </p:grpSpPr>
        <p:sp>
          <p:nvSpPr>
            <p:cNvPr id="17"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8" name="组合 17"/>
            <p:cNvGrpSpPr/>
            <p:nvPr/>
          </p:nvGrpSpPr>
          <p:grpSpPr>
            <a:xfrm>
              <a:off x="4416378" y="-31583"/>
              <a:ext cx="2576999" cy="581449"/>
              <a:chOff x="4826291" y="-31583"/>
              <a:chExt cx="2576999" cy="581449"/>
            </a:xfrm>
          </p:grpSpPr>
          <p:sp>
            <p:nvSpPr>
              <p:cNvPr id="23"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4"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研究结果</a:t>
                </a:r>
              </a:p>
            </p:txBody>
          </p:sp>
        </p:grpSp>
        <p:sp>
          <p:nvSpPr>
            <p:cNvPr id="19"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20"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21"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22"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16</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 name="TextBox 9"/>
          <p:cNvSpPr txBox="1"/>
          <p:nvPr/>
        </p:nvSpPr>
        <p:spPr>
          <a:xfrm>
            <a:off x="326554" y="717052"/>
            <a:ext cx="3829810"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炎症指标与不良结局风险的关联 </a:t>
            </a:r>
          </a:p>
        </p:txBody>
      </p:sp>
      <p:grpSp>
        <p:nvGrpSpPr>
          <p:cNvPr id="4" name="组合 3"/>
          <p:cNvGrpSpPr/>
          <p:nvPr/>
        </p:nvGrpSpPr>
        <p:grpSpPr>
          <a:xfrm>
            <a:off x="5791201" y="470863"/>
            <a:ext cx="5974307" cy="6367157"/>
            <a:chOff x="5791201" y="470863"/>
            <a:chExt cx="5974307" cy="6367157"/>
          </a:xfrm>
        </p:grpSpPr>
        <p:sp>
          <p:nvSpPr>
            <p:cNvPr id="9" name="文本框 8"/>
            <p:cNvSpPr txBox="1"/>
            <p:nvPr/>
          </p:nvSpPr>
          <p:spPr>
            <a:xfrm>
              <a:off x="6090977" y="6530243"/>
              <a:ext cx="5674531"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2-4</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不同炎症状态下的</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Kaplan-Meier</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分析 </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3" name="图片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1201" y="470863"/>
              <a:ext cx="5811750" cy="6053848"/>
            </a:xfrm>
            <a:prstGeom prst="rect">
              <a:avLst/>
            </a:prstGeom>
          </p:spPr>
        </p:pic>
      </p:grpSp>
      <p:sp>
        <p:nvSpPr>
          <p:cNvPr id="6" name="Text Box 9"/>
          <p:cNvSpPr txBox="1"/>
          <p:nvPr/>
        </p:nvSpPr>
        <p:spPr>
          <a:xfrm>
            <a:off x="304234" y="2444693"/>
            <a:ext cx="5225347" cy="1705210"/>
          </a:xfrm>
          <a:prstGeom prst="rect">
            <a:avLst/>
          </a:prstGeom>
          <a:noFill/>
        </p:spPr>
        <p:txBody>
          <a:bodyPr wrap="square" rtlCol="0" anchor="t">
            <a:spAutoFit/>
          </a:bodyPr>
          <a:lstStyle/>
          <a:p>
            <a:pPr>
              <a:lnSpc>
                <a:spcPct val="150000"/>
              </a:lnSpc>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Kaplan-Meier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分析显示，基于</a:t>
            </a:r>
            <a:r>
              <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CAR</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CLR</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b="1" dirty="0" err="1">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dNLR</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ENR</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MLR</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NLR</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PNI</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SII</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和</a:t>
            </a:r>
            <a:r>
              <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SIRI</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划分的不同炎症状态下，患者的</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不良结局的累计发生风险存在显著差异</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Log-rank </a:t>
            </a:r>
            <a:r>
              <a:rPr lang="en-US" altLang="zh-CN" i="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&lt;0.05</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 </a:t>
            </a: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p:txBody>
      </p:sp>
      <p:sp>
        <p:nvSpPr>
          <p:cNvPr id="7" name="矩形 6"/>
          <p:cNvSpPr/>
          <p:nvPr/>
        </p:nvSpPr>
        <p:spPr>
          <a:xfrm>
            <a:off x="6010848" y="604854"/>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1" name="矩形 10"/>
          <p:cNvSpPr/>
          <p:nvPr/>
        </p:nvSpPr>
        <p:spPr>
          <a:xfrm>
            <a:off x="6010848" y="2142570"/>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2" name="矩形 11"/>
          <p:cNvSpPr/>
          <p:nvPr/>
        </p:nvSpPr>
        <p:spPr>
          <a:xfrm>
            <a:off x="6010848" y="3680286"/>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4" name="矩形 13"/>
          <p:cNvSpPr/>
          <p:nvPr/>
        </p:nvSpPr>
        <p:spPr>
          <a:xfrm>
            <a:off x="7955472" y="3680286"/>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5" name="矩形 14"/>
          <p:cNvSpPr/>
          <p:nvPr/>
        </p:nvSpPr>
        <p:spPr>
          <a:xfrm>
            <a:off x="7955472" y="5167710"/>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6" name="矩形 15"/>
          <p:cNvSpPr/>
          <p:nvPr/>
        </p:nvSpPr>
        <p:spPr>
          <a:xfrm>
            <a:off x="6010848" y="5167710"/>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7" name="矩形 16"/>
          <p:cNvSpPr/>
          <p:nvPr/>
        </p:nvSpPr>
        <p:spPr>
          <a:xfrm>
            <a:off x="9900096" y="5167710"/>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8" name="矩形 17"/>
          <p:cNvSpPr/>
          <p:nvPr/>
        </p:nvSpPr>
        <p:spPr>
          <a:xfrm>
            <a:off x="9900096" y="3680286"/>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9" name="矩形 18"/>
          <p:cNvSpPr/>
          <p:nvPr/>
        </p:nvSpPr>
        <p:spPr>
          <a:xfrm>
            <a:off x="9900096" y="2142570"/>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0" name="矩形 19"/>
          <p:cNvSpPr/>
          <p:nvPr/>
        </p:nvSpPr>
        <p:spPr>
          <a:xfrm>
            <a:off x="7955472" y="2142570"/>
            <a:ext cx="684194" cy="17378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6" name="组合 25"/>
          <p:cNvGrpSpPr/>
          <p:nvPr/>
        </p:nvGrpSpPr>
        <p:grpSpPr>
          <a:xfrm>
            <a:off x="-80276" y="-309462"/>
            <a:ext cx="12272277" cy="991435"/>
            <a:chOff x="-80276" y="-309462"/>
            <a:chExt cx="12272277" cy="991435"/>
          </a:xfrm>
        </p:grpSpPr>
        <p:sp>
          <p:nvSpPr>
            <p:cNvPr id="27"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8" name="组合 27"/>
            <p:cNvGrpSpPr/>
            <p:nvPr/>
          </p:nvGrpSpPr>
          <p:grpSpPr>
            <a:xfrm>
              <a:off x="4416378" y="-31583"/>
              <a:ext cx="2576999" cy="581449"/>
              <a:chOff x="4826291" y="-31583"/>
              <a:chExt cx="2576999" cy="581449"/>
            </a:xfrm>
          </p:grpSpPr>
          <p:sp>
            <p:nvSpPr>
              <p:cNvPr id="33"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4"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研究结果</a:t>
                </a:r>
              </a:p>
            </p:txBody>
          </p:sp>
        </p:grpSp>
        <p:sp>
          <p:nvSpPr>
            <p:cNvPr id="29"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30"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31"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32"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17</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 name="TextBox 9"/>
          <p:cNvSpPr txBox="1"/>
          <p:nvPr/>
        </p:nvSpPr>
        <p:spPr>
          <a:xfrm>
            <a:off x="326554" y="717052"/>
            <a:ext cx="3829810"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炎症指标与不良结局风险的关联 </a:t>
            </a:r>
          </a:p>
        </p:txBody>
      </p:sp>
      <p:sp>
        <p:nvSpPr>
          <p:cNvPr id="24" name="文本框 23"/>
          <p:cNvSpPr txBox="1"/>
          <p:nvPr/>
        </p:nvSpPr>
        <p:spPr>
          <a:xfrm>
            <a:off x="7652449" y="-32636"/>
            <a:ext cx="3897553" cy="261610"/>
          </a:xfrm>
          <a:prstGeom prst="rect">
            <a:avLst/>
          </a:prstGeom>
          <a:solidFill>
            <a:schemeClr val="bg1"/>
          </a:solidFill>
          <a:ln w="19050">
            <a:noFill/>
          </a:ln>
        </p:spPr>
        <p:txBody>
          <a:bodyPr wrap="square">
            <a:spAutoFit/>
          </a:bodyPr>
          <a:lstStyle/>
          <a:p>
            <a:pPr algn="ctr"/>
            <a:r>
              <a:rPr lang="zh-CN" altLang="en-US" sz="11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表</a:t>
            </a:r>
            <a:r>
              <a:rPr lang="en-US" altLang="zh-CN" sz="11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2-6</a:t>
            </a:r>
            <a:r>
              <a:rPr lang="zh-CN" altLang="en-US" sz="11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 炎症状态与治疗结局不佳之间的</a:t>
            </a:r>
            <a:r>
              <a:rPr lang="en-GB" altLang="zh-CN" sz="11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Cox</a:t>
            </a:r>
            <a:r>
              <a:rPr lang="zh-CN" altLang="en-US" sz="11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回归分析 （节选）</a:t>
            </a:r>
            <a:endParaRPr lang="zh-CN" altLang="en-US" sz="1100" baseline="300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5" name="文本框 24"/>
          <p:cNvSpPr txBox="1"/>
          <p:nvPr/>
        </p:nvSpPr>
        <p:spPr>
          <a:xfrm>
            <a:off x="489213" y="1616150"/>
            <a:ext cx="6680011" cy="4198970"/>
          </a:xfrm>
          <a:prstGeom prst="rect">
            <a:avLst/>
          </a:prstGeom>
          <a:noFill/>
          <a:ln w="19050">
            <a:noFill/>
          </a:ln>
        </p:spPr>
        <p:txBody>
          <a:bodyPr wrap="square" rtlCol="0">
            <a:spAutoFit/>
          </a:bodyPr>
          <a:lstStyle/>
          <a:p>
            <a:pPr marL="285750" indent="-285750" algn="l">
              <a:lnSpc>
                <a:spcPct val="150000"/>
              </a:lnSpc>
              <a:buFont typeface="Wingdings" panose="05000000000000000000" pitchFamily="2" charset="2"/>
              <a:buChar char="Ø"/>
            </a:pP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单因素和多因素</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Cox</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回归模型均显示：根据</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dNLR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NLR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SII</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SIRI</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划分的炎症状态，从</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Q1</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组到</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Q3</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组的危险效应逐渐增加（</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all </a:t>
            </a:r>
            <a:r>
              <a:rPr kumimoji="0" lang="en-GB" altLang="zh-CN" sz="1800" b="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for trend&lt; 0.05</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而</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ENR</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的危险效应则逐渐降低（</a:t>
            </a:r>
            <a:r>
              <a:rPr kumimoji="0" lang="en-GB" altLang="zh-CN" sz="1800" b="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for trend=0.038</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algn="l">
              <a:lnSpc>
                <a:spcPct val="150000"/>
              </a:lnSpc>
            </a:pPr>
            <a:endPar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gn="l">
              <a:lnSpc>
                <a:spcPct val="150000"/>
              </a:lnSpc>
              <a:buFont typeface="Wingdings" panose="05000000000000000000" pitchFamily="2" charset="2"/>
              <a:buChar char="Ø"/>
            </a:pP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校正人口统计学和临床特征（</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Model3</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）后，与</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Q1</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组相比，处于</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dNLR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NLR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SII</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SIRI</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的</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Q3</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组的患者发生不良结局的风险提高</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45%-99%</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HR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1.45-1.99</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all </a:t>
            </a:r>
            <a:r>
              <a:rPr kumimoji="0" lang="en-GB" altLang="zh-CN" sz="1800" b="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&lt;0.05</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相反，处于</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ENR Q3</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组的患者的不良结局发生风险降低</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29%</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HR</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0.71</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800" b="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a:t>
            </a:r>
            <a:r>
              <a:rPr kumimoji="0" lang="en-GB"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=0.040</a:t>
            </a:r>
            <a:r>
              <a:rPr kumimoji="0" lang="zh-CN" altLang="en-GB"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p>
        </p:txBody>
      </p:sp>
      <p:grpSp>
        <p:nvGrpSpPr>
          <p:cNvPr id="12" name="组合 11"/>
          <p:cNvGrpSpPr/>
          <p:nvPr/>
        </p:nvGrpSpPr>
        <p:grpSpPr>
          <a:xfrm>
            <a:off x="-80276" y="-309462"/>
            <a:ext cx="12272277" cy="991435"/>
            <a:chOff x="-80276" y="-309462"/>
            <a:chExt cx="12272277" cy="991435"/>
          </a:xfrm>
        </p:grpSpPr>
        <p:sp>
          <p:nvSpPr>
            <p:cNvPr id="13"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4" name="组合 13"/>
            <p:cNvGrpSpPr/>
            <p:nvPr/>
          </p:nvGrpSpPr>
          <p:grpSpPr>
            <a:xfrm>
              <a:off x="4416378" y="-31583"/>
              <a:ext cx="2576999" cy="581449"/>
              <a:chOff x="4826291" y="-31583"/>
              <a:chExt cx="2576999" cy="581449"/>
            </a:xfrm>
          </p:grpSpPr>
          <p:sp>
            <p:nvSpPr>
              <p:cNvPr id="19"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0"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研究结果</a:t>
                </a:r>
              </a:p>
            </p:txBody>
          </p:sp>
        </p:grpSp>
        <p:sp>
          <p:nvSpPr>
            <p:cNvPr id="15"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16"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17"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18"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pic>
        <p:nvPicPr>
          <p:cNvPr id="3" name="图片 2"/>
          <p:cNvPicPr>
            <a:picLocks noChangeAspect="1"/>
          </p:cNvPicPr>
          <p:nvPr/>
        </p:nvPicPr>
        <p:blipFill>
          <a:blip r:embed="rId4"/>
          <a:stretch>
            <a:fillRect/>
          </a:stretch>
        </p:blipFill>
        <p:spPr>
          <a:xfrm>
            <a:off x="7498080" y="0"/>
            <a:ext cx="3754120" cy="68840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18</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 name="TextBox 9"/>
          <p:cNvSpPr txBox="1"/>
          <p:nvPr/>
        </p:nvSpPr>
        <p:spPr>
          <a:xfrm>
            <a:off x="326554" y="717052"/>
            <a:ext cx="3829810"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炎症指标与不良结局风险的关联 </a:t>
            </a:r>
          </a:p>
        </p:txBody>
      </p:sp>
      <p:grpSp>
        <p:nvGrpSpPr>
          <p:cNvPr id="4" name="组合 3"/>
          <p:cNvGrpSpPr/>
          <p:nvPr/>
        </p:nvGrpSpPr>
        <p:grpSpPr>
          <a:xfrm>
            <a:off x="5563671" y="979995"/>
            <a:ext cx="6559560" cy="5596789"/>
            <a:chOff x="5584336" y="891908"/>
            <a:chExt cx="6559560" cy="5596789"/>
          </a:xfrm>
        </p:grpSpPr>
        <p:sp>
          <p:nvSpPr>
            <p:cNvPr id="9" name="文本框 8"/>
            <p:cNvSpPr txBox="1"/>
            <p:nvPr/>
          </p:nvSpPr>
          <p:spPr>
            <a:xfrm>
              <a:off x="6090977" y="6180920"/>
              <a:ext cx="5674531"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2-5</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炎症指标与肺结核不良预后风险的</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RCS</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分析  </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3"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5584336" y="891908"/>
              <a:ext cx="6559560" cy="5187606"/>
            </a:xfrm>
            <a:prstGeom prst="rect">
              <a:avLst/>
            </a:prstGeom>
          </p:spPr>
        </p:pic>
      </p:grpSp>
      <p:sp>
        <p:nvSpPr>
          <p:cNvPr id="6" name="Text Box 9"/>
          <p:cNvSpPr txBox="1"/>
          <p:nvPr/>
        </p:nvSpPr>
        <p:spPr>
          <a:xfrm>
            <a:off x="191939" y="1407522"/>
            <a:ext cx="5225347" cy="4614148"/>
          </a:xfrm>
          <a:prstGeom prst="rect">
            <a:avLst/>
          </a:prstGeom>
          <a:noFill/>
        </p:spPr>
        <p:txBody>
          <a:bodyPr wrap="square" rtlCol="0" anchor="t">
            <a:spAutoFit/>
          </a:bodyPr>
          <a:lstStyle/>
          <a:p>
            <a:pPr>
              <a:lnSpc>
                <a:spcPct val="150000"/>
              </a:lnSpc>
            </a:pPr>
            <a:r>
              <a:rPr lang="zh-CN" altLang="en-US" b="1"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sym typeface="+mn-ea"/>
              </a:rPr>
              <a:t>正线性关联</a:t>
            </a:r>
            <a:r>
              <a:rPr lang="zh-CN" altLang="en-GB" sz="12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GB" altLang="zh-CN" sz="12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all </a:t>
            </a:r>
            <a:r>
              <a:rPr lang="en-GB" altLang="zh-CN" sz="1200" i="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lang="en-GB" altLang="zh-CN" sz="12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 for nonlinearity&gt;0.05</a:t>
            </a:r>
            <a:r>
              <a:rPr lang="zh-CN" altLang="en-GB" sz="12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GB" altLang="zh-CN" sz="12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all </a:t>
            </a:r>
            <a:r>
              <a:rPr lang="en-GB" altLang="zh-CN" sz="1200" i="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lang="en-GB" altLang="zh-CN" sz="12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 for overall&lt;0.05</a:t>
            </a:r>
            <a:r>
              <a:rPr lang="zh-CN" altLang="en-GB" sz="12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 </a:t>
            </a:r>
            <a:r>
              <a:rPr lang="zh-CN" altLang="en-US" sz="12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 </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endPar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a:lnSpc>
                <a:spcPct val="150000"/>
              </a:lnSpc>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CAR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CLR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err="1">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dNLR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SII</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和</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SIRI</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，这些指标每增加</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1</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个标准差，不良结局发生风险增加</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11%-25%</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（表</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2-6</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GB"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HR</a:t>
            </a:r>
            <a:r>
              <a:rPr lang="zh-CN" altLang="en-GB"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GB"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1.11-1.25</a:t>
            </a:r>
            <a:r>
              <a:rPr lang="zh-CN" altLang="en-GB"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GB"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all </a:t>
            </a:r>
            <a:r>
              <a:rPr lang="en-GB" altLang="zh-CN" i="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lang="en-GB"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&lt;0.05</a:t>
            </a:r>
            <a:r>
              <a:rPr lang="zh-CN" altLang="en-GB"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 </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 </a:t>
            </a:r>
          </a:p>
          <a:p>
            <a:pPr>
              <a:lnSpc>
                <a:spcPct val="150000"/>
              </a:lnSpc>
            </a:pP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a:lnSpc>
                <a:spcPct val="150000"/>
              </a:lnSpc>
            </a:pPr>
            <a:r>
              <a:rPr lang="zh-CN" altLang="en-US" b="1" dirty="0">
                <a:solidFill>
                  <a:schemeClr val="accent1">
                    <a:lumMod val="7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mn-ea"/>
              </a:rPr>
              <a:t>负线性关联</a:t>
            </a:r>
            <a:r>
              <a:rPr kumimoji="0" lang="zh-CN" altLang="en-GB"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kumimoji="0" lang="en-GB" altLang="zh-CN"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all </a:t>
            </a:r>
            <a:r>
              <a:rPr kumimoji="0" lang="en-GB" altLang="zh-CN" sz="120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kumimoji="0" lang="en-GB" altLang="zh-CN"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 for nonlinearity&gt;0.05</a:t>
            </a:r>
            <a:r>
              <a:rPr kumimoji="0" lang="zh-CN" altLang="en-GB"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kumimoji="0" lang="en-GB" altLang="zh-CN"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all </a:t>
            </a:r>
            <a:r>
              <a:rPr kumimoji="0" lang="en-GB" altLang="zh-CN" sz="120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kumimoji="0" lang="en-GB" altLang="zh-CN"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 for overall&lt;0.05</a:t>
            </a:r>
            <a:r>
              <a:rPr kumimoji="0" lang="zh-CN" altLang="en-GB"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 </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endPar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a:lnSpc>
                <a:spcPct val="150000"/>
              </a:lnSpc>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ENR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，每增加</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1</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个标准差，不良结局风险降低</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18%</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（表</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2-6</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GB"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HR</a:t>
            </a:r>
            <a:r>
              <a:rPr lang="zh-CN" altLang="en-GB"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GB"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0.82</a:t>
            </a:r>
            <a:r>
              <a:rPr lang="zh-CN" altLang="en-GB"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GB" altLang="zh-CN" i="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lang="en-GB"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=0.020</a:t>
            </a:r>
            <a:r>
              <a:rPr lang="zh-CN" altLang="en-GB"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a:lnSpc>
                <a:spcPct val="150000"/>
              </a:lnSpc>
            </a:pP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a:lnSpc>
                <a:spcPct val="150000"/>
              </a:lnSpc>
            </a:pPr>
            <a:r>
              <a:rPr lang="zh-CN" altLang="en-GB" b="1" dirty="0">
                <a:solidFill>
                  <a:srgbClr val="00B050"/>
                </a:solidFill>
                <a:latin typeface="Times New Roman" panose="02020503050405090304" pitchFamily="18" charset="0"/>
                <a:ea typeface="Microsoft YaHei UI" panose="020B0503020204020204" pitchFamily="34" charset="-122"/>
                <a:cs typeface="Times New Roman" panose="02020503050405090304" pitchFamily="18" charset="0"/>
                <a:sym typeface="+mn-ea"/>
              </a:rPr>
              <a:t> </a:t>
            </a:r>
            <a:r>
              <a:rPr lang="zh-CN" altLang="en-US" b="1" dirty="0">
                <a:solidFill>
                  <a:srgbClr val="00B050"/>
                </a:solidFill>
                <a:latin typeface="Times New Roman" panose="02020503050405090304" pitchFamily="18" charset="0"/>
                <a:ea typeface="Microsoft YaHei UI" panose="020B0503020204020204" pitchFamily="34" charset="-122"/>
                <a:cs typeface="Times New Roman" panose="02020503050405090304" pitchFamily="18" charset="0"/>
                <a:sym typeface="+mn-ea"/>
              </a:rPr>
              <a:t>非线性关联</a:t>
            </a:r>
            <a:r>
              <a:rPr kumimoji="0" lang="zh-CN" altLang="en-GB" sz="1200" i="0" u="none" strike="noStrike" kern="1200" cap="none" spc="0" normalizeH="0" baseline="0" noProof="0" dirty="0">
                <a:ln>
                  <a:noFill/>
                </a:ln>
                <a:solidFill>
                  <a:srgbClr val="00B05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kumimoji="0" lang="en-GB" altLang="zh-CN"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all </a:t>
            </a:r>
            <a:r>
              <a:rPr kumimoji="0" lang="en-GB" altLang="zh-CN" sz="120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kumimoji="0" lang="en-GB" altLang="zh-CN"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 for nonlinearity&lt;0.05</a:t>
            </a:r>
            <a:r>
              <a:rPr kumimoji="0" lang="zh-CN" altLang="en-GB"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kumimoji="0" lang="en-GB" altLang="zh-CN"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all </a:t>
            </a:r>
            <a:r>
              <a:rPr kumimoji="0" lang="en-GB" altLang="zh-CN" sz="120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P</a:t>
            </a:r>
            <a:r>
              <a:rPr kumimoji="0" lang="en-GB" altLang="zh-CN"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 for overall&lt;0.05</a:t>
            </a:r>
            <a:r>
              <a:rPr kumimoji="0" lang="zh-CN" altLang="en-GB" sz="12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ea"/>
              </a:rPr>
              <a:t>） </a:t>
            </a: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endParaRPr lang="en-US" altLang="zh-CN"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endParaRPr>
          </a:p>
          <a:p>
            <a:pPr>
              <a:lnSpc>
                <a:spcPct val="150000"/>
              </a:lnSpc>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MLR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NLR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和</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sym typeface="+mn-ea"/>
              </a:rPr>
              <a:t>PNI</a:t>
            </a:r>
          </a:p>
        </p:txBody>
      </p:sp>
      <p:sp>
        <p:nvSpPr>
          <p:cNvPr id="5" name="矩形 4"/>
          <p:cNvSpPr/>
          <p:nvPr/>
        </p:nvSpPr>
        <p:spPr>
          <a:xfrm>
            <a:off x="5502876" y="1002107"/>
            <a:ext cx="6620355" cy="130448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8" name="矩形 7"/>
          <p:cNvSpPr/>
          <p:nvPr/>
        </p:nvSpPr>
        <p:spPr>
          <a:xfrm>
            <a:off x="9809550" y="2353420"/>
            <a:ext cx="2313681" cy="1246515"/>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 name="矩形 9"/>
          <p:cNvSpPr/>
          <p:nvPr/>
        </p:nvSpPr>
        <p:spPr>
          <a:xfrm>
            <a:off x="5478081" y="3634758"/>
            <a:ext cx="4331469" cy="1246515"/>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3" name="矩形 12"/>
          <p:cNvSpPr/>
          <p:nvPr/>
        </p:nvSpPr>
        <p:spPr>
          <a:xfrm>
            <a:off x="5478081" y="4881273"/>
            <a:ext cx="2243519" cy="1308440"/>
          </a:xfrm>
          <a:prstGeom prst="rect">
            <a:avLst/>
          </a:prstGeom>
          <a:noFill/>
          <a:ln w="28575">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1" name="矩形 20"/>
          <p:cNvSpPr/>
          <p:nvPr/>
        </p:nvSpPr>
        <p:spPr>
          <a:xfrm>
            <a:off x="7782395" y="4918256"/>
            <a:ext cx="4340836" cy="1246515"/>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0" name="组合 19"/>
          <p:cNvGrpSpPr/>
          <p:nvPr/>
        </p:nvGrpSpPr>
        <p:grpSpPr>
          <a:xfrm>
            <a:off x="-80276" y="-309462"/>
            <a:ext cx="12272277" cy="991435"/>
            <a:chOff x="-80276" y="-309462"/>
            <a:chExt cx="12272277" cy="991435"/>
          </a:xfrm>
        </p:grpSpPr>
        <p:sp>
          <p:nvSpPr>
            <p:cNvPr id="22"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3" name="组合 22"/>
            <p:cNvGrpSpPr/>
            <p:nvPr/>
          </p:nvGrpSpPr>
          <p:grpSpPr>
            <a:xfrm>
              <a:off x="4416378" y="-31583"/>
              <a:ext cx="2576999" cy="581449"/>
              <a:chOff x="4826291" y="-31583"/>
              <a:chExt cx="2576999" cy="581449"/>
            </a:xfrm>
          </p:grpSpPr>
          <p:sp>
            <p:nvSpPr>
              <p:cNvPr id="28"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9"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研究结果</a:t>
                </a:r>
              </a:p>
            </p:txBody>
          </p:sp>
        </p:grpSp>
        <p:sp>
          <p:nvSpPr>
            <p:cNvPr id="24"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25"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26"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27"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19</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 name="TextBox 9"/>
          <p:cNvSpPr txBox="1"/>
          <p:nvPr/>
        </p:nvSpPr>
        <p:spPr>
          <a:xfrm>
            <a:off x="326554" y="896671"/>
            <a:ext cx="1600217"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亚组分析</a:t>
            </a:r>
          </a:p>
        </p:txBody>
      </p:sp>
      <p:sp>
        <p:nvSpPr>
          <p:cNvPr id="24" name="文本框 23"/>
          <p:cNvSpPr txBox="1"/>
          <p:nvPr/>
        </p:nvSpPr>
        <p:spPr>
          <a:xfrm>
            <a:off x="6194757" y="717129"/>
            <a:ext cx="5716195" cy="307777"/>
          </a:xfrm>
          <a:prstGeom prst="rect">
            <a:avLst/>
          </a:prstGeom>
          <a:solidFill>
            <a:schemeClr val="bg1"/>
          </a:solidFill>
          <a:ln w="19050">
            <a:noFill/>
          </a:ln>
        </p:spPr>
        <p:txBody>
          <a:bodyPr wrap="square">
            <a:spAutoFit/>
          </a:bodyPr>
          <a:lstStyle/>
          <a:p>
            <a:pPr algn="ctr"/>
            <a:r>
              <a:rPr lang="zh-CN" altLang="en-US"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附表</a:t>
            </a:r>
            <a:r>
              <a:rPr lang="en-US" altLang="zh-CN"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5</a:t>
            </a:r>
            <a:r>
              <a:rPr lang="zh-CN" altLang="en-US"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 不同性别中炎症状态与治疗结局之间的</a:t>
            </a:r>
            <a:r>
              <a:rPr lang="en-GB" altLang="zh-CN"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Cox</a:t>
            </a:r>
            <a:r>
              <a:rPr lang="zh-CN" altLang="en-US"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回归分析 （节选）</a:t>
            </a:r>
            <a:endParaRPr lang="zh-CN" altLang="en-US" sz="1400" baseline="300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 name="文本框 2"/>
          <p:cNvSpPr txBox="1"/>
          <p:nvPr/>
        </p:nvSpPr>
        <p:spPr>
          <a:xfrm>
            <a:off x="302719" y="1452326"/>
            <a:ext cx="5565448" cy="2311467"/>
          </a:xfrm>
          <a:prstGeom prst="rect">
            <a:avLst/>
          </a:prstGeom>
          <a:noFill/>
          <a:ln w="19050">
            <a:noFill/>
          </a:ln>
        </p:spPr>
        <p:txBody>
          <a:bodyPr wrap="square" rtlCol="0">
            <a:spAutoFit/>
          </a:bodyPr>
          <a:lstStyle/>
          <a:p>
            <a:pPr algn="l">
              <a:lnSpc>
                <a:spcPct val="150000"/>
              </a:lnSpc>
            </a:pPr>
            <a:r>
              <a:rPr kumimoji="0" lang="zh-CN" altLang="en-US"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炎症状态与不良预后风险的关联存在人群异质性：</a:t>
            </a:r>
            <a:endParaRPr kumimoji="0" lang="en-US"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在年龄大于</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30</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岁的人群、男性、耐多药结核病、肺部空洞、非糖尿病患者和非乙型肝炎病毒感染者中，</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dNLR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NLR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SII</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SIRI</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存在</a:t>
            </a:r>
            <a:r>
              <a:rPr kumimoji="0" lang="zh-CN" altLang="en-US" sz="1600" b="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特异性危险效应</a:t>
            </a:r>
            <a:endParaRPr kumimoji="0" lang="en-US" altLang="zh-CN" sz="1600" b="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在</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30-60</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岁年龄组、男性、超重者、复治患者以及合并肿瘤者中，</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dNLR</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SII</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的</a:t>
            </a:r>
            <a:r>
              <a:rPr kumimoji="0" lang="zh-CN" altLang="en-US" sz="1600" b="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危险效应低剂量化</a:t>
            </a:r>
          </a:p>
        </p:txBody>
      </p:sp>
      <p:graphicFrame>
        <p:nvGraphicFramePr>
          <p:cNvPr id="5" name="表格 4"/>
          <p:cNvGraphicFramePr>
            <a:graphicFrameLocks noGrp="1"/>
          </p:cNvGraphicFramePr>
          <p:nvPr/>
        </p:nvGraphicFramePr>
        <p:xfrm>
          <a:off x="6194757" y="1110890"/>
          <a:ext cx="5716196" cy="3021330"/>
        </p:xfrm>
        <a:graphic>
          <a:graphicData uri="http://schemas.openxmlformats.org/drawingml/2006/table">
            <a:tbl>
              <a:tblPr/>
              <a:tblGrid>
                <a:gridCol w="589025">
                  <a:extLst>
                    <a:ext uri="{9D8B030D-6E8A-4147-A177-3AD203B41FA5}">
                      <a16:colId xmlns:a16="http://schemas.microsoft.com/office/drawing/2014/main" val="20000"/>
                    </a:ext>
                  </a:extLst>
                </a:gridCol>
                <a:gridCol w="1525390">
                  <a:extLst>
                    <a:ext uri="{9D8B030D-6E8A-4147-A177-3AD203B41FA5}">
                      <a16:colId xmlns:a16="http://schemas.microsoft.com/office/drawing/2014/main" val="20001"/>
                    </a:ext>
                  </a:extLst>
                </a:gridCol>
                <a:gridCol w="668309">
                  <a:extLst>
                    <a:ext uri="{9D8B030D-6E8A-4147-A177-3AD203B41FA5}">
                      <a16:colId xmlns:a16="http://schemas.microsoft.com/office/drawing/2014/main" val="20002"/>
                    </a:ext>
                  </a:extLst>
                </a:gridCol>
                <a:gridCol w="1349601">
                  <a:extLst>
                    <a:ext uri="{9D8B030D-6E8A-4147-A177-3AD203B41FA5}">
                      <a16:colId xmlns:a16="http://schemas.microsoft.com/office/drawing/2014/main" val="20003"/>
                    </a:ext>
                  </a:extLst>
                </a:gridCol>
                <a:gridCol w="604157">
                  <a:extLst>
                    <a:ext uri="{9D8B030D-6E8A-4147-A177-3AD203B41FA5}">
                      <a16:colId xmlns:a16="http://schemas.microsoft.com/office/drawing/2014/main" val="20004"/>
                    </a:ext>
                  </a:extLst>
                </a:gridCol>
                <a:gridCol w="979714">
                  <a:extLst>
                    <a:ext uri="{9D8B030D-6E8A-4147-A177-3AD203B41FA5}">
                      <a16:colId xmlns:a16="http://schemas.microsoft.com/office/drawing/2014/main" val="20005"/>
                    </a:ext>
                  </a:extLst>
                </a:gridCol>
              </a:tblGrid>
              <a:tr h="247650">
                <a:tc rowSpan="2">
                  <a:txBody>
                    <a:bodyPr/>
                    <a:lstStyle/>
                    <a:p>
                      <a:pPr algn="l" fontAlgn="ctr">
                        <a:lnSpc>
                          <a:spcPct val="120000"/>
                        </a:lnSpc>
                      </a:pPr>
                      <a:r>
                        <a:rPr lang="zh-CN" altLang="en-US"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炎症</a:t>
                      </a:r>
                      <a:endParaRPr lang="en-US" altLang="zh-CN"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p>
                      <a:pPr algn="l" fontAlgn="ctr">
                        <a:lnSpc>
                          <a:spcPct val="120000"/>
                        </a:lnSpc>
                      </a:pPr>
                      <a:r>
                        <a:rPr lang="zh-CN" altLang="en-US"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状态</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gn="ctr" fontAlgn="ctr">
                        <a:lnSpc>
                          <a:spcPct val="120000"/>
                        </a:lnSpc>
                      </a:pPr>
                      <a:r>
                        <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男性</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gridSpan="2">
                  <a:txBody>
                    <a:bodyPr/>
                    <a:lstStyle/>
                    <a:p>
                      <a:pPr algn="ctr" fontAlgn="ctr">
                        <a:lnSpc>
                          <a:spcPct val="120000"/>
                        </a:lnSpc>
                      </a:pPr>
                      <a:r>
                        <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女性</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zh-CN"/>
                    </a:p>
                  </a:txBody>
                  <a:tcPr/>
                </a:tc>
                <a:tc rowSpan="2">
                  <a:txBody>
                    <a:bodyPr/>
                    <a:lstStyle/>
                    <a:p>
                      <a:pPr algn="ctr" fontAlgn="ctr">
                        <a:lnSpc>
                          <a:spcPct val="120000"/>
                        </a:lnSpc>
                      </a:pPr>
                      <a:r>
                        <a:rPr lang="en-GB" sz="1600" b="0" i="1"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P</a:t>
                      </a:r>
                      <a:r>
                        <a:rPr lang="en-GB"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 for </a:t>
                      </a:r>
                    </a:p>
                    <a:p>
                      <a:pPr algn="ctr" fontAlgn="ctr">
                        <a:lnSpc>
                          <a:spcPct val="120000"/>
                        </a:lnSpc>
                      </a:pPr>
                      <a:r>
                        <a:rPr lang="en-GB"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interaction</a:t>
                      </a:r>
                      <a:endParaRPr lang="en-GB" sz="1600" b="0" i="1"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38125">
                <a:tc vMerge="1">
                  <a:txBody>
                    <a:bodyPr/>
                    <a:lstStyle/>
                    <a:p>
                      <a:endParaRPr lang="zh-CN"/>
                    </a:p>
                  </a:txBody>
                  <a:tcPr/>
                </a:tc>
                <a:tc>
                  <a:txBody>
                    <a:bodyPr/>
                    <a:lstStyle/>
                    <a:p>
                      <a:pPr algn="ctr" fontAlgn="ctr">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HR (95%</a:t>
                      </a:r>
                      <a:r>
                        <a:rPr lang="en-GB" sz="1600" b="0" i="1"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 CI</a:t>
                      </a: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20000"/>
                        </a:lnSpc>
                      </a:pPr>
                      <a:r>
                        <a:rPr lang="en-GB" sz="1600" b="0" i="1"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P</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HR (95%</a:t>
                      </a:r>
                      <a:r>
                        <a:rPr lang="en-GB" sz="1600" b="0" i="1"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 CI</a:t>
                      </a: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lnSpc>
                          <a:spcPct val="120000"/>
                        </a:lnSpc>
                      </a:pPr>
                      <a:r>
                        <a:rPr lang="en-GB" sz="1600" b="0" i="1"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P</a:t>
                      </a:r>
                    </a:p>
                  </a:txBody>
                  <a:tcPr marL="9525" marR="9525" marT="9525"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endParaRPr lang="zh-CN"/>
                    </a:p>
                  </a:txBody>
                  <a:tcPr/>
                </a:tc>
                <a:extLst>
                  <a:ext uri="{0D108BD9-81ED-4DB2-BD59-A6C34878D82A}">
                    <a16:rowId xmlns:a16="http://schemas.microsoft.com/office/drawing/2014/main" val="10001"/>
                  </a:ext>
                </a:extLst>
              </a:tr>
              <a:tr h="228600">
                <a:tc>
                  <a:txBody>
                    <a:bodyPr/>
                    <a:lstStyle/>
                    <a:p>
                      <a:pPr algn="l" fontAlgn="t">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CAR</a:t>
                      </a:r>
                    </a:p>
                  </a:txBody>
                  <a:tcPr marL="9525" marR="9525" marT="9525" marB="0">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0.827</a:t>
                      </a:r>
                    </a:p>
                  </a:txBody>
                  <a:tcPr marL="9525" marR="9525" marT="9525"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2"/>
                  </a:ext>
                </a:extLst>
              </a:tr>
              <a:tr h="228600">
                <a:tc>
                  <a:txBody>
                    <a:bodyPr/>
                    <a:lstStyle/>
                    <a:p>
                      <a:pPr algn="l" fontAlgn="t">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Q1</a:t>
                      </a:r>
                    </a:p>
                  </a:txBody>
                  <a:tcPr marL="9525" marR="9525" marT="9525" marB="0">
                    <a:lnL>
                      <a:noFill/>
                    </a:lnL>
                    <a:lnR>
                      <a:noFill/>
                    </a:lnR>
                    <a:lnT>
                      <a:noFill/>
                    </a:lnT>
                    <a:lnB>
                      <a:noFill/>
                    </a:lnB>
                    <a:noFill/>
                  </a:tcPr>
                </a:tc>
                <a:tc>
                  <a:txBody>
                    <a:bodyPr/>
                    <a:lstStyle/>
                    <a:p>
                      <a:pPr algn="ctr" fontAlgn="ctr">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ref</a:t>
                      </a: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tc>
                  <a:txBody>
                    <a:bodyPr/>
                    <a:lstStyle/>
                    <a:p>
                      <a:pPr algn="ctr" fontAlgn="ctr">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ref</a:t>
                      </a: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extLst>
                  <a:ext uri="{0D108BD9-81ED-4DB2-BD59-A6C34878D82A}">
                    <a16:rowId xmlns:a16="http://schemas.microsoft.com/office/drawing/2014/main" val="10003"/>
                  </a:ext>
                </a:extLst>
              </a:tr>
              <a:tr h="228600">
                <a:tc>
                  <a:txBody>
                    <a:bodyPr/>
                    <a:lstStyle/>
                    <a:p>
                      <a:pPr algn="l" fontAlgn="t">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Q2</a:t>
                      </a:r>
                    </a:p>
                  </a:txBody>
                  <a:tcPr marL="9525" marR="9525" marT="9525" marB="0">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1.15 (0.68-1.96)</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0.598</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1.52 (0.79-2.91)</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0.206</a:t>
                      </a: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extLst>
                  <a:ext uri="{0D108BD9-81ED-4DB2-BD59-A6C34878D82A}">
                    <a16:rowId xmlns:a16="http://schemas.microsoft.com/office/drawing/2014/main" val="10004"/>
                  </a:ext>
                </a:extLst>
              </a:tr>
              <a:tr h="228600">
                <a:tc>
                  <a:txBody>
                    <a:bodyPr/>
                    <a:lstStyle/>
                    <a:p>
                      <a:pPr algn="l" fontAlgn="t">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Q3</a:t>
                      </a:r>
                    </a:p>
                  </a:txBody>
                  <a:tcPr marL="9525" marR="9525" marT="9525" marB="0">
                    <a:lnL>
                      <a:noFill/>
                    </a:lnL>
                    <a:lnR>
                      <a:noFill/>
                    </a:lnR>
                    <a:lnT>
                      <a:noFill/>
                    </a:lnT>
                    <a:lnB>
                      <a:noFill/>
                    </a:lnB>
                    <a:noFill/>
                  </a:tcPr>
                </a:tc>
                <a:tc>
                  <a:txBody>
                    <a:bodyPr/>
                    <a:lstStyle/>
                    <a:p>
                      <a:pPr algn="ctr" fontAlgn="ctr">
                        <a:lnSpc>
                          <a:spcPct val="120000"/>
                        </a:lnSpc>
                      </a:pPr>
                      <a:r>
                        <a:rPr lang="en-US" altLang="zh-CN"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1.95 (1.20-3.19)</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0.007</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1.83 (0.94-3.93)</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0.097</a:t>
                      </a: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extLst>
                  <a:ext uri="{0D108BD9-81ED-4DB2-BD59-A6C34878D82A}">
                    <a16:rowId xmlns:a16="http://schemas.microsoft.com/office/drawing/2014/main" val="10005"/>
                  </a:ext>
                </a:extLst>
              </a:tr>
              <a:tr h="228600">
                <a:tc>
                  <a:txBody>
                    <a:bodyPr/>
                    <a:lstStyle/>
                    <a:p>
                      <a:pPr algn="l" fontAlgn="t">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dNLR</a:t>
                      </a:r>
                    </a:p>
                  </a:txBody>
                  <a:tcPr marL="9525" marR="9525" marT="9525" marB="0">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0.041</a:t>
                      </a:r>
                    </a:p>
                  </a:txBody>
                  <a:tcPr marL="9525" marR="9525" marT="9525" marB="0" anchor="ctr">
                    <a:lnL>
                      <a:noFill/>
                    </a:lnL>
                    <a:lnR>
                      <a:noFill/>
                    </a:lnR>
                    <a:lnT>
                      <a:noFill/>
                    </a:lnT>
                    <a:lnB>
                      <a:noFill/>
                    </a:lnB>
                    <a:noFill/>
                  </a:tcPr>
                </a:tc>
                <a:extLst>
                  <a:ext uri="{0D108BD9-81ED-4DB2-BD59-A6C34878D82A}">
                    <a16:rowId xmlns:a16="http://schemas.microsoft.com/office/drawing/2014/main" val="10006"/>
                  </a:ext>
                </a:extLst>
              </a:tr>
              <a:tr h="228600">
                <a:tc>
                  <a:txBody>
                    <a:bodyPr/>
                    <a:lstStyle/>
                    <a:p>
                      <a:pPr algn="l" fontAlgn="t">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Q1</a:t>
                      </a:r>
                    </a:p>
                  </a:txBody>
                  <a:tcPr marL="9525" marR="9525" marT="9525" marB="0">
                    <a:lnL>
                      <a:noFill/>
                    </a:lnL>
                    <a:lnR>
                      <a:noFill/>
                    </a:lnR>
                    <a:lnT>
                      <a:noFill/>
                    </a:lnT>
                    <a:lnB>
                      <a:noFill/>
                    </a:lnB>
                    <a:noFill/>
                  </a:tcPr>
                </a:tc>
                <a:tc>
                  <a:txBody>
                    <a:bodyPr/>
                    <a:lstStyle/>
                    <a:p>
                      <a:pPr algn="ctr" fontAlgn="ctr">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ref</a:t>
                      </a: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tc>
                  <a:txBody>
                    <a:bodyPr/>
                    <a:lstStyle/>
                    <a:p>
                      <a:pPr algn="ctr" fontAlgn="ctr">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ref</a:t>
                      </a: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extLst>
                  <a:ext uri="{0D108BD9-81ED-4DB2-BD59-A6C34878D82A}">
                    <a16:rowId xmlns:a16="http://schemas.microsoft.com/office/drawing/2014/main" val="10007"/>
                  </a:ext>
                </a:extLst>
              </a:tr>
              <a:tr h="228600">
                <a:tc>
                  <a:txBody>
                    <a:bodyPr/>
                    <a:lstStyle/>
                    <a:p>
                      <a:pPr algn="l" fontAlgn="t">
                        <a:lnSpc>
                          <a:spcPct val="120000"/>
                        </a:lnSpc>
                      </a:pPr>
                      <a:r>
                        <a:rPr lang="en-GB"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Q2</a:t>
                      </a:r>
                    </a:p>
                  </a:txBody>
                  <a:tcPr marL="9525" marR="9525" marT="9525" marB="0">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1.85 (1.08-3.17)</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0.026</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0.66 (0.33-1.32)</a:t>
                      </a:r>
                    </a:p>
                  </a:txBody>
                  <a:tcPr marL="9525" marR="9525" marT="9525" marB="0" anchor="ctr">
                    <a:lnL>
                      <a:noFill/>
                    </a:lnL>
                    <a:lnR>
                      <a:noFill/>
                    </a:lnR>
                    <a:lnT>
                      <a:noFill/>
                    </a:lnT>
                    <a:lnB>
                      <a:noFill/>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0.242</a:t>
                      </a:r>
                    </a:p>
                  </a:txBody>
                  <a:tcPr marL="9525" marR="9525" marT="9525" marB="0" anchor="ctr">
                    <a:lnL>
                      <a:noFill/>
                    </a:lnL>
                    <a:lnR>
                      <a:noFill/>
                    </a:lnR>
                    <a:lnT>
                      <a:noFill/>
                    </a:lnT>
                    <a:lnB>
                      <a:noFill/>
                    </a:lnB>
                    <a:noFill/>
                  </a:tcPr>
                </a:tc>
                <a:tc>
                  <a:txBody>
                    <a:bodyPr/>
                    <a:lstStyle/>
                    <a:p>
                      <a:pPr algn="l" fontAlgn="ctr">
                        <a:lnSpc>
                          <a:spcPct val="120000"/>
                        </a:lnSpc>
                      </a:pPr>
                      <a:endParaRPr lang="zh-CN" altLang="en-US"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a:noFill/>
                    </a:lnB>
                    <a:noFill/>
                  </a:tcPr>
                </a:tc>
                <a:extLst>
                  <a:ext uri="{0D108BD9-81ED-4DB2-BD59-A6C34878D82A}">
                    <a16:rowId xmlns:a16="http://schemas.microsoft.com/office/drawing/2014/main" val="10008"/>
                  </a:ext>
                </a:extLst>
              </a:tr>
              <a:tr h="238125">
                <a:tc>
                  <a:txBody>
                    <a:bodyPr/>
                    <a:lstStyle/>
                    <a:p>
                      <a:pPr algn="l" fontAlgn="t">
                        <a:lnSpc>
                          <a:spcPct val="120000"/>
                        </a:lnSpc>
                      </a:pPr>
                      <a:r>
                        <a:rPr lang="en-GB"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Q3</a:t>
                      </a:r>
                    </a:p>
                  </a:txBody>
                  <a:tcPr marL="9525" marR="9525" marT="9525" marB="0">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lnSpc>
                          <a:spcPct val="120000"/>
                        </a:lnSpc>
                      </a:pPr>
                      <a:r>
                        <a:rPr lang="en-US" altLang="zh-CN"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2.88 (1.73-4.80)</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lnSpc>
                          <a:spcPct val="120000"/>
                        </a:lnSpc>
                      </a:pPr>
                      <a:r>
                        <a:rPr lang="en-US" altLang="zh-CN"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&lt;0.001</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1.58 (0.89-2.82)</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lnSpc>
                          <a:spcPct val="120000"/>
                        </a:lnSpc>
                      </a:pPr>
                      <a:r>
                        <a:rPr lang="en-US" altLang="zh-CN" sz="1600" b="0" i="0" u="none" strike="noStrike">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0.12</a:t>
                      </a: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algn="ctr" fontAlgn="ctr">
                        <a:lnSpc>
                          <a:spcPct val="120000"/>
                        </a:lnSpc>
                      </a:pPr>
                      <a:endParaRPr lang="zh-CN" altLang="en-US" sz="16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9525" marR="9525" marT="9525"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9"/>
                  </a:ext>
                </a:extLst>
              </a:tr>
            </a:tbl>
          </a:graphicData>
        </a:graphic>
      </p:graphicFrame>
      <p:sp>
        <p:nvSpPr>
          <p:cNvPr id="6" name="矩形 5"/>
          <p:cNvSpPr/>
          <p:nvPr/>
        </p:nvSpPr>
        <p:spPr>
          <a:xfrm>
            <a:off x="6124933" y="2621556"/>
            <a:ext cx="5786019" cy="32657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7" name="矩形 6"/>
          <p:cNvSpPr/>
          <p:nvPr/>
        </p:nvSpPr>
        <p:spPr>
          <a:xfrm>
            <a:off x="6097326" y="3509921"/>
            <a:ext cx="2839455" cy="32657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cxnSp>
        <p:nvCxnSpPr>
          <p:cNvPr id="9" name="直线箭头连接符 8"/>
          <p:cNvCxnSpPr/>
          <p:nvPr/>
        </p:nvCxnSpPr>
        <p:spPr>
          <a:xfrm flipH="1">
            <a:off x="5372104" y="2833829"/>
            <a:ext cx="75815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9"/>
          <p:cNvSpPr txBox="1"/>
          <p:nvPr/>
        </p:nvSpPr>
        <p:spPr>
          <a:xfrm>
            <a:off x="326554" y="4509116"/>
            <a:ext cx="1600217"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敏感性分析</a:t>
            </a:r>
          </a:p>
        </p:txBody>
      </p:sp>
      <p:cxnSp>
        <p:nvCxnSpPr>
          <p:cNvPr id="27" name="直线箭头连接符 26"/>
          <p:cNvCxnSpPr/>
          <p:nvPr/>
        </p:nvCxnSpPr>
        <p:spPr>
          <a:xfrm flipH="1">
            <a:off x="5568043" y="3575237"/>
            <a:ext cx="52340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线连接符 28"/>
          <p:cNvCxnSpPr/>
          <p:nvPr/>
        </p:nvCxnSpPr>
        <p:spPr>
          <a:xfrm>
            <a:off x="275375" y="4377149"/>
            <a:ext cx="11635577" cy="0"/>
          </a:xfrm>
          <a:prstGeom prst="line">
            <a:avLst/>
          </a:prstGeom>
          <a:ln w="12700">
            <a:solidFill>
              <a:schemeClr val="tx1">
                <a:lumMod val="50000"/>
                <a:lumOff val="50000"/>
              </a:schemeClr>
            </a:solidFill>
            <a:prstDash val="dashDot"/>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326554" y="5179061"/>
            <a:ext cx="9357049" cy="1203471"/>
          </a:xfrm>
          <a:prstGeom prst="rect">
            <a:avLst/>
          </a:prstGeom>
          <a:noFill/>
          <a:ln w="19050">
            <a:noFill/>
          </a:ln>
        </p:spPr>
        <p:txBody>
          <a:bodyPr wrap="none" rtlCol="0">
            <a:spAutoFit/>
          </a:bodyPr>
          <a:lstStyle/>
          <a:p>
            <a:pPr algn="l">
              <a:lnSpc>
                <a:spcPct val="150000"/>
              </a:lnSpc>
            </a:pPr>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敏感性分析与主要分析结果基本一致，表明结果具有一定稳健性：</a:t>
            </a:r>
            <a:endPar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CAR</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dNLR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NLR</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SII</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SIRI</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仍然是不良结局的独立危险因素（附图</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，附表</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14</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15</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lang="en-US" altLang="zh-CN"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RCS</a:t>
            </a: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分析观察到与主要分析相似的关联形式</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（附图</a:t>
            </a:r>
            <a:r>
              <a:rPr lang="en-US" altLang="zh-CN"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2</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lang="en-US" altLang="zh-CN"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4</a:t>
            </a: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a:t>
            </a:r>
            <a:endPar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8" name="组合 17"/>
          <p:cNvGrpSpPr/>
          <p:nvPr/>
        </p:nvGrpSpPr>
        <p:grpSpPr>
          <a:xfrm>
            <a:off x="-80276" y="-309462"/>
            <a:ext cx="12272277" cy="991435"/>
            <a:chOff x="-80276" y="-309462"/>
            <a:chExt cx="12272277" cy="991435"/>
          </a:xfrm>
        </p:grpSpPr>
        <p:sp>
          <p:nvSpPr>
            <p:cNvPr id="1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0" name="组合 19"/>
            <p:cNvGrpSpPr/>
            <p:nvPr/>
          </p:nvGrpSpPr>
          <p:grpSpPr>
            <a:xfrm>
              <a:off x="4416378" y="-31583"/>
              <a:ext cx="2576999" cy="581449"/>
              <a:chOff x="4826291" y="-31583"/>
              <a:chExt cx="2576999" cy="581449"/>
            </a:xfrm>
          </p:grpSpPr>
          <p:sp>
            <p:nvSpPr>
              <p:cNvPr id="26"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8"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研究结果</a:t>
                </a:r>
              </a:p>
            </p:txBody>
          </p:sp>
        </p:grpSp>
        <p:sp>
          <p:nvSpPr>
            <p:cNvPr id="21"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22"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23"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25"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20</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7" name="组合 66"/>
          <p:cNvGrpSpPr/>
          <p:nvPr/>
        </p:nvGrpSpPr>
        <p:grpSpPr>
          <a:xfrm>
            <a:off x="-80276" y="-309462"/>
            <a:ext cx="12272277" cy="991435"/>
            <a:chOff x="-80276" y="-309462"/>
            <a:chExt cx="12272277" cy="991435"/>
          </a:xfrm>
        </p:grpSpPr>
        <p:sp>
          <p:nvSpPr>
            <p:cNvPr id="5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6" name="组合 65"/>
            <p:cNvGrpSpPr/>
            <p:nvPr/>
          </p:nvGrpSpPr>
          <p:grpSpPr>
            <a:xfrm>
              <a:off x="4416378" y="-31583"/>
              <a:ext cx="2576999" cy="581449"/>
              <a:chOff x="4826291" y="-31583"/>
              <a:chExt cx="2576999" cy="581449"/>
            </a:xfrm>
          </p:grpSpPr>
          <p:sp>
            <p:nvSpPr>
              <p:cNvPr id="60"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1"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讨论小结</a:t>
                </a:r>
              </a:p>
            </p:txBody>
          </p:sp>
        </p:grpSp>
        <p:sp>
          <p:nvSpPr>
            <p:cNvPr id="62"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63"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64"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65"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grpSp>
        <p:nvGrpSpPr>
          <p:cNvPr id="20" name="组合 19"/>
          <p:cNvGrpSpPr/>
          <p:nvPr/>
        </p:nvGrpSpPr>
        <p:grpSpPr>
          <a:xfrm>
            <a:off x="346777" y="784852"/>
            <a:ext cx="8512753" cy="1332000"/>
            <a:chOff x="1047149" y="830347"/>
            <a:chExt cx="8512753" cy="1332000"/>
          </a:xfrm>
        </p:grpSpPr>
        <p:sp>
          <p:nvSpPr>
            <p:cNvPr id="11" name="文本框 10"/>
            <p:cNvSpPr txBox="1"/>
            <p:nvPr/>
          </p:nvSpPr>
          <p:spPr>
            <a:xfrm>
              <a:off x="1047149" y="928062"/>
              <a:ext cx="2709801" cy="1135439"/>
            </a:xfrm>
            <a:prstGeom prst="rect">
              <a:avLst/>
            </a:prstGeom>
            <a:noFill/>
            <a:ln w="19050">
              <a:noFill/>
            </a:ln>
          </p:spPr>
          <p:txBody>
            <a:bodyPr wrap="square">
              <a:spAutoFit/>
            </a:bodyPr>
            <a:lstStyle/>
            <a:p>
              <a:pPr>
                <a:lnSpc>
                  <a:spcPct val="150000"/>
                </a:lnSpc>
              </a:pPr>
              <a:r>
                <a:rPr lang="zh-CN" altLang="en-US" sz="2400" b="1" dirty="0">
                  <a:latin typeface="Times New Roman" panose="02020503050405090304" pitchFamily="18" charset="0"/>
                  <a:ea typeface="Microsoft YaHei UI" panose="020B0503020204020204" pitchFamily="34" charset="-122"/>
                  <a:cs typeface="Times New Roman" panose="02020503050405090304" pitchFamily="18" charset="0"/>
                </a:rPr>
                <a:t>血液炎症指标与肺结核预后密切相关</a:t>
              </a:r>
              <a:endParaRPr lang="en-US" altLang="zh-CN" sz="2400" b="1"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5" name="组合 14"/>
            <p:cNvGrpSpPr/>
            <p:nvPr/>
          </p:nvGrpSpPr>
          <p:grpSpPr>
            <a:xfrm>
              <a:off x="3898076" y="830347"/>
              <a:ext cx="5661826" cy="1332000"/>
              <a:chOff x="2883910" y="882377"/>
              <a:chExt cx="5661826" cy="1332000"/>
            </a:xfrm>
          </p:grpSpPr>
          <p:sp>
            <p:nvSpPr>
              <p:cNvPr id="8" name="学论网-专注原创-www.xuelun.me"/>
              <p:cNvSpPr/>
              <p:nvPr/>
            </p:nvSpPr>
            <p:spPr>
              <a:xfrm>
                <a:off x="2883910" y="882377"/>
                <a:ext cx="90508" cy="1332000"/>
              </a:xfrm>
              <a:prstGeom prst="rect">
                <a:avLst/>
              </a:prstGeom>
              <a:solidFill>
                <a:srgbClr val="014924"/>
              </a:solidFill>
              <a:ln w="28575">
                <a:solidFill>
                  <a:srgbClr val="01492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4" name="文本框 13"/>
              <p:cNvSpPr txBox="1"/>
              <p:nvPr/>
            </p:nvSpPr>
            <p:spPr>
              <a:xfrm>
                <a:off x="3115544" y="882377"/>
                <a:ext cx="5430192" cy="1290161"/>
              </a:xfrm>
              <a:prstGeom prst="rect">
                <a:avLst/>
              </a:prstGeom>
              <a:noFill/>
              <a:ln w="19050">
                <a:noFill/>
              </a:ln>
            </p:spPr>
            <p:txBody>
              <a:bodyPr wrap="square">
                <a:spAutoFit/>
              </a:bodyPr>
              <a:lstStyle/>
              <a:p>
                <a:pPr marL="285750" indent="-285750">
                  <a:lnSpc>
                    <a:spcPct val="150000"/>
                  </a:lnSpc>
                  <a:buFont typeface="Wingdings" panose="05000000000000000000" pitchFamily="2" charset="2"/>
                  <a:buChar char="Ø"/>
                  <a:defRPr/>
                </a:pPr>
                <a:r>
                  <a:rPr kumimoji="0" lang="zh-CN" altLang="en-US"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危险效应：</a:t>
                </a:r>
                <a:r>
                  <a:rPr kumimoji="0" lang="en-GB"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CAR</a:t>
                </a:r>
                <a:r>
                  <a:rPr kumimoji="0" lang="zh-CN" altLang="en-GB"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CLR</a:t>
                </a:r>
                <a:r>
                  <a:rPr kumimoji="0" lang="zh-CN" altLang="en-US"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NLR</a:t>
                </a:r>
                <a:r>
                  <a:rPr kumimoji="0" lang="zh-CN" altLang="en-US"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SII</a:t>
                </a:r>
                <a:r>
                  <a:rPr kumimoji="0" lang="zh-CN" altLang="en-US"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SIRI ↑</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kumimoji="0" lang="zh-CN" altLang="en-US"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保护效应：</a:t>
                </a:r>
                <a:r>
                  <a:rPr kumimoji="0" lang="en-US"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ENR</a:t>
                </a:r>
                <a:r>
                  <a:rPr kumimoji="0" lang="zh-CN" altLang="en-US" sz="1800" i="0" u="none" strike="noStrike" kern="1200" cap="none" spc="0" normalizeH="0" baseline="0" noProof="0" dirty="0">
                    <a:ln>
                      <a:noFill/>
                    </a:ln>
                    <a:solidFill>
                      <a:srgbClr val="333333"/>
                    </a:solidFill>
                    <a:effectLst/>
                    <a:highlight>
                      <a:srgbClr val="FFFFFF"/>
                    </a:highlight>
                    <a:uLnTx/>
                    <a:uFillTx/>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en-US"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lang="zh-CN" altLang="en-US"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双向效应：</a:t>
                </a:r>
                <a:r>
                  <a:rPr kumimoji="0" lang="en-US"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NLR</a:t>
                </a:r>
                <a:r>
                  <a:rPr kumimoji="0" lang="zh-CN" altLang="en-US"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PNI</a:t>
                </a:r>
              </a:p>
            </p:txBody>
          </p:sp>
        </p:grpSp>
      </p:grpSp>
      <p:grpSp>
        <p:nvGrpSpPr>
          <p:cNvPr id="30" name="组合 29"/>
          <p:cNvGrpSpPr/>
          <p:nvPr/>
        </p:nvGrpSpPr>
        <p:grpSpPr>
          <a:xfrm>
            <a:off x="6181126" y="1174123"/>
            <a:ext cx="3229699" cy="1850310"/>
            <a:chOff x="646359" y="2463411"/>
            <a:chExt cx="3653068" cy="1850816"/>
          </a:xfrm>
        </p:grpSpPr>
        <p:grpSp>
          <p:nvGrpSpPr>
            <p:cNvPr id="26" name="组合 25"/>
            <p:cNvGrpSpPr/>
            <p:nvPr/>
          </p:nvGrpSpPr>
          <p:grpSpPr>
            <a:xfrm>
              <a:off x="646359" y="2463411"/>
              <a:ext cx="3653068" cy="1543039"/>
              <a:chOff x="192621" y="2553658"/>
              <a:chExt cx="4614260" cy="1741986"/>
            </a:xfrm>
          </p:grpSpPr>
          <p:grpSp>
            <p:nvGrpSpPr>
              <p:cNvPr id="23" name="组合 22"/>
              <p:cNvGrpSpPr/>
              <p:nvPr/>
            </p:nvGrpSpPr>
            <p:grpSpPr>
              <a:xfrm>
                <a:off x="192621" y="2553658"/>
                <a:ext cx="4614260" cy="1741986"/>
                <a:chOff x="497421" y="4043100"/>
                <a:chExt cx="4614260" cy="1741986"/>
              </a:xfrm>
            </p:grpSpPr>
            <p:pic>
              <p:nvPicPr>
                <p:cNvPr id="21" name="图片 20"/>
                <p:cNvPicPr>
                  <a:picLocks noChangeAspect="1"/>
                </p:cNvPicPr>
                <p:nvPr/>
              </p:nvPicPr>
              <p:blipFill rotWithShape="1">
                <a:blip r:embed="rId4"/>
                <a:srcRect t="59582" b="24897"/>
                <a:stretch>
                  <a:fillRect/>
                </a:stretch>
              </p:blipFill>
              <p:spPr>
                <a:xfrm>
                  <a:off x="497421" y="4865903"/>
                  <a:ext cx="4614260" cy="919183"/>
                </a:xfrm>
                <a:prstGeom prst="rect">
                  <a:avLst/>
                </a:prstGeom>
              </p:spPr>
            </p:pic>
            <p:pic>
              <p:nvPicPr>
                <p:cNvPr id="22" name="图片 21"/>
                <p:cNvPicPr>
                  <a:picLocks noChangeAspect="1"/>
                </p:cNvPicPr>
                <p:nvPr/>
              </p:nvPicPr>
              <p:blipFill rotWithShape="1">
                <a:blip r:embed="rId4"/>
                <a:srcRect b="86107"/>
                <a:stretch>
                  <a:fillRect/>
                </a:stretch>
              </p:blipFill>
              <p:spPr>
                <a:xfrm>
                  <a:off x="497421" y="4043100"/>
                  <a:ext cx="4614260" cy="822803"/>
                </a:xfrm>
                <a:prstGeom prst="rect">
                  <a:avLst/>
                </a:prstGeom>
              </p:spPr>
            </p:pic>
          </p:grpSp>
          <p:pic>
            <p:nvPicPr>
              <p:cNvPr id="25" name="图片 24"/>
              <p:cNvPicPr>
                <a:picLocks noChangeAspect="1"/>
              </p:cNvPicPr>
              <p:nvPr/>
            </p:nvPicPr>
            <p:blipFill rotWithShape="1">
              <a:blip r:embed="rId4"/>
              <a:srcRect t="69557" b="19753"/>
              <a:stretch>
                <a:fillRect/>
              </a:stretch>
            </p:blipFill>
            <p:spPr>
              <a:xfrm>
                <a:off x="192621" y="3662597"/>
                <a:ext cx="4614260" cy="633047"/>
              </a:xfrm>
              <a:prstGeom prst="rect">
                <a:avLst/>
              </a:prstGeom>
            </p:spPr>
          </p:pic>
        </p:grpSp>
        <p:sp>
          <p:nvSpPr>
            <p:cNvPr id="28" name="文本框 27"/>
            <p:cNvSpPr txBox="1"/>
            <p:nvPr/>
          </p:nvSpPr>
          <p:spPr>
            <a:xfrm>
              <a:off x="646359" y="4006450"/>
              <a:ext cx="3653068" cy="307777"/>
            </a:xfrm>
            <a:prstGeom prst="rect">
              <a:avLst/>
            </a:prstGeom>
            <a:solidFill>
              <a:schemeClr val="bg1"/>
            </a:solidFill>
            <a:ln w="19050">
              <a:noFill/>
            </a:ln>
          </p:spPr>
          <p:txBody>
            <a:bodyPr wrap="square">
              <a:spAutoFit/>
            </a:bodyPr>
            <a:lstStyle/>
            <a:p>
              <a:pPr algn="ctr"/>
              <a:r>
                <a:rPr lang="zh-CN" altLang="en-US"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Qi, et al. 2023.</a:t>
              </a:r>
              <a:r>
                <a:rPr lang="zh-CN" altLang="en-US"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节选）</a:t>
              </a:r>
              <a:endParaRPr lang="zh-CN" altLang="en-US" sz="1400" baseline="300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aphicFrame>
        <p:nvGraphicFramePr>
          <p:cNvPr id="35" name="表格 34"/>
          <p:cNvGraphicFramePr>
            <a:graphicFrameLocks noGrp="1"/>
          </p:cNvGraphicFramePr>
          <p:nvPr/>
        </p:nvGraphicFramePr>
        <p:xfrm>
          <a:off x="346777" y="3096029"/>
          <a:ext cx="11428199" cy="2880000"/>
        </p:xfrm>
        <a:graphic>
          <a:graphicData uri="http://schemas.openxmlformats.org/drawingml/2006/table">
            <a:tbl>
              <a:tblPr/>
              <a:tblGrid>
                <a:gridCol w="1401497">
                  <a:extLst>
                    <a:ext uri="{9D8B030D-6E8A-4147-A177-3AD203B41FA5}">
                      <a16:colId xmlns:a16="http://schemas.microsoft.com/office/drawing/2014/main" val="20000"/>
                    </a:ext>
                  </a:extLst>
                </a:gridCol>
                <a:gridCol w="10026702">
                  <a:extLst>
                    <a:ext uri="{9D8B030D-6E8A-4147-A177-3AD203B41FA5}">
                      <a16:colId xmlns:a16="http://schemas.microsoft.com/office/drawing/2014/main" val="20001"/>
                    </a:ext>
                  </a:extLst>
                </a:gridCol>
              </a:tblGrid>
              <a:tr h="360000">
                <a:tc>
                  <a:txBody>
                    <a:bodyPr/>
                    <a:lstStyle/>
                    <a:p>
                      <a:pPr algn="l" fontAlgn="ctr"/>
                      <a:r>
                        <a:rPr lang="en-GB" sz="1400" b="0" i="0" u="none" strike="noStrike" dirty="0" err="1">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免疫细胞</a:t>
                      </a:r>
                      <a:r>
                        <a:rPr lang="en-US" altLang="zh-CN"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因子</a:t>
                      </a:r>
                      <a:endPar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3048" marR="3048" marT="3048"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对预后的影响</a:t>
                      </a:r>
                    </a:p>
                  </a:txBody>
                  <a:tcPr marL="3048" marR="3048" marT="3048"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60000">
                <a:tc>
                  <a:txBody>
                    <a:bodyPr/>
                    <a:lstStyle/>
                    <a:p>
                      <a:pPr algn="l" fontAlgn="ctr"/>
                      <a:r>
                        <a:rPr lang="en-GB" sz="1400" b="0" i="0" u="none" strike="noStrike" dirty="0" err="1">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C反应蛋白</a:t>
                      </a:r>
                      <a:endPar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3048" marR="3048" marT="3048" marB="0" anchor="ctr">
                    <a:lnL>
                      <a:noFill/>
                    </a:lnL>
                    <a:lnR>
                      <a:noFill/>
                    </a:lnR>
                    <a:lnT w="12700" cap="flat" cmpd="sng" algn="ctr">
                      <a:solidFill>
                        <a:schemeClr val="tx1"/>
                      </a:solidFill>
                      <a:prstDash val="solid"/>
                      <a:round/>
                      <a:headEnd type="none" w="med" len="med"/>
                      <a:tailEnd type="none" w="med" len="med"/>
                    </a:lnT>
                    <a:lnB>
                      <a:noFill/>
                    </a:lnB>
                    <a:noFill/>
                  </a:tcPr>
                </a:tc>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全身炎症标志物，升高结合营养不良可使</a:t>
                      </a:r>
                      <a:r>
                        <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HIV</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阳性结核病患者的短期死亡率增加</a:t>
                      </a:r>
                      <a:r>
                        <a:rPr lang="en-US" altLang="zh-CN"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5.6</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倍</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3048" marR="3048" marT="3048" marB="0" anchor="ctr">
                    <a:lnL>
                      <a:noFill/>
                    </a:lnL>
                    <a:lnR>
                      <a:noFill/>
                    </a:lnR>
                    <a:lnT w="12700" cap="flat" cmpd="sng" algn="ctr">
                      <a:solidFill>
                        <a:schemeClr val="tx1"/>
                      </a:solidFill>
                      <a:prstDash val="solid"/>
                      <a:round/>
                      <a:headEnd type="none" w="med" len="med"/>
                      <a:tailEnd type="none" w="med" len="med"/>
                    </a:lnT>
                    <a:lnB>
                      <a:noFill/>
                    </a:lnB>
                    <a:noFill/>
                  </a:tcPr>
                </a:tc>
                <a:extLst>
                  <a:ext uri="{0D108BD9-81ED-4DB2-BD59-A6C34878D82A}">
                    <a16:rowId xmlns:a16="http://schemas.microsoft.com/office/drawing/2014/main" val="10001"/>
                  </a:ext>
                </a:extLst>
              </a:tr>
              <a:tr h="360000">
                <a:tc>
                  <a:txBody>
                    <a:bodyPr/>
                    <a:lstStyle/>
                    <a:p>
                      <a:pPr algn="l" fontAlgn="ctr"/>
                      <a:r>
                        <a:rPr lang="en-GB" sz="1400" b="0" i="0" u="none" strike="noStrike" dirty="0" err="1">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白蛋白</a:t>
                      </a:r>
                      <a:endPar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3048" marR="3048" marT="3048" marB="0" anchor="ctr">
                    <a:lnL>
                      <a:noFill/>
                    </a:lnL>
                    <a:lnR>
                      <a:noFill/>
                    </a:lnR>
                    <a:lnT>
                      <a:noFill/>
                    </a:lnT>
                    <a:lnB>
                      <a:noFill/>
                    </a:lnB>
                    <a:noFill/>
                  </a:tcPr>
                </a:tc>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抗炎和抗氧化蛋白，是评估营养状况的重要指标，低水平提示较差的预后</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3048" marR="3048" marT="3048" marB="0" anchor="ctr">
                    <a:lnL>
                      <a:noFill/>
                    </a:lnL>
                    <a:lnR>
                      <a:noFill/>
                    </a:lnR>
                    <a:lnT>
                      <a:noFill/>
                    </a:lnT>
                    <a:lnB>
                      <a:noFill/>
                    </a:lnB>
                    <a:noFill/>
                  </a:tcPr>
                </a:tc>
                <a:extLst>
                  <a:ext uri="{0D108BD9-81ED-4DB2-BD59-A6C34878D82A}">
                    <a16:rowId xmlns:a16="http://schemas.microsoft.com/office/drawing/2014/main" val="10002"/>
                  </a:ext>
                </a:extLst>
              </a:tr>
              <a:tr h="360000">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中性粒细胞</a:t>
                      </a:r>
                    </a:p>
                  </a:txBody>
                  <a:tcPr marL="3048" marR="3048" marT="3048" marB="0" anchor="ctr">
                    <a:lnL>
                      <a:noFill/>
                    </a:lnL>
                    <a:lnR>
                      <a:noFill/>
                    </a:lnR>
                    <a:lnT>
                      <a:noFill/>
                    </a:lnT>
                    <a:lnB>
                      <a:noFill/>
                    </a:lnB>
                    <a:noFill/>
                  </a:tcPr>
                </a:tc>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坏死可促进吞噬细胞内</a:t>
                      </a:r>
                      <a:r>
                        <a:rPr lang="en-US" altLang="zh-CN" sz="1400" b="0" i="0" u="none" strike="noStrike" dirty="0" err="1">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Mtb</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增殖，加速干酪样坏死及组织液化，升高与不良预后相关</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[3,4]</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3048" marR="3048" marT="3048" marB="0" anchor="ctr">
                    <a:lnL>
                      <a:noFill/>
                    </a:lnL>
                    <a:lnR>
                      <a:noFill/>
                    </a:lnR>
                    <a:lnT>
                      <a:noFill/>
                    </a:lnT>
                    <a:lnB>
                      <a:noFill/>
                    </a:lnB>
                    <a:noFill/>
                  </a:tcPr>
                </a:tc>
                <a:extLst>
                  <a:ext uri="{0D108BD9-81ED-4DB2-BD59-A6C34878D82A}">
                    <a16:rowId xmlns:a16="http://schemas.microsoft.com/office/drawing/2014/main" val="10003"/>
                  </a:ext>
                </a:extLst>
              </a:tr>
              <a:tr h="360000">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淋巴细胞</a:t>
                      </a:r>
                    </a:p>
                  </a:txBody>
                  <a:tcPr marL="3048" marR="3048" marT="3048" marB="0" anchor="ctr">
                    <a:lnL>
                      <a:noFill/>
                    </a:lnL>
                    <a:lnR>
                      <a:noFill/>
                    </a:lnR>
                    <a:lnT>
                      <a:noFill/>
                    </a:lnT>
                    <a:lnB>
                      <a:noFill/>
                    </a:lnB>
                    <a:noFill/>
                  </a:tcPr>
                </a:tc>
                <a:tc>
                  <a:txBody>
                    <a:bodyPr/>
                    <a:lstStyle/>
                    <a:p>
                      <a:pPr marL="0" marR="0" indent="0" algn="l"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重症患者中更常见淋巴细胞减少</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[5–7]</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，比例低于</a:t>
                      </a:r>
                      <a:r>
                        <a:rPr lang="en-US" altLang="zh-CN"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16%</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可使治疗失败风险增加</a:t>
                      </a:r>
                      <a:r>
                        <a:rPr lang="en-US" altLang="zh-CN"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11</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倍</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[7]</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3048" marR="3048" marT="3048" marB="0" anchor="ctr">
                    <a:lnL>
                      <a:noFill/>
                    </a:lnL>
                    <a:lnR>
                      <a:noFill/>
                    </a:lnR>
                    <a:lnT>
                      <a:noFill/>
                    </a:lnT>
                    <a:lnB>
                      <a:noFill/>
                    </a:lnB>
                    <a:noFill/>
                  </a:tcPr>
                </a:tc>
                <a:extLst>
                  <a:ext uri="{0D108BD9-81ED-4DB2-BD59-A6C34878D82A}">
                    <a16:rowId xmlns:a16="http://schemas.microsoft.com/office/drawing/2014/main" val="10004"/>
                  </a:ext>
                </a:extLst>
              </a:tr>
              <a:tr h="360000">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单核细胞</a:t>
                      </a:r>
                    </a:p>
                  </a:txBody>
                  <a:tcPr marL="3048" marR="3048" marT="3048" marB="0" anchor="ctr">
                    <a:lnL>
                      <a:noFill/>
                    </a:lnL>
                    <a:lnR>
                      <a:noFill/>
                    </a:lnR>
                    <a:lnT>
                      <a:noFill/>
                    </a:lnT>
                    <a:lnB>
                      <a:noFill/>
                    </a:lnB>
                    <a:noFill/>
                  </a:tcPr>
                </a:tc>
                <a:tc>
                  <a:txBody>
                    <a:bodyPr/>
                    <a:lstStyle/>
                    <a:p>
                      <a:pPr marL="0" marR="0" indent="0" algn="l" defTabSz="914400" rtl="0" eaLnBrk="1" fontAlgn="ctr" latinLnBrk="0" hangingPunct="1">
                        <a:lnSpc>
                          <a:spcPct val="100000"/>
                        </a:lnSpc>
                        <a:spcBef>
                          <a:spcPts val="0"/>
                        </a:spcBef>
                        <a:spcAft>
                          <a:spcPts val="0"/>
                        </a:spcAft>
                        <a:buClrTx/>
                        <a:buSzTx/>
                        <a:buFontTx/>
                        <a:buNone/>
                        <a:defRPr/>
                      </a:pPr>
                      <a:r>
                        <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CD16+</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亚群在结核病患者中异常扩增</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[9,10]</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，促进</a:t>
                      </a:r>
                      <a:r>
                        <a:rPr lang="en-US" altLang="zh-CN" sz="1400" b="0" i="0" u="none" strike="noStrike" dirty="0" err="1">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Mtb</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恢复力</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[11]</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；影响树突状细胞分化及</a:t>
                      </a:r>
                      <a:r>
                        <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T</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淋巴细胞活化，削弱机体抗结核免疫</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[12]</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3048" marR="3048" marT="3048" marB="0" anchor="ctr">
                    <a:lnL>
                      <a:noFill/>
                    </a:lnL>
                    <a:lnR>
                      <a:noFill/>
                    </a:lnR>
                    <a:lnT>
                      <a:noFill/>
                    </a:lnT>
                    <a:lnB>
                      <a:noFill/>
                    </a:lnB>
                    <a:noFill/>
                  </a:tcPr>
                </a:tc>
                <a:extLst>
                  <a:ext uri="{0D108BD9-81ED-4DB2-BD59-A6C34878D82A}">
                    <a16:rowId xmlns:a16="http://schemas.microsoft.com/office/drawing/2014/main" val="10005"/>
                  </a:ext>
                </a:extLst>
              </a:tr>
              <a:tr h="360000">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血小板</a:t>
                      </a:r>
                    </a:p>
                  </a:txBody>
                  <a:tcPr marL="3048" marR="3048" marT="3048" marB="0" anchor="ctr">
                    <a:lnL>
                      <a:noFill/>
                    </a:lnL>
                    <a:lnR>
                      <a:noFill/>
                    </a:lnR>
                    <a:lnT>
                      <a:noFill/>
                    </a:lnT>
                    <a:lnB>
                      <a:noFill/>
                    </a:lnB>
                    <a:noFill/>
                  </a:tcPr>
                </a:tc>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肺结核患者血浆中血小板活性标志物升高，可促进</a:t>
                      </a:r>
                      <a:r>
                        <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IL-1</a:t>
                      </a:r>
                      <a:r>
                        <a:rPr lang="el-GR"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β</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和</a:t>
                      </a:r>
                      <a:r>
                        <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IL-10</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水平上调，</a:t>
                      </a:r>
                      <a:r>
                        <a:rPr lang="en-GB"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IL-12</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下调，导致病原体生长加速和组织损伤加重</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[8]</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3048" marR="3048" marT="3048" marB="0" anchor="ctr">
                    <a:lnL>
                      <a:noFill/>
                    </a:lnL>
                    <a:lnR>
                      <a:noFill/>
                    </a:lnR>
                    <a:lnT>
                      <a:noFill/>
                    </a:lnT>
                    <a:lnB>
                      <a:noFill/>
                    </a:lnB>
                    <a:noFill/>
                  </a:tcPr>
                </a:tc>
                <a:extLst>
                  <a:ext uri="{0D108BD9-81ED-4DB2-BD59-A6C34878D82A}">
                    <a16:rowId xmlns:a16="http://schemas.microsoft.com/office/drawing/2014/main" val="10006"/>
                  </a:ext>
                </a:extLst>
              </a:tr>
              <a:tr h="360000">
                <a:tc>
                  <a:txBody>
                    <a:bodyPr/>
                    <a:lstStyle/>
                    <a:p>
                      <a:pPr algn="l" fontAlgn="ct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嗜酸性粒细胞</a:t>
                      </a:r>
                    </a:p>
                  </a:txBody>
                  <a:tcPr marL="3048" marR="3048" marT="3048"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marL="0" marR="0" indent="0" algn="l" defTabSz="914400" rtl="0" eaLnBrk="1" fontAlgn="ctr" latinLnBrk="0" hangingPunct="1">
                        <a:lnSpc>
                          <a:spcPct val="100000"/>
                        </a:lnSpc>
                        <a:spcBef>
                          <a:spcPts val="0"/>
                        </a:spcBef>
                        <a:spcAft>
                          <a:spcPts val="0"/>
                        </a:spcAft>
                        <a:buClrTx/>
                        <a:buSzTx/>
                        <a:buFontTx/>
                        <a:buNone/>
                        <a:defRPr/>
                      </a:pP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比中性粒细胞更早响应</a:t>
                      </a:r>
                      <a:r>
                        <a:rPr lang="en-GB" sz="1400" b="0" i="0" u="none" strike="noStrike" dirty="0" err="1">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Mtb</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感染</a:t>
                      </a:r>
                      <a:r>
                        <a:rPr lang="en-US" altLang="zh-CN"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，通过脱颗粒抑制</a:t>
                      </a:r>
                      <a:r>
                        <a:rPr lang="en-GB" sz="1400" b="0" i="0" u="none" strike="noStrike" dirty="0" err="1">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Mtb</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生长</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[13,14]</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；低水平与更短生存时间相关，升高可能具有保护作用</a:t>
                      </a:r>
                      <a:r>
                        <a:rPr lang="en-US" altLang="zh-CN" sz="1400" b="0" i="0" u="none" strike="noStrike"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[14]</a:t>
                      </a:r>
                      <a:r>
                        <a:rPr lang="zh-CN" altLang="en-US" sz="1400" b="0" i="0" u="none" strike="noStrike"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a:txBody>
                  <a:tcPr marL="3048" marR="3048" marT="3048"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36" name="文本框 35"/>
          <p:cNvSpPr txBox="1"/>
          <p:nvPr/>
        </p:nvSpPr>
        <p:spPr>
          <a:xfrm>
            <a:off x="257877" y="6046010"/>
            <a:ext cx="2821583" cy="861774"/>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Ciccacci</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F, et al. Int J Infect Dis, 2021.</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algn="l" latinLnBrk="1"/>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Sheinenzon</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 et al. Int J Biol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Macromol</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2021.</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algn="l" latinLnBrk="1"/>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[3]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Dallenga</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T, et al. Cell Host Microbe, 2017.</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algn="l" latinLnBrk="1"/>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[4]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Remot</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 et al. Front Immunol, 2019.</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algn="l" latinLnBrk="1"/>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[5] Wang Y, et al. J Infect, 2023.</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7" name="文本框 36"/>
          <p:cNvSpPr txBox="1"/>
          <p:nvPr/>
        </p:nvSpPr>
        <p:spPr>
          <a:xfrm>
            <a:off x="3556565" y="6046010"/>
            <a:ext cx="2957144" cy="861774"/>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[6] Li F, et al. Microorganisms, 2023.</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[7]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Chedid</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C, et al. Int J Infect Dis, 2020.</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[8] Fox K A, et al. Am J Respir Crit Care Med, 2018.</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[9]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Castaño</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D, et al. Tuberculosis, 2011.</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[10] Balboa L, et al. J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Leukoc</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Biol, 2011.</a:t>
            </a:r>
          </a:p>
        </p:txBody>
      </p:sp>
      <p:sp>
        <p:nvSpPr>
          <p:cNvPr id="38" name="文本框 37"/>
          <p:cNvSpPr txBox="1"/>
          <p:nvPr/>
        </p:nvSpPr>
        <p:spPr>
          <a:xfrm>
            <a:off x="6990814" y="6046010"/>
            <a:ext cx="2957144" cy="707886"/>
          </a:xfrm>
          <a:prstGeom prst="rect">
            <a:avLst/>
          </a:prstGeom>
          <a:noFill/>
          <a:ln w="19050">
            <a:noFill/>
          </a:ln>
        </p:spPr>
        <p:txBody>
          <a:bodyPr wrap="square">
            <a:spAutoFit/>
          </a:bodyPr>
          <a:lstStyle/>
          <a:p>
            <a:pPr algn="l" latinLnBrk="1"/>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[11] Balboa L, et al. Clin Sci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Lond</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2015.</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algn="l" latinLnBrk="1"/>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[12]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Lastrucci</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C, et al. Cell Res, 2015.</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algn="l" latinLnBrk="1"/>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[13]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Bohrer</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 C, et al. Cell Rep, 2022.</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pPr algn="l" latinLnBrk="1"/>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[14]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Bohrer</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 C, et al. J Exp Med, 2021.</a:t>
            </a:r>
            <a:endParaRPr lang="zh-CN"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42" name="组合 41"/>
          <p:cNvGrpSpPr/>
          <p:nvPr/>
        </p:nvGrpSpPr>
        <p:grpSpPr>
          <a:xfrm>
            <a:off x="9568836" y="444282"/>
            <a:ext cx="2206140" cy="2709529"/>
            <a:chOff x="9441836" y="444282"/>
            <a:chExt cx="2206140" cy="2709529"/>
          </a:xfrm>
        </p:grpSpPr>
        <p:grpSp>
          <p:nvGrpSpPr>
            <p:cNvPr id="40" name="组合 39"/>
            <p:cNvGrpSpPr/>
            <p:nvPr/>
          </p:nvGrpSpPr>
          <p:grpSpPr>
            <a:xfrm>
              <a:off x="9441836" y="444282"/>
              <a:ext cx="2042482" cy="2448670"/>
              <a:chOff x="9441836" y="444282"/>
              <a:chExt cx="2042482" cy="2448670"/>
            </a:xfrm>
          </p:grpSpPr>
          <p:pic>
            <p:nvPicPr>
              <p:cNvPr id="1026" name="Picture 2" descr="Fig. 4"/>
              <p:cNvPicPr>
                <a:picLocks noChangeAspect="1" noChangeArrowheads="1"/>
              </p:cNvPicPr>
              <p:nvPr/>
            </p:nvPicPr>
            <p:blipFill rotWithShape="1">
              <a:blip r:embed="rId5">
                <a:extLst>
                  <a:ext uri="{28A0092B-C50C-407E-A947-70E740481C1C}">
                    <a14:useLocalDpi xmlns:a14="http://schemas.microsoft.com/office/drawing/2010/main" val="0"/>
                  </a:ext>
                </a:extLst>
              </a:blip>
              <a:srcRect r="68430" b="61764"/>
              <a:stretch>
                <a:fillRect/>
              </a:stretch>
            </p:blipFill>
            <p:spPr bwMode="auto">
              <a:xfrm>
                <a:off x="9478687" y="444282"/>
                <a:ext cx="2005631" cy="1307148"/>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2" descr="Fig. 4"/>
              <p:cNvPicPr>
                <a:picLocks noChangeAspect="1" noChangeArrowheads="1"/>
              </p:cNvPicPr>
              <p:nvPr/>
            </p:nvPicPr>
            <p:blipFill rotWithShape="1">
              <a:blip r:embed="rId5">
                <a:extLst>
                  <a:ext uri="{28A0092B-C50C-407E-A947-70E740481C1C}">
                    <a14:useLocalDpi xmlns:a14="http://schemas.microsoft.com/office/drawing/2010/main" val="0"/>
                  </a:ext>
                </a:extLst>
              </a:blip>
              <a:srcRect l="33268" t="-1211" r="35162" b="62975"/>
              <a:stretch>
                <a:fillRect/>
              </a:stretch>
            </p:blipFill>
            <p:spPr bwMode="auto">
              <a:xfrm>
                <a:off x="9441836" y="1585804"/>
                <a:ext cx="2005631" cy="1307148"/>
              </a:xfrm>
              <a:prstGeom prst="rect">
                <a:avLst/>
              </a:prstGeom>
              <a:noFill/>
              <a:extLst>
                <a:ext uri="{909E8E84-426E-40DD-AFC4-6F175D3DCCD1}">
                  <a14:hiddenFill xmlns:a14="http://schemas.microsoft.com/office/drawing/2010/main">
                    <a:solidFill>
                      <a:srgbClr val="FFFFFF"/>
                    </a:solidFill>
                  </a14:hiddenFill>
                </a:ext>
              </a:extLst>
            </p:spPr>
          </p:pic>
        </p:grpSp>
        <p:sp>
          <p:nvSpPr>
            <p:cNvPr id="41" name="文本框 40"/>
            <p:cNvSpPr txBox="1"/>
            <p:nvPr/>
          </p:nvSpPr>
          <p:spPr>
            <a:xfrm>
              <a:off x="9441836" y="2846034"/>
              <a:ext cx="2206140" cy="307777"/>
            </a:xfrm>
            <a:prstGeom prst="rect">
              <a:avLst/>
            </a:prstGeom>
            <a:noFill/>
            <a:ln w="19050">
              <a:noFill/>
            </a:ln>
          </p:spPr>
          <p:txBody>
            <a:bodyPr wrap="square">
              <a:spAutoFit/>
            </a:bodyPr>
            <a:lstStyle/>
            <a:p>
              <a:pPr algn="ctr"/>
              <a:r>
                <a:rPr lang="zh-CN" altLang="en-US"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Zhang, et al. 2024.</a:t>
              </a:r>
              <a:r>
                <a:rPr lang="zh-CN" altLang="en-US" sz="14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rPr>
                <a:t>节选）</a:t>
              </a:r>
              <a:endParaRPr lang="zh-CN" altLang="en-US" sz="1400" baseline="30000" dirty="0">
                <a:solidFill>
                  <a:schemeClr val="tx1">
                    <a:lumMod val="65000"/>
                    <a:lumOff val="3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21</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81" name="文本框 80"/>
          <p:cNvSpPr txBox="1"/>
          <p:nvPr/>
        </p:nvSpPr>
        <p:spPr>
          <a:xfrm>
            <a:off x="471722" y="6042847"/>
            <a:ext cx="3857201" cy="861774"/>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 Wong C K, et al. J Immunol (Baltimore, Md. : 1950), 2017.</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Zinatizadeh</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M R, et al. Ageing Res Rev, 2023.</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[3] Schneider J L, et al. Cell, 2021.</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[4] Moulton V R. Front Immunol, 2018.</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[5] Klein S L, et al. Nat Rev Immunol, 2016.</a:t>
            </a:r>
          </a:p>
        </p:txBody>
      </p:sp>
      <p:sp>
        <p:nvSpPr>
          <p:cNvPr id="82" name="文本框 81"/>
          <p:cNvSpPr txBox="1"/>
          <p:nvPr/>
        </p:nvSpPr>
        <p:spPr>
          <a:xfrm>
            <a:off x="4204045" y="6034834"/>
            <a:ext cx="3857201" cy="861774"/>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[6] Márquez E J, et al. Nat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Commun</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2020.</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[7] Murphy M E, et al. BMC Med, 2018.</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[8]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Sotos</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 Prieto M,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Nutr</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Metab</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Cardiovasc Dis, 2016.</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[9]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Dheda</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K, et al. Lancet Respir Med, 2017.</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[10] Chandra P, et al. Nat Rev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Microbiol</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2022.</a:t>
            </a:r>
          </a:p>
        </p:txBody>
      </p:sp>
      <p:sp>
        <p:nvSpPr>
          <p:cNvPr id="83" name="文本框 82"/>
          <p:cNvSpPr txBox="1"/>
          <p:nvPr/>
        </p:nvSpPr>
        <p:spPr>
          <a:xfrm>
            <a:off x="7936368" y="5996226"/>
            <a:ext cx="3857201" cy="861774"/>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[11]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Shepelkova</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G S, et al. Int J Mol Sci, 2024.</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[12] Kumar N P,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eLife</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2019.</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[13] Smith S G, et al. Int J Infect Dis, 2025.</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[14]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Chiale</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C,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Curr</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Opin</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Virol</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2021.</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[15]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Bertoletti</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 et al. J Hepatol, 2016.</a:t>
            </a:r>
          </a:p>
        </p:txBody>
      </p:sp>
      <p:grpSp>
        <p:nvGrpSpPr>
          <p:cNvPr id="2" name="组合 1"/>
          <p:cNvGrpSpPr/>
          <p:nvPr/>
        </p:nvGrpSpPr>
        <p:grpSpPr>
          <a:xfrm>
            <a:off x="-80276" y="-309462"/>
            <a:ext cx="12272277" cy="991435"/>
            <a:chOff x="-80276" y="-309462"/>
            <a:chExt cx="12272277" cy="991435"/>
          </a:xfrm>
        </p:grpSpPr>
        <p:sp>
          <p:nvSpPr>
            <p:cNvPr id="4"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 name="组合 5"/>
            <p:cNvGrpSpPr/>
            <p:nvPr/>
          </p:nvGrpSpPr>
          <p:grpSpPr>
            <a:xfrm>
              <a:off x="4416378" y="-31583"/>
              <a:ext cx="2576999" cy="581449"/>
              <a:chOff x="4826291" y="-31583"/>
              <a:chExt cx="2576999" cy="581449"/>
            </a:xfrm>
          </p:grpSpPr>
          <p:sp>
            <p:nvSpPr>
              <p:cNvPr id="12"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3"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第二章 讨论小结</a:t>
                </a:r>
              </a:p>
            </p:txBody>
          </p:sp>
        </p:grpSp>
        <p:sp>
          <p:nvSpPr>
            <p:cNvPr id="8" name="TextBox 9"/>
            <p:cNvSpPr txBox="1"/>
            <p:nvPr/>
          </p:nvSpPr>
          <p:spPr>
            <a:xfrm>
              <a:off x="2089079" y="70346"/>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9"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10" name="TextBox 9"/>
            <p:cNvSpPr txBox="1"/>
            <p:nvPr/>
          </p:nvSpPr>
          <p:spPr>
            <a:xfrm>
              <a:off x="74822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p>
          </p:txBody>
        </p:sp>
        <p:sp>
          <p:nvSpPr>
            <p:cNvPr id="11" name="TextBox 9"/>
            <p:cNvSpPr txBox="1"/>
            <p:nvPr/>
          </p:nvSpPr>
          <p:spPr>
            <a:xfrm>
              <a:off x="9809550" y="7294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grpSp>
        <p:nvGrpSpPr>
          <p:cNvPr id="36" name="组合 35"/>
          <p:cNvGrpSpPr/>
          <p:nvPr/>
        </p:nvGrpSpPr>
        <p:grpSpPr>
          <a:xfrm>
            <a:off x="474169" y="704386"/>
            <a:ext cx="12357507" cy="5277554"/>
            <a:chOff x="474169" y="704386"/>
            <a:chExt cx="12357507" cy="5277554"/>
          </a:xfrm>
        </p:grpSpPr>
        <p:grpSp>
          <p:nvGrpSpPr>
            <p:cNvPr id="69" name="组合 68"/>
            <p:cNvGrpSpPr/>
            <p:nvPr/>
          </p:nvGrpSpPr>
          <p:grpSpPr>
            <a:xfrm>
              <a:off x="474169" y="937082"/>
              <a:ext cx="2287624" cy="4968000"/>
              <a:chOff x="44183" y="774032"/>
              <a:chExt cx="2287624" cy="4968000"/>
            </a:xfrm>
          </p:grpSpPr>
          <p:sp>
            <p:nvSpPr>
              <p:cNvPr id="16" name="文本框 15"/>
              <p:cNvSpPr txBox="1"/>
              <p:nvPr/>
            </p:nvSpPr>
            <p:spPr>
              <a:xfrm>
                <a:off x="44183" y="2413314"/>
                <a:ext cx="2287624" cy="1689437"/>
              </a:xfrm>
              <a:prstGeom prst="rect">
                <a:avLst/>
              </a:prstGeom>
              <a:noFill/>
              <a:ln w="19050">
                <a:noFill/>
              </a:ln>
            </p:spPr>
            <p:txBody>
              <a:bodyPr wrap="square">
                <a:spAutoFit/>
              </a:bodyPr>
              <a:lstStyle/>
              <a:p>
                <a:pPr>
                  <a:lnSpc>
                    <a:spcPct val="150000"/>
                  </a:lnSpc>
                </a:pPr>
                <a:r>
                  <a:rPr lang="zh-CN" altLang="en-US" sz="2400" b="1" dirty="0">
                    <a:latin typeface="Times New Roman" panose="02020503050405090304" pitchFamily="18" charset="0"/>
                    <a:ea typeface="Microsoft YaHei UI" panose="020B0503020204020204" pitchFamily="34" charset="-122"/>
                    <a:cs typeface="Times New Roman" panose="02020503050405090304" pitchFamily="18" charset="0"/>
                  </a:rPr>
                  <a:t>炎症指标与肺结核预后关联的人群异质性</a:t>
                </a:r>
                <a:endParaRPr lang="en-US" altLang="zh-CN" sz="2400" b="1"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8" name="学论网-专注原创-www.xuelun.me"/>
              <p:cNvSpPr/>
              <p:nvPr/>
            </p:nvSpPr>
            <p:spPr>
              <a:xfrm>
                <a:off x="2181910" y="774032"/>
                <a:ext cx="90508" cy="4968000"/>
              </a:xfrm>
              <a:prstGeom prst="rect">
                <a:avLst/>
              </a:prstGeom>
              <a:solidFill>
                <a:srgbClr val="014924"/>
              </a:solidFill>
              <a:ln w="28575">
                <a:solidFill>
                  <a:srgbClr val="01492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sz="3200"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34" name="组合 33"/>
            <p:cNvGrpSpPr/>
            <p:nvPr/>
          </p:nvGrpSpPr>
          <p:grpSpPr>
            <a:xfrm>
              <a:off x="2702403" y="704386"/>
              <a:ext cx="10129273" cy="5277554"/>
              <a:chOff x="2702403" y="704386"/>
              <a:chExt cx="10129273" cy="5277554"/>
            </a:xfrm>
          </p:grpSpPr>
          <p:grpSp>
            <p:nvGrpSpPr>
              <p:cNvPr id="35" name="组合 34"/>
              <p:cNvGrpSpPr/>
              <p:nvPr/>
            </p:nvGrpSpPr>
            <p:grpSpPr>
              <a:xfrm>
                <a:off x="2731235" y="1862086"/>
                <a:ext cx="9472927" cy="1206917"/>
                <a:chOff x="2525202" y="1763397"/>
                <a:chExt cx="9472927" cy="1206917"/>
              </a:xfrm>
            </p:grpSpPr>
            <p:sp>
              <p:nvSpPr>
                <p:cNvPr id="20" name="文本框 19"/>
                <p:cNvSpPr txBox="1"/>
                <p:nvPr/>
              </p:nvSpPr>
              <p:spPr>
                <a:xfrm>
                  <a:off x="2525202" y="2270498"/>
                  <a:ext cx="727436" cy="369332"/>
                </a:xfrm>
                <a:prstGeom prst="rect">
                  <a:avLst/>
                </a:prstGeom>
                <a:noFill/>
                <a:ln w="19050">
                  <a:noFill/>
                </a:ln>
              </p:spPr>
              <p:txBody>
                <a:bodyPr wrap="square">
                  <a:spAutoFit/>
                </a:bodyPr>
                <a:lstStyle/>
                <a:p>
                  <a:r>
                    <a:rPr kumimoji="0" lang="zh-CN" altLang="en-US" b="0" i="0" u="none" strike="noStrike" kern="1200" cap="none" spc="0" normalizeH="0" baseline="0" noProof="0" dirty="0">
                      <a:ln>
                        <a:noFill/>
                      </a:ln>
                      <a:solidFill>
                        <a:schemeClr val="tx1">
                          <a:lumMod val="85000"/>
                          <a:lumOff val="1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性别</a:t>
                  </a:r>
                  <a:endParaRPr lang="zh-CN" altLang="en-US" sz="2000"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1" name="左大括号 20"/>
                <p:cNvSpPr/>
                <p:nvPr/>
              </p:nvSpPr>
              <p:spPr>
                <a:xfrm>
                  <a:off x="3165862" y="2002553"/>
                  <a:ext cx="216000" cy="936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5" name="文本框 24"/>
                <p:cNvSpPr txBox="1"/>
                <p:nvPr/>
              </p:nvSpPr>
              <p:spPr>
                <a:xfrm>
                  <a:off x="3370390" y="1892833"/>
                  <a:ext cx="1083710" cy="369332"/>
                </a:xfrm>
                <a:prstGeom prst="rect">
                  <a:avLst/>
                </a:prstGeom>
                <a:noFill/>
                <a:ln w="19050">
                  <a:noFill/>
                </a:ln>
              </p:spPr>
              <p:txBody>
                <a:bodyPr wrap="square">
                  <a:spAutoFit/>
                </a:bodyPr>
                <a:lstStyle/>
                <a:p>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女性</a:t>
                  </a:r>
                  <a:r>
                    <a:rPr kumimoji="0" lang="en-US" altLang="zh-CN" sz="18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[4,5,6]</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7" name="左大括号 26"/>
                <p:cNvSpPr/>
                <p:nvPr/>
              </p:nvSpPr>
              <p:spPr>
                <a:xfrm>
                  <a:off x="4382957" y="1831741"/>
                  <a:ext cx="180000" cy="504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9" name="文本框 28"/>
                <p:cNvSpPr txBox="1"/>
                <p:nvPr/>
              </p:nvSpPr>
              <p:spPr>
                <a:xfrm>
                  <a:off x="4562956" y="1763397"/>
                  <a:ext cx="7435173" cy="338554"/>
                </a:xfrm>
                <a:prstGeom prst="rect">
                  <a:avLst/>
                </a:prstGeom>
                <a:noFill/>
                <a:ln w="19050">
                  <a:noFill/>
                </a:ln>
              </p:spPr>
              <p:txBody>
                <a:bodyPr wrap="square">
                  <a:spAutoFit/>
                </a:bodyPr>
                <a:lstStyle/>
                <a:p>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免疫应答能力：更高的抗原呈递能力，更快的细胞因子释放和病原体清除速度</a:t>
                  </a:r>
                </a:p>
              </p:txBody>
            </p:sp>
            <p:sp>
              <p:nvSpPr>
                <p:cNvPr id="31" name="文本框 30"/>
                <p:cNvSpPr txBox="1"/>
                <p:nvPr/>
              </p:nvSpPr>
              <p:spPr>
                <a:xfrm>
                  <a:off x="4562955" y="2086614"/>
                  <a:ext cx="6334760" cy="338554"/>
                </a:xfrm>
                <a:prstGeom prst="rect">
                  <a:avLst/>
                </a:prstGeom>
                <a:noFill/>
                <a:ln w="19050">
                  <a:noFill/>
                </a:ln>
              </p:spPr>
              <p:txBody>
                <a:bodyPr wrap="square">
                  <a:spAutoFit/>
                </a:bodyPr>
                <a:lstStyle/>
                <a:p>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雌激素调节免疫功能，减少过度炎症反应</a:t>
                  </a:r>
                </a:p>
              </p:txBody>
            </p:sp>
            <p:sp>
              <p:nvSpPr>
                <p:cNvPr id="32" name="文本框 31"/>
                <p:cNvSpPr txBox="1"/>
                <p:nvPr/>
              </p:nvSpPr>
              <p:spPr>
                <a:xfrm>
                  <a:off x="3370390" y="2600982"/>
                  <a:ext cx="7171406" cy="369332"/>
                </a:xfrm>
                <a:prstGeom prst="rect">
                  <a:avLst/>
                </a:prstGeom>
                <a:noFill/>
                <a:ln w="19050">
                  <a:noFill/>
                </a:ln>
              </p:spPr>
              <p:txBody>
                <a:bodyPr wrap="square">
                  <a:spAutoFit/>
                </a:bodyPr>
                <a:lstStyle/>
                <a:p>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男性</a:t>
                  </a:r>
                  <a:r>
                    <a:rPr kumimoji="0" lang="en-US" altLang="zh-CN" sz="18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[7,8] </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常见吸烟、饮酒等行为，放大炎症指标与不良结局之间的关联</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47" name="组合 46"/>
              <p:cNvGrpSpPr/>
              <p:nvPr/>
            </p:nvGrpSpPr>
            <p:grpSpPr>
              <a:xfrm>
                <a:off x="2723620" y="3136914"/>
                <a:ext cx="10108056" cy="808982"/>
                <a:chOff x="2303130" y="3290415"/>
                <a:chExt cx="10108056" cy="808982"/>
              </a:xfrm>
            </p:grpSpPr>
            <p:grpSp>
              <p:nvGrpSpPr>
                <p:cNvPr id="42" name="组合 41"/>
                <p:cNvGrpSpPr/>
                <p:nvPr/>
              </p:nvGrpSpPr>
              <p:grpSpPr>
                <a:xfrm>
                  <a:off x="4176310" y="3290415"/>
                  <a:ext cx="8234876" cy="338554"/>
                  <a:chOff x="4048847" y="3554316"/>
                  <a:chExt cx="8234876" cy="338554"/>
                </a:xfrm>
              </p:grpSpPr>
              <p:sp>
                <p:nvSpPr>
                  <p:cNvPr id="39" name="文本框 38"/>
                  <p:cNvSpPr txBox="1"/>
                  <p:nvPr/>
                </p:nvSpPr>
                <p:spPr>
                  <a:xfrm>
                    <a:off x="4048847" y="3554316"/>
                    <a:ext cx="8234876" cy="338554"/>
                  </a:xfrm>
                  <a:prstGeom prst="rect">
                    <a:avLst/>
                  </a:prstGeom>
                  <a:noFill/>
                  <a:ln w="19050">
                    <a:noFill/>
                  </a:ln>
                </p:spPr>
                <p:txBody>
                  <a:bodyPr wrap="square">
                    <a:spAutoFit/>
                  </a:bodyPr>
                  <a:lstStyle/>
                  <a:p>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感染和治疗周期较长        长期慢性炎症        更严重的病理损伤 </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0" name="右箭头 39"/>
                  <p:cNvSpPr/>
                  <p:nvPr/>
                </p:nvSpPr>
                <p:spPr>
                  <a:xfrm>
                    <a:off x="6033326" y="3615593"/>
                    <a:ext cx="284526" cy="216000"/>
                  </a:xfrm>
                  <a:prstGeom prst="rightArrow">
                    <a:avLst/>
                  </a:prstGeom>
                  <a:solidFill>
                    <a:srgbClr val="0149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1" name="右箭头 40"/>
                  <p:cNvSpPr/>
                  <p:nvPr/>
                </p:nvSpPr>
                <p:spPr>
                  <a:xfrm>
                    <a:off x="7666237" y="3615593"/>
                    <a:ext cx="284526" cy="216000"/>
                  </a:xfrm>
                  <a:prstGeom prst="rightArrow">
                    <a:avLst/>
                  </a:prstGeom>
                  <a:solidFill>
                    <a:srgbClr val="0149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43" name="文本框 42"/>
                <p:cNvSpPr txBox="1"/>
                <p:nvPr/>
              </p:nvSpPr>
              <p:spPr>
                <a:xfrm>
                  <a:off x="2303130" y="3513342"/>
                  <a:ext cx="1774862" cy="369332"/>
                </a:xfrm>
                <a:prstGeom prst="rect">
                  <a:avLst/>
                </a:prstGeom>
                <a:noFill/>
                <a:ln w="19050">
                  <a:noFill/>
                </a:ln>
              </p:spPr>
              <p:txBody>
                <a:bodyPr wrap="square">
                  <a:spAutoFit/>
                </a:bodyPr>
                <a:lstStyle/>
                <a:p>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耐多药结核</a:t>
                  </a:r>
                  <a:r>
                    <a:rPr kumimoji="0" lang="en-US" altLang="zh-CN" sz="18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[9,10] </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4" name="左大括号 43"/>
                <p:cNvSpPr/>
                <p:nvPr/>
              </p:nvSpPr>
              <p:spPr>
                <a:xfrm>
                  <a:off x="3960310" y="3393270"/>
                  <a:ext cx="216000" cy="648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6" name="文本框 45"/>
                <p:cNvSpPr txBox="1"/>
                <p:nvPr/>
              </p:nvSpPr>
              <p:spPr>
                <a:xfrm>
                  <a:off x="4159823" y="3736413"/>
                  <a:ext cx="7307050" cy="362984"/>
                </a:xfrm>
                <a:prstGeom prst="rect">
                  <a:avLst/>
                </a:prstGeom>
                <a:noFill/>
                <a:ln w="19050">
                  <a:noFill/>
                </a:ln>
              </p:spPr>
              <p:txBody>
                <a:bodyPr wrap="square">
                  <a:spAutoFit/>
                </a:bodyPr>
                <a:lstStyle/>
                <a:p>
                  <a:pPr>
                    <a:lnSpc>
                      <a:spcPct val="120000"/>
                    </a:lnSpc>
                    <a:spcAft>
                      <a:spcPts val="600"/>
                    </a:spcAft>
                    <a:defRPr/>
                  </a:pP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耐药结核菌可能增强免疫逃逸，使炎症反应更具持续性和破坏性</a:t>
                  </a:r>
                </a:p>
              </p:txBody>
            </p:sp>
          </p:grpSp>
          <p:grpSp>
            <p:nvGrpSpPr>
              <p:cNvPr id="68" name="组合 67"/>
              <p:cNvGrpSpPr/>
              <p:nvPr/>
            </p:nvGrpSpPr>
            <p:grpSpPr>
              <a:xfrm>
                <a:off x="2723621" y="4825148"/>
                <a:ext cx="9796955" cy="1156792"/>
                <a:chOff x="2373430" y="5073010"/>
                <a:chExt cx="9796955" cy="1156792"/>
              </a:xfrm>
            </p:grpSpPr>
            <p:sp>
              <p:nvSpPr>
                <p:cNvPr id="51" name="文本框 50"/>
                <p:cNvSpPr txBox="1"/>
                <p:nvPr/>
              </p:nvSpPr>
              <p:spPr>
                <a:xfrm>
                  <a:off x="2373430" y="5506824"/>
                  <a:ext cx="1721653" cy="369332"/>
                </a:xfrm>
                <a:prstGeom prst="rect">
                  <a:avLst/>
                </a:prstGeom>
                <a:noFill/>
                <a:ln w="19050">
                  <a:noFill/>
                </a:ln>
              </p:spPr>
              <p:txBody>
                <a:bodyPr wrap="square">
                  <a:spAutoFit/>
                </a:bodyPr>
                <a:lstStyle/>
                <a:p>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糖尿病</a:t>
                  </a:r>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&amp;</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乙肝</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3" name="左大括号 52"/>
                <p:cNvSpPr/>
                <p:nvPr/>
              </p:nvSpPr>
              <p:spPr>
                <a:xfrm>
                  <a:off x="3827456" y="5233278"/>
                  <a:ext cx="216000" cy="936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4" name="文本框 53"/>
                <p:cNvSpPr txBox="1"/>
                <p:nvPr/>
              </p:nvSpPr>
              <p:spPr>
                <a:xfrm>
                  <a:off x="4026271" y="5073010"/>
                  <a:ext cx="8144114" cy="1156792"/>
                </a:xfrm>
                <a:prstGeom prst="rect">
                  <a:avLst/>
                </a:prstGeom>
                <a:noFill/>
                <a:ln w="19050">
                  <a:noFill/>
                </a:ln>
              </p:spPr>
              <p:txBody>
                <a:bodyPr wrap="square" rtlCol="0">
                  <a:spAutoFit/>
                </a:bodyPr>
                <a:lstStyle/>
                <a:p>
                  <a:pPr>
                    <a:lnSpc>
                      <a:spcPct val="150000"/>
                    </a:lnSpc>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均为慢性炎性疾病</a:t>
                  </a:r>
                  <a:endPar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合并症者基线炎症水平更高，结核病治疗期间</a:t>
                  </a: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持续存在高炎症状态</a:t>
                  </a:r>
                  <a:r>
                    <a:rPr kumimoji="0" lang="en-US" altLang="zh-CN" sz="16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[12,13] </a:t>
                  </a:r>
                  <a:endParaRPr lang="en-US" altLang="zh-CN"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免疫调控异常，如免疫耐受及特异性</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T</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细胞功能耗竭 </a:t>
                  </a:r>
                  <a:r>
                    <a:rPr kumimoji="0" lang="en-US" altLang="zh-CN" sz="16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[14,15] </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78" name="组合 77"/>
              <p:cNvGrpSpPr/>
              <p:nvPr/>
            </p:nvGrpSpPr>
            <p:grpSpPr>
              <a:xfrm>
                <a:off x="2733117" y="704386"/>
                <a:ext cx="4991305" cy="1156792"/>
                <a:chOff x="2331807" y="631765"/>
                <a:chExt cx="4991305" cy="1156792"/>
              </a:xfrm>
            </p:grpSpPr>
            <p:grpSp>
              <p:nvGrpSpPr>
                <p:cNvPr id="75" name="组合 74"/>
                <p:cNvGrpSpPr/>
                <p:nvPr/>
              </p:nvGrpSpPr>
              <p:grpSpPr>
                <a:xfrm>
                  <a:off x="3176212" y="631765"/>
                  <a:ext cx="4146900" cy="1156792"/>
                  <a:chOff x="3843082" y="631173"/>
                  <a:chExt cx="4146900" cy="1156792"/>
                </a:xfrm>
              </p:grpSpPr>
              <p:sp>
                <p:nvSpPr>
                  <p:cNvPr id="5" name="左大括号 4"/>
                  <p:cNvSpPr/>
                  <p:nvPr/>
                </p:nvSpPr>
                <p:spPr>
                  <a:xfrm>
                    <a:off x="5784046" y="794003"/>
                    <a:ext cx="216000" cy="936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7" name="文本框 6"/>
                  <p:cNvSpPr txBox="1"/>
                  <p:nvPr/>
                </p:nvSpPr>
                <p:spPr>
                  <a:xfrm>
                    <a:off x="5958923" y="631173"/>
                    <a:ext cx="2031059" cy="1156792"/>
                  </a:xfrm>
                  <a:prstGeom prst="rect">
                    <a:avLst/>
                  </a:prstGeom>
                  <a:noFill/>
                  <a:ln w="19050">
                    <a:noFill/>
                  </a:ln>
                </p:spPr>
                <p:txBody>
                  <a:bodyPr wrap="square">
                    <a:spAutoFit/>
                  </a:bodyPr>
                  <a:lstStyle/>
                  <a:p>
                    <a:pPr>
                      <a:lnSpc>
                        <a:spcPct val="150000"/>
                      </a:lnSpc>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吞噬作用降低</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中性粒细胞浸润增强</a:t>
                    </a:r>
                    <a:endPar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淋巴细胞功能下降</a:t>
                    </a:r>
                  </a:p>
                </p:txBody>
              </p:sp>
              <p:sp>
                <p:nvSpPr>
                  <p:cNvPr id="73" name="文本框 72"/>
                  <p:cNvSpPr txBox="1"/>
                  <p:nvPr/>
                </p:nvSpPr>
                <p:spPr>
                  <a:xfrm>
                    <a:off x="3843082" y="1083455"/>
                    <a:ext cx="1916097" cy="369332"/>
                  </a:xfrm>
                  <a:prstGeom prst="rect">
                    <a:avLst/>
                  </a:prstGeom>
                  <a:noFill/>
                  <a:ln w="19050">
                    <a:noFill/>
                  </a:ln>
                </p:spPr>
                <p:txBody>
                  <a:bodyPr wrap="square">
                    <a:spAutoFit/>
                  </a:bodyPr>
                  <a:lstStyle/>
                  <a:p>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免疫功能衰退</a:t>
                    </a:r>
                    <a:r>
                      <a:rPr lang="en-US" altLang="zh-CN" baseline="30000" dirty="0">
                        <a:latin typeface="Times New Roman" panose="02020503050405090304" pitchFamily="18" charset="0"/>
                        <a:ea typeface="Microsoft YaHei UI" panose="020B0503020204020204" pitchFamily="34" charset="-122"/>
                        <a:cs typeface="Times New Roman" panose="02020503050405090304" pitchFamily="18" charset="0"/>
                      </a:rPr>
                      <a:t>[1,2,3]</a:t>
                    </a:r>
                    <a:endParaRPr lang="zh-CN" altLang="en-US" baseline="300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77" name="组合 76"/>
                <p:cNvGrpSpPr/>
                <p:nvPr/>
              </p:nvGrpSpPr>
              <p:grpSpPr>
                <a:xfrm>
                  <a:off x="2331807" y="1086285"/>
                  <a:ext cx="880370" cy="369332"/>
                  <a:chOff x="2318586" y="955039"/>
                  <a:chExt cx="880370" cy="369332"/>
                </a:xfrm>
              </p:grpSpPr>
              <p:sp>
                <p:nvSpPr>
                  <p:cNvPr id="3" name="文本框 2"/>
                  <p:cNvSpPr txBox="1"/>
                  <p:nvPr/>
                </p:nvSpPr>
                <p:spPr>
                  <a:xfrm>
                    <a:off x="2318586" y="955039"/>
                    <a:ext cx="727436" cy="369332"/>
                  </a:xfrm>
                  <a:prstGeom prst="rect">
                    <a:avLst/>
                  </a:prstGeom>
                  <a:noFill/>
                  <a:ln w="19050">
                    <a:noFill/>
                  </a:ln>
                </p:spPr>
                <p:txBody>
                  <a:bodyPr wrap="square">
                    <a:spAutoFit/>
                  </a:bodyPr>
                  <a:lstStyle/>
                  <a:p>
                    <a:r>
                      <a:rPr lang="zh-CN" altLang="en-US" dirty="0">
                        <a:solidFill>
                          <a:schemeClr val="tx1">
                            <a:lumMod val="85000"/>
                            <a:lumOff val="15000"/>
                          </a:schemeClr>
                        </a:solidFill>
                        <a:latin typeface="Times New Roman" panose="02020503050405090304" pitchFamily="18" charset="0"/>
                        <a:ea typeface="Microsoft YaHei UI" panose="020B0503020204020204" pitchFamily="34" charset="-122"/>
                        <a:cs typeface="Times New Roman" panose="02020503050405090304" pitchFamily="18" charset="0"/>
                      </a:rPr>
                      <a:t>年龄</a:t>
                    </a:r>
                    <a:endParaRPr lang="en-US" altLang="zh-CN"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76" name="右箭头 75"/>
                  <p:cNvSpPr/>
                  <p:nvPr/>
                </p:nvSpPr>
                <p:spPr>
                  <a:xfrm>
                    <a:off x="2914430" y="1031705"/>
                    <a:ext cx="284526" cy="216000"/>
                  </a:xfrm>
                  <a:prstGeom prst="rightArrow">
                    <a:avLst/>
                  </a:prstGeom>
                  <a:solidFill>
                    <a:srgbClr val="0149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grpSp>
            <p:nvGrpSpPr>
              <p:cNvPr id="33" name="组合 32"/>
              <p:cNvGrpSpPr/>
              <p:nvPr/>
            </p:nvGrpSpPr>
            <p:grpSpPr>
              <a:xfrm>
                <a:off x="2702403" y="3978358"/>
                <a:ext cx="9084964" cy="866051"/>
                <a:chOff x="2702403" y="3978358"/>
                <a:chExt cx="9084964" cy="866051"/>
              </a:xfrm>
            </p:grpSpPr>
            <p:sp>
              <p:nvSpPr>
                <p:cNvPr id="49" name="文本框 48"/>
                <p:cNvSpPr txBox="1"/>
                <p:nvPr/>
              </p:nvSpPr>
              <p:spPr>
                <a:xfrm>
                  <a:off x="2702403" y="4283026"/>
                  <a:ext cx="1446869" cy="396840"/>
                </a:xfrm>
                <a:prstGeom prst="rect">
                  <a:avLst/>
                </a:prstGeom>
                <a:noFill/>
                <a:ln w="19050">
                  <a:noFill/>
                </a:ln>
              </p:spPr>
              <p:txBody>
                <a:bodyPr wrap="square">
                  <a:spAutoFit/>
                </a:bodyPr>
                <a:lstStyle/>
                <a:p>
                  <a:pPr>
                    <a:lnSpc>
                      <a:spcPct val="120000"/>
                    </a:lnSpc>
                    <a:spcAft>
                      <a:spcPts val="600"/>
                    </a:spcAft>
                    <a:defRPr/>
                  </a:pP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空洞情况</a:t>
                  </a:r>
                  <a:r>
                    <a:rPr lang="en-US" altLang="zh-CN" baseline="300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[11]</a:t>
                  </a:r>
                  <a:endParaRPr lang="en-US" altLang="zh-CN"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2" name="左大括号 21"/>
                <p:cNvSpPr/>
                <p:nvPr/>
              </p:nvSpPr>
              <p:spPr>
                <a:xfrm>
                  <a:off x="3995444" y="4149039"/>
                  <a:ext cx="216000" cy="648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3" name="文本框 22"/>
                <p:cNvSpPr txBox="1"/>
                <p:nvPr/>
              </p:nvSpPr>
              <p:spPr>
                <a:xfrm>
                  <a:off x="4187098" y="4064965"/>
                  <a:ext cx="7307050" cy="362984"/>
                </a:xfrm>
                <a:prstGeom prst="rect">
                  <a:avLst/>
                </a:prstGeom>
                <a:noFill/>
                <a:ln w="19050">
                  <a:noFill/>
                </a:ln>
              </p:spPr>
              <p:txBody>
                <a:bodyPr wrap="square">
                  <a:spAutoFit/>
                </a:bodyPr>
                <a:lstStyle/>
                <a:p>
                  <a:pPr>
                    <a:lnSpc>
                      <a:spcPct val="120000"/>
                    </a:lnSpc>
                    <a:spcAft>
                      <a:spcPts val="600"/>
                    </a:spcAft>
                    <a:defRPr/>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空洞壁与周围肺组织炎症状态相似</a:t>
                  </a:r>
                  <a:endPar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4" name="文本框 23"/>
                <p:cNvSpPr txBox="1"/>
                <p:nvPr/>
              </p:nvSpPr>
              <p:spPr>
                <a:xfrm>
                  <a:off x="4175095" y="4481425"/>
                  <a:ext cx="7307050" cy="362984"/>
                </a:xfrm>
                <a:prstGeom prst="rect">
                  <a:avLst/>
                </a:prstGeom>
                <a:noFill/>
                <a:ln w="19050">
                  <a:noFill/>
                </a:ln>
              </p:spPr>
              <p:txBody>
                <a:bodyPr wrap="square">
                  <a:spAutoFit/>
                </a:bodyPr>
                <a:lstStyle/>
                <a:p>
                  <a:pPr>
                    <a:lnSpc>
                      <a:spcPct val="120000"/>
                    </a:lnSpc>
                    <a:spcAft>
                      <a:spcPts val="600"/>
                    </a:spcAft>
                    <a:defRPr/>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肉芽肿液化为空洞前，周围组织炎症水平显著低于病灶</a:t>
                  </a:r>
                  <a:endPar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6" name="右箭头 25"/>
                <p:cNvSpPr/>
                <p:nvPr/>
              </p:nvSpPr>
              <p:spPr>
                <a:xfrm>
                  <a:off x="9347334" y="4293229"/>
                  <a:ext cx="284526" cy="216000"/>
                </a:xfrm>
                <a:prstGeom prst="rightArrow">
                  <a:avLst/>
                </a:prstGeom>
                <a:solidFill>
                  <a:srgbClr val="0149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0" name="文本框 29"/>
                <p:cNvSpPr txBox="1"/>
                <p:nvPr/>
              </p:nvSpPr>
              <p:spPr>
                <a:xfrm>
                  <a:off x="9670159" y="3978358"/>
                  <a:ext cx="2117208" cy="787460"/>
                </a:xfrm>
                <a:prstGeom prst="rect">
                  <a:avLst/>
                </a:prstGeom>
                <a:noFill/>
                <a:ln w="19050">
                  <a:noFill/>
                </a:ln>
              </p:spPr>
              <p:txBody>
                <a:bodyPr wrap="square">
                  <a:spAutoFit/>
                </a:bodyPr>
                <a:lstStyle/>
                <a:p>
                  <a:pPr algn="ctr">
                    <a:lnSpc>
                      <a:spcPct val="150000"/>
                    </a:lnSpc>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炎症和组织破坏扩散至更广泛的肺组织</a:t>
                  </a:r>
                  <a:endParaRPr lang="zh-CN" altLang="en-US" sz="1600" dirty="0"/>
                </a:p>
              </p:txBody>
            </p:sp>
          </p:grpSp>
        </p:grpSp>
      </p:grpSp>
      <p:sp>
        <p:nvSpPr>
          <p:cNvPr id="14" name="右箭头 13"/>
          <p:cNvSpPr/>
          <p:nvPr/>
        </p:nvSpPr>
        <p:spPr>
          <a:xfrm>
            <a:off x="7898048" y="1231533"/>
            <a:ext cx="284526" cy="216000"/>
          </a:xfrm>
          <a:prstGeom prst="rightArrow">
            <a:avLst/>
          </a:prstGeom>
          <a:solidFill>
            <a:srgbClr val="0149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7" name="文本框 16"/>
          <p:cNvSpPr txBox="1"/>
          <p:nvPr/>
        </p:nvSpPr>
        <p:spPr>
          <a:xfrm>
            <a:off x="8225883" y="1165525"/>
            <a:ext cx="3212001" cy="338554"/>
          </a:xfrm>
          <a:prstGeom prst="rect">
            <a:avLst/>
          </a:prstGeom>
          <a:noFill/>
          <a:ln w="19050">
            <a:noFill/>
          </a:ln>
        </p:spPr>
        <p:txBody>
          <a:bodyPr wrap="square">
            <a:spAutoFit/>
          </a:bodyPr>
          <a:lstStyle/>
          <a:p>
            <a:r>
              <a:rPr lang="zh-CN" altLang="en-US" sz="1600" dirty="0">
                <a:latin typeface="Microsoft YaHei UI" panose="020B0503020204020204" pitchFamily="34" charset="-122"/>
                <a:ea typeface="Microsoft YaHei UI" panose="020B0503020204020204" pitchFamily="34" charset="-122"/>
              </a:rPr>
              <a:t>年长者面临更高的不良预后风险</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0"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898105"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3895" y="6098701"/>
            <a:ext cx="1661419" cy="759299"/>
          </a:xfrm>
          <a:prstGeom prst="rect">
            <a:avLst/>
          </a:prstGeom>
        </p:spPr>
      </p:pic>
      <p:sp>
        <p:nvSpPr>
          <p:cNvPr id="58" name="TextBox 57"/>
          <p:cNvSpPr txBox="1"/>
          <p:nvPr/>
        </p:nvSpPr>
        <p:spPr>
          <a:xfrm>
            <a:off x="1188700" y="3873649"/>
            <a:ext cx="612502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01</a:t>
            </a:r>
            <a:endParaRPr kumimoji="0" lang="zh-CN" altLang="en-US" sz="4800" b="1" i="0" u="none" strike="noStrike" kern="120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pic>
        <p:nvPicPr>
          <p:cNvPr id="59"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10653" b="40175"/>
          <a:stretch>
            <a:fillRect/>
          </a:stretch>
        </p:blipFill>
        <p:spPr bwMode="auto">
          <a:xfrm>
            <a:off x="-15529" y="1639152"/>
            <a:ext cx="12207529" cy="3373395"/>
          </a:xfrm>
          <a:prstGeom prst="rect">
            <a:avLst/>
          </a:prstGeom>
          <a:noFill/>
          <a:extLst>
            <a:ext uri="{909E8E84-426E-40DD-AFC4-6F175D3DCCD1}">
              <a14:hiddenFill xmlns:a14="http://schemas.microsoft.com/office/drawing/2010/main">
                <a:solidFill>
                  <a:srgbClr val="FFFFFF"/>
                </a:solidFill>
              </a14:hiddenFill>
            </a:ext>
          </a:extLst>
        </p:spPr>
      </p:pic>
      <p:sp>
        <p:nvSpPr>
          <p:cNvPr id="60" name="矩形 7"/>
          <p:cNvSpPr/>
          <p:nvPr/>
        </p:nvSpPr>
        <p:spPr>
          <a:xfrm flipH="1">
            <a:off x="-14289" y="1639152"/>
            <a:ext cx="12207529" cy="3373395"/>
          </a:xfrm>
          <a:prstGeom prst="rect">
            <a:avLst/>
          </a:prstGeom>
          <a:gradFill>
            <a:gsLst>
              <a:gs pos="0">
                <a:srgbClr val="014723"/>
              </a:gs>
              <a:gs pos="100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054" name="Group 2053"/>
          <p:cNvGrpSpPr>
            <a:grpSpLocks noChangeAspect="1"/>
          </p:cNvGrpSpPr>
          <p:nvPr/>
        </p:nvGrpSpPr>
        <p:grpSpPr>
          <a:xfrm>
            <a:off x="275244" y="1726719"/>
            <a:ext cx="3198260" cy="3198260"/>
            <a:chOff x="3193843" y="537003"/>
            <a:chExt cx="5783995" cy="5783995"/>
          </a:xfrm>
        </p:grpSpPr>
        <p:grpSp>
          <p:nvGrpSpPr>
            <p:cNvPr id="62" name="组合 4"/>
            <p:cNvGrpSpPr/>
            <p:nvPr/>
          </p:nvGrpSpPr>
          <p:grpSpPr>
            <a:xfrm>
              <a:off x="3193843" y="537003"/>
              <a:ext cx="5783995" cy="5783995"/>
              <a:chOff x="4547908" y="1880907"/>
              <a:chExt cx="3096184" cy="3096184"/>
            </a:xfrm>
            <a:solidFill>
              <a:schemeClr val="accent1"/>
            </a:solidFill>
          </p:grpSpPr>
          <p:sp>
            <p:nvSpPr>
              <p:cNvPr id="63" name="Freeform 8"/>
              <p:cNvSpPr/>
              <p:nvPr/>
            </p:nvSpPr>
            <p:spPr bwMode="auto">
              <a:xfrm rot="20822727">
                <a:off x="4711700" y="2044699"/>
                <a:ext cx="2768600" cy="2768600"/>
              </a:xfrm>
              <a:custGeom>
                <a:avLst/>
                <a:gdLst>
                  <a:gd name="T0" fmla="*/ 18 w 1811"/>
                  <a:gd name="T1" fmla="*/ 1151 h 1812"/>
                  <a:gd name="T2" fmla="*/ 9 w 1811"/>
                  <a:gd name="T3" fmla="*/ 975 h 1812"/>
                  <a:gd name="T4" fmla="*/ 44 w 1811"/>
                  <a:gd name="T5" fmla="*/ 838 h 1812"/>
                  <a:gd name="T6" fmla="*/ 146 w 1811"/>
                  <a:gd name="T7" fmla="*/ 456 h 1812"/>
                  <a:gd name="T8" fmla="*/ 205 w 1811"/>
                  <a:gd name="T9" fmla="*/ 309 h 1812"/>
                  <a:gd name="T10" fmla="*/ 417 w 1811"/>
                  <a:gd name="T11" fmla="*/ 155 h 1812"/>
                  <a:gd name="T12" fmla="*/ 897 w 1811"/>
                  <a:gd name="T13" fmla="*/ 26 h 1812"/>
                  <a:gd name="T14" fmla="*/ 959 w 1811"/>
                  <a:gd name="T15" fmla="*/ 11 h 1812"/>
                  <a:gd name="T16" fmla="*/ 1101 w 1811"/>
                  <a:gd name="T17" fmla="*/ 0 h 1812"/>
                  <a:gd name="T18" fmla="*/ 1299 w 1811"/>
                  <a:gd name="T19" fmla="*/ 90 h 1812"/>
                  <a:gd name="T20" fmla="*/ 1303 w 1811"/>
                  <a:gd name="T21" fmla="*/ 98 h 1812"/>
                  <a:gd name="T22" fmla="*/ 1407 w 1811"/>
                  <a:gd name="T23" fmla="*/ 203 h 1812"/>
                  <a:gd name="T24" fmla="*/ 1609 w 1811"/>
                  <a:gd name="T25" fmla="*/ 404 h 1812"/>
                  <a:gd name="T26" fmla="*/ 1692 w 1811"/>
                  <a:gd name="T27" fmla="*/ 486 h 1812"/>
                  <a:gd name="T28" fmla="*/ 1721 w 1811"/>
                  <a:gd name="T29" fmla="*/ 513 h 1812"/>
                  <a:gd name="T30" fmla="*/ 1798 w 1811"/>
                  <a:gd name="T31" fmla="*/ 648 h 1812"/>
                  <a:gd name="T32" fmla="*/ 1802 w 1811"/>
                  <a:gd name="T33" fmla="*/ 667 h 1812"/>
                  <a:gd name="T34" fmla="*/ 1810 w 1811"/>
                  <a:gd name="T35" fmla="*/ 762 h 1812"/>
                  <a:gd name="T36" fmla="*/ 1807 w 1811"/>
                  <a:gd name="T37" fmla="*/ 839 h 1812"/>
                  <a:gd name="T38" fmla="*/ 1770 w 1811"/>
                  <a:gd name="T39" fmla="*/ 980 h 1812"/>
                  <a:gd name="T40" fmla="*/ 1706 w 1811"/>
                  <a:gd name="T41" fmla="*/ 1215 h 1812"/>
                  <a:gd name="T42" fmla="*/ 1703 w 1811"/>
                  <a:gd name="T43" fmla="*/ 1222 h 1812"/>
                  <a:gd name="T44" fmla="*/ 1675 w 1811"/>
                  <a:gd name="T45" fmla="*/ 1335 h 1812"/>
                  <a:gd name="T46" fmla="*/ 1539 w 1811"/>
                  <a:gd name="T47" fmla="*/ 1580 h 1812"/>
                  <a:gd name="T48" fmla="*/ 1380 w 1811"/>
                  <a:gd name="T49" fmla="*/ 1660 h 1812"/>
                  <a:gd name="T50" fmla="*/ 1273 w 1811"/>
                  <a:gd name="T51" fmla="*/ 1686 h 1812"/>
                  <a:gd name="T52" fmla="*/ 1271 w 1811"/>
                  <a:gd name="T53" fmla="*/ 1690 h 1812"/>
                  <a:gd name="T54" fmla="*/ 1090 w 1811"/>
                  <a:gd name="T55" fmla="*/ 1736 h 1812"/>
                  <a:gd name="T56" fmla="*/ 856 w 1811"/>
                  <a:gd name="T57" fmla="*/ 1800 h 1812"/>
                  <a:gd name="T58" fmla="*/ 840 w 1811"/>
                  <a:gd name="T59" fmla="*/ 1801 h 1812"/>
                  <a:gd name="T60" fmla="*/ 675 w 1811"/>
                  <a:gd name="T61" fmla="*/ 1798 h 1812"/>
                  <a:gd name="T62" fmla="*/ 575 w 1811"/>
                  <a:gd name="T63" fmla="*/ 1757 h 1812"/>
                  <a:gd name="T64" fmla="*/ 415 w 1811"/>
                  <a:gd name="T65" fmla="*/ 1618 h 1812"/>
                  <a:gd name="T66" fmla="*/ 406 w 1811"/>
                  <a:gd name="T67" fmla="*/ 1603 h 1812"/>
                  <a:gd name="T68" fmla="*/ 212 w 1811"/>
                  <a:gd name="T69" fmla="*/ 1409 h 1812"/>
                  <a:gd name="T70" fmla="*/ 197 w 1811"/>
                  <a:gd name="T71" fmla="*/ 1400 h 1812"/>
                  <a:gd name="T72" fmla="*/ 81 w 1811"/>
                  <a:gd name="T73" fmla="*/ 1277 h 1812"/>
                  <a:gd name="T74" fmla="*/ 18 w 1811"/>
                  <a:gd name="T75" fmla="*/ 1151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1" h="1812">
                    <a:moveTo>
                      <a:pt x="18" y="1151"/>
                    </a:moveTo>
                    <a:cubicBezTo>
                      <a:pt x="0" y="1093"/>
                      <a:pt x="1" y="1034"/>
                      <a:pt x="9" y="975"/>
                    </a:cubicBezTo>
                    <a:cubicBezTo>
                      <a:pt x="21" y="930"/>
                      <a:pt x="32" y="884"/>
                      <a:pt x="44" y="838"/>
                    </a:cubicBezTo>
                    <a:cubicBezTo>
                      <a:pt x="78" y="711"/>
                      <a:pt x="112" y="584"/>
                      <a:pt x="146" y="456"/>
                    </a:cubicBezTo>
                    <a:cubicBezTo>
                      <a:pt x="160" y="404"/>
                      <a:pt x="176" y="354"/>
                      <a:pt x="205" y="309"/>
                    </a:cubicBezTo>
                    <a:cubicBezTo>
                      <a:pt x="257" y="231"/>
                      <a:pt x="328" y="179"/>
                      <a:pt x="417" y="155"/>
                    </a:cubicBezTo>
                    <a:cubicBezTo>
                      <a:pt x="576" y="110"/>
                      <a:pt x="737" y="69"/>
                      <a:pt x="897" y="26"/>
                    </a:cubicBezTo>
                    <a:cubicBezTo>
                      <a:pt x="917" y="21"/>
                      <a:pt x="938" y="16"/>
                      <a:pt x="959" y="11"/>
                    </a:cubicBezTo>
                    <a:cubicBezTo>
                      <a:pt x="1006" y="7"/>
                      <a:pt x="1054" y="4"/>
                      <a:pt x="1101" y="0"/>
                    </a:cubicBezTo>
                    <a:cubicBezTo>
                      <a:pt x="1176" y="10"/>
                      <a:pt x="1240" y="44"/>
                      <a:pt x="1299" y="90"/>
                    </a:cubicBezTo>
                    <a:cubicBezTo>
                      <a:pt x="1300" y="93"/>
                      <a:pt x="1301" y="96"/>
                      <a:pt x="1303" y="98"/>
                    </a:cubicBezTo>
                    <a:cubicBezTo>
                      <a:pt x="1338" y="133"/>
                      <a:pt x="1372" y="168"/>
                      <a:pt x="1407" y="203"/>
                    </a:cubicBezTo>
                    <a:cubicBezTo>
                      <a:pt x="1474" y="270"/>
                      <a:pt x="1541" y="337"/>
                      <a:pt x="1609" y="404"/>
                    </a:cubicBezTo>
                    <a:cubicBezTo>
                      <a:pt x="1636" y="431"/>
                      <a:pt x="1664" y="459"/>
                      <a:pt x="1692" y="486"/>
                    </a:cubicBezTo>
                    <a:cubicBezTo>
                      <a:pt x="1702" y="495"/>
                      <a:pt x="1711" y="504"/>
                      <a:pt x="1721" y="513"/>
                    </a:cubicBezTo>
                    <a:cubicBezTo>
                      <a:pt x="1753" y="554"/>
                      <a:pt x="1783" y="597"/>
                      <a:pt x="1798" y="648"/>
                    </a:cubicBezTo>
                    <a:cubicBezTo>
                      <a:pt x="1800" y="654"/>
                      <a:pt x="1801" y="661"/>
                      <a:pt x="1802" y="667"/>
                    </a:cubicBezTo>
                    <a:cubicBezTo>
                      <a:pt x="1805" y="699"/>
                      <a:pt x="1809" y="730"/>
                      <a:pt x="1810" y="762"/>
                    </a:cubicBezTo>
                    <a:cubicBezTo>
                      <a:pt x="1811" y="787"/>
                      <a:pt x="1808" y="813"/>
                      <a:pt x="1807" y="839"/>
                    </a:cubicBezTo>
                    <a:cubicBezTo>
                      <a:pt x="1794" y="886"/>
                      <a:pt x="1782" y="933"/>
                      <a:pt x="1770" y="980"/>
                    </a:cubicBezTo>
                    <a:cubicBezTo>
                      <a:pt x="1749" y="1058"/>
                      <a:pt x="1727" y="1136"/>
                      <a:pt x="1706" y="1215"/>
                    </a:cubicBezTo>
                    <a:cubicBezTo>
                      <a:pt x="1705" y="1217"/>
                      <a:pt x="1704" y="1220"/>
                      <a:pt x="1703" y="1222"/>
                    </a:cubicBezTo>
                    <a:cubicBezTo>
                      <a:pt x="1693" y="1259"/>
                      <a:pt x="1684" y="1297"/>
                      <a:pt x="1675" y="1335"/>
                    </a:cubicBezTo>
                    <a:cubicBezTo>
                      <a:pt x="1655" y="1430"/>
                      <a:pt x="1615" y="1515"/>
                      <a:pt x="1539" y="1580"/>
                    </a:cubicBezTo>
                    <a:cubicBezTo>
                      <a:pt x="1492" y="1619"/>
                      <a:pt x="1438" y="1644"/>
                      <a:pt x="1380" y="1660"/>
                    </a:cubicBezTo>
                    <a:cubicBezTo>
                      <a:pt x="1344" y="1668"/>
                      <a:pt x="1309" y="1677"/>
                      <a:pt x="1273" y="1686"/>
                    </a:cubicBezTo>
                    <a:cubicBezTo>
                      <a:pt x="1272" y="1686"/>
                      <a:pt x="1271" y="1689"/>
                      <a:pt x="1271" y="1690"/>
                    </a:cubicBezTo>
                    <a:cubicBezTo>
                      <a:pt x="1210" y="1705"/>
                      <a:pt x="1150" y="1720"/>
                      <a:pt x="1090" y="1736"/>
                    </a:cubicBezTo>
                    <a:cubicBezTo>
                      <a:pt x="1012" y="1757"/>
                      <a:pt x="934" y="1778"/>
                      <a:pt x="856" y="1800"/>
                    </a:cubicBezTo>
                    <a:cubicBezTo>
                      <a:pt x="851" y="1800"/>
                      <a:pt x="845" y="1799"/>
                      <a:pt x="840" y="1801"/>
                    </a:cubicBezTo>
                    <a:cubicBezTo>
                      <a:pt x="785" y="1812"/>
                      <a:pt x="730" y="1810"/>
                      <a:pt x="675" y="1798"/>
                    </a:cubicBezTo>
                    <a:cubicBezTo>
                      <a:pt x="641" y="1785"/>
                      <a:pt x="606" y="1774"/>
                      <a:pt x="575" y="1757"/>
                    </a:cubicBezTo>
                    <a:cubicBezTo>
                      <a:pt x="511" y="1723"/>
                      <a:pt x="466" y="1667"/>
                      <a:pt x="415" y="1618"/>
                    </a:cubicBezTo>
                    <a:cubicBezTo>
                      <a:pt x="412" y="1613"/>
                      <a:pt x="410" y="1607"/>
                      <a:pt x="406" y="1603"/>
                    </a:cubicBezTo>
                    <a:cubicBezTo>
                      <a:pt x="342" y="1538"/>
                      <a:pt x="277" y="1473"/>
                      <a:pt x="212" y="1409"/>
                    </a:cubicBezTo>
                    <a:cubicBezTo>
                      <a:pt x="208" y="1405"/>
                      <a:pt x="202" y="1403"/>
                      <a:pt x="197" y="1400"/>
                    </a:cubicBezTo>
                    <a:cubicBezTo>
                      <a:pt x="158" y="1359"/>
                      <a:pt x="118" y="1320"/>
                      <a:pt x="81" y="1277"/>
                    </a:cubicBezTo>
                    <a:cubicBezTo>
                      <a:pt x="50" y="1241"/>
                      <a:pt x="29" y="1198"/>
                      <a:pt x="18" y="1151"/>
                    </a:cubicBezTo>
                    <a:close/>
                  </a:path>
                </a:pathLst>
              </a:custGeom>
              <a:solidFill>
                <a:schemeClr val="bg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sp>
            <p:nvSpPr>
              <p:cNvPr id="2048" name="Freeform 8"/>
              <p:cNvSpPr/>
              <p:nvPr/>
            </p:nvSpPr>
            <p:spPr bwMode="auto">
              <a:xfrm rot="20822727">
                <a:off x="4547908" y="1880907"/>
                <a:ext cx="3096184" cy="3096184"/>
              </a:xfrm>
              <a:custGeom>
                <a:avLst/>
                <a:gdLst>
                  <a:gd name="T0" fmla="*/ 18 w 1811"/>
                  <a:gd name="T1" fmla="*/ 1151 h 1812"/>
                  <a:gd name="T2" fmla="*/ 9 w 1811"/>
                  <a:gd name="T3" fmla="*/ 975 h 1812"/>
                  <a:gd name="T4" fmla="*/ 44 w 1811"/>
                  <a:gd name="T5" fmla="*/ 838 h 1812"/>
                  <a:gd name="T6" fmla="*/ 146 w 1811"/>
                  <a:gd name="T7" fmla="*/ 456 h 1812"/>
                  <a:gd name="T8" fmla="*/ 205 w 1811"/>
                  <a:gd name="T9" fmla="*/ 309 h 1812"/>
                  <a:gd name="T10" fmla="*/ 417 w 1811"/>
                  <a:gd name="T11" fmla="*/ 155 h 1812"/>
                  <a:gd name="T12" fmla="*/ 897 w 1811"/>
                  <a:gd name="T13" fmla="*/ 26 h 1812"/>
                  <a:gd name="T14" fmla="*/ 959 w 1811"/>
                  <a:gd name="T15" fmla="*/ 11 h 1812"/>
                  <a:gd name="T16" fmla="*/ 1101 w 1811"/>
                  <a:gd name="T17" fmla="*/ 0 h 1812"/>
                  <a:gd name="T18" fmla="*/ 1299 w 1811"/>
                  <a:gd name="T19" fmla="*/ 90 h 1812"/>
                  <a:gd name="T20" fmla="*/ 1303 w 1811"/>
                  <a:gd name="T21" fmla="*/ 98 h 1812"/>
                  <a:gd name="T22" fmla="*/ 1407 w 1811"/>
                  <a:gd name="T23" fmla="*/ 203 h 1812"/>
                  <a:gd name="T24" fmla="*/ 1609 w 1811"/>
                  <a:gd name="T25" fmla="*/ 404 h 1812"/>
                  <a:gd name="T26" fmla="*/ 1692 w 1811"/>
                  <a:gd name="T27" fmla="*/ 486 h 1812"/>
                  <a:gd name="T28" fmla="*/ 1721 w 1811"/>
                  <a:gd name="T29" fmla="*/ 513 h 1812"/>
                  <a:gd name="T30" fmla="*/ 1798 w 1811"/>
                  <a:gd name="T31" fmla="*/ 648 h 1812"/>
                  <a:gd name="T32" fmla="*/ 1802 w 1811"/>
                  <a:gd name="T33" fmla="*/ 667 h 1812"/>
                  <a:gd name="T34" fmla="*/ 1810 w 1811"/>
                  <a:gd name="T35" fmla="*/ 762 h 1812"/>
                  <a:gd name="T36" fmla="*/ 1807 w 1811"/>
                  <a:gd name="T37" fmla="*/ 839 h 1812"/>
                  <a:gd name="T38" fmla="*/ 1770 w 1811"/>
                  <a:gd name="T39" fmla="*/ 980 h 1812"/>
                  <a:gd name="T40" fmla="*/ 1706 w 1811"/>
                  <a:gd name="T41" fmla="*/ 1215 h 1812"/>
                  <a:gd name="T42" fmla="*/ 1703 w 1811"/>
                  <a:gd name="T43" fmla="*/ 1222 h 1812"/>
                  <a:gd name="T44" fmla="*/ 1675 w 1811"/>
                  <a:gd name="T45" fmla="*/ 1335 h 1812"/>
                  <a:gd name="T46" fmla="*/ 1539 w 1811"/>
                  <a:gd name="T47" fmla="*/ 1580 h 1812"/>
                  <a:gd name="T48" fmla="*/ 1380 w 1811"/>
                  <a:gd name="T49" fmla="*/ 1660 h 1812"/>
                  <a:gd name="T50" fmla="*/ 1273 w 1811"/>
                  <a:gd name="T51" fmla="*/ 1686 h 1812"/>
                  <a:gd name="T52" fmla="*/ 1271 w 1811"/>
                  <a:gd name="T53" fmla="*/ 1690 h 1812"/>
                  <a:gd name="T54" fmla="*/ 1090 w 1811"/>
                  <a:gd name="T55" fmla="*/ 1736 h 1812"/>
                  <a:gd name="T56" fmla="*/ 856 w 1811"/>
                  <a:gd name="T57" fmla="*/ 1800 h 1812"/>
                  <a:gd name="T58" fmla="*/ 840 w 1811"/>
                  <a:gd name="T59" fmla="*/ 1801 h 1812"/>
                  <a:gd name="T60" fmla="*/ 675 w 1811"/>
                  <a:gd name="T61" fmla="*/ 1798 h 1812"/>
                  <a:gd name="T62" fmla="*/ 575 w 1811"/>
                  <a:gd name="T63" fmla="*/ 1757 h 1812"/>
                  <a:gd name="T64" fmla="*/ 415 w 1811"/>
                  <a:gd name="T65" fmla="*/ 1618 h 1812"/>
                  <a:gd name="T66" fmla="*/ 406 w 1811"/>
                  <a:gd name="T67" fmla="*/ 1603 h 1812"/>
                  <a:gd name="T68" fmla="*/ 212 w 1811"/>
                  <a:gd name="T69" fmla="*/ 1409 h 1812"/>
                  <a:gd name="T70" fmla="*/ 197 w 1811"/>
                  <a:gd name="T71" fmla="*/ 1400 h 1812"/>
                  <a:gd name="T72" fmla="*/ 81 w 1811"/>
                  <a:gd name="T73" fmla="*/ 1277 h 1812"/>
                  <a:gd name="T74" fmla="*/ 18 w 1811"/>
                  <a:gd name="T75" fmla="*/ 1151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1" h="1812">
                    <a:moveTo>
                      <a:pt x="18" y="1151"/>
                    </a:moveTo>
                    <a:cubicBezTo>
                      <a:pt x="0" y="1093"/>
                      <a:pt x="1" y="1034"/>
                      <a:pt x="9" y="975"/>
                    </a:cubicBezTo>
                    <a:cubicBezTo>
                      <a:pt x="21" y="930"/>
                      <a:pt x="32" y="884"/>
                      <a:pt x="44" y="838"/>
                    </a:cubicBezTo>
                    <a:cubicBezTo>
                      <a:pt x="78" y="711"/>
                      <a:pt x="112" y="584"/>
                      <a:pt x="146" y="456"/>
                    </a:cubicBezTo>
                    <a:cubicBezTo>
                      <a:pt x="160" y="404"/>
                      <a:pt x="176" y="354"/>
                      <a:pt x="205" y="309"/>
                    </a:cubicBezTo>
                    <a:cubicBezTo>
                      <a:pt x="257" y="231"/>
                      <a:pt x="328" y="179"/>
                      <a:pt x="417" y="155"/>
                    </a:cubicBezTo>
                    <a:cubicBezTo>
                      <a:pt x="576" y="110"/>
                      <a:pt x="737" y="69"/>
                      <a:pt x="897" y="26"/>
                    </a:cubicBezTo>
                    <a:cubicBezTo>
                      <a:pt x="917" y="21"/>
                      <a:pt x="938" y="16"/>
                      <a:pt x="959" y="11"/>
                    </a:cubicBezTo>
                    <a:cubicBezTo>
                      <a:pt x="1006" y="7"/>
                      <a:pt x="1054" y="4"/>
                      <a:pt x="1101" y="0"/>
                    </a:cubicBezTo>
                    <a:cubicBezTo>
                      <a:pt x="1176" y="10"/>
                      <a:pt x="1240" y="44"/>
                      <a:pt x="1299" y="90"/>
                    </a:cubicBezTo>
                    <a:cubicBezTo>
                      <a:pt x="1300" y="93"/>
                      <a:pt x="1301" y="96"/>
                      <a:pt x="1303" y="98"/>
                    </a:cubicBezTo>
                    <a:cubicBezTo>
                      <a:pt x="1338" y="133"/>
                      <a:pt x="1372" y="168"/>
                      <a:pt x="1407" y="203"/>
                    </a:cubicBezTo>
                    <a:cubicBezTo>
                      <a:pt x="1474" y="270"/>
                      <a:pt x="1541" y="337"/>
                      <a:pt x="1609" y="404"/>
                    </a:cubicBezTo>
                    <a:cubicBezTo>
                      <a:pt x="1636" y="431"/>
                      <a:pt x="1664" y="459"/>
                      <a:pt x="1692" y="486"/>
                    </a:cubicBezTo>
                    <a:cubicBezTo>
                      <a:pt x="1702" y="495"/>
                      <a:pt x="1711" y="504"/>
                      <a:pt x="1721" y="513"/>
                    </a:cubicBezTo>
                    <a:cubicBezTo>
                      <a:pt x="1753" y="554"/>
                      <a:pt x="1783" y="597"/>
                      <a:pt x="1798" y="648"/>
                    </a:cubicBezTo>
                    <a:cubicBezTo>
                      <a:pt x="1800" y="654"/>
                      <a:pt x="1801" y="661"/>
                      <a:pt x="1802" y="667"/>
                    </a:cubicBezTo>
                    <a:cubicBezTo>
                      <a:pt x="1805" y="699"/>
                      <a:pt x="1809" y="730"/>
                      <a:pt x="1810" y="762"/>
                    </a:cubicBezTo>
                    <a:cubicBezTo>
                      <a:pt x="1811" y="787"/>
                      <a:pt x="1808" y="813"/>
                      <a:pt x="1807" y="839"/>
                    </a:cubicBezTo>
                    <a:cubicBezTo>
                      <a:pt x="1794" y="886"/>
                      <a:pt x="1782" y="933"/>
                      <a:pt x="1770" y="980"/>
                    </a:cubicBezTo>
                    <a:cubicBezTo>
                      <a:pt x="1749" y="1058"/>
                      <a:pt x="1727" y="1136"/>
                      <a:pt x="1706" y="1215"/>
                    </a:cubicBezTo>
                    <a:cubicBezTo>
                      <a:pt x="1705" y="1217"/>
                      <a:pt x="1704" y="1220"/>
                      <a:pt x="1703" y="1222"/>
                    </a:cubicBezTo>
                    <a:cubicBezTo>
                      <a:pt x="1693" y="1259"/>
                      <a:pt x="1684" y="1297"/>
                      <a:pt x="1675" y="1335"/>
                    </a:cubicBezTo>
                    <a:cubicBezTo>
                      <a:pt x="1655" y="1430"/>
                      <a:pt x="1615" y="1515"/>
                      <a:pt x="1539" y="1580"/>
                    </a:cubicBezTo>
                    <a:cubicBezTo>
                      <a:pt x="1492" y="1619"/>
                      <a:pt x="1438" y="1644"/>
                      <a:pt x="1380" y="1660"/>
                    </a:cubicBezTo>
                    <a:cubicBezTo>
                      <a:pt x="1344" y="1668"/>
                      <a:pt x="1309" y="1677"/>
                      <a:pt x="1273" y="1686"/>
                    </a:cubicBezTo>
                    <a:cubicBezTo>
                      <a:pt x="1272" y="1686"/>
                      <a:pt x="1271" y="1689"/>
                      <a:pt x="1271" y="1690"/>
                    </a:cubicBezTo>
                    <a:cubicBezTo>
                      <a:pt x="1210" y="1705"/>
                      <a:pt x="1150" y="1720"/>
                      <a:pt x="1090" y="1736"/>
                    </a:cubicBezTo>
                    <a:cubicBezTo>
                      <a:pt x="1012" y="1757"/>
                      <a:pt x="934" y="1778"/>
                      <a:pt x="856" y="1800"/>
                    </a:cubicBezTo>
                    <a:cubicBezTo>
                      <a:pt x="851" y="1800"/>
                      <a:pt x="845" y="1799"/>
                      <a:pt x="840" y="1801"/>
                    </a:cubicBezTo>
                    <a:cubicBezTo>
                      <a:pt x="785" y="1812"/>
                      <a:pt x="730" y="1810"/>
                      <a:pt x="675" y="1798"/>
                    </a:cubicBezTo>
                    <a:cubicBezTo>
                      <a:pt x="641" y="1785"/>
                      <a:pt x="606" y="1774"/>
                      <a:pt x="575" y="1757"/>
                    </a:cubicBezTo>
                    <a:cubicBezTo>
                      <a:pt x="511" y="1723"/>
                      <a:pt x="466" y="1667"/>
                      <a:pt x="415" y="1618"/>
                    </a:cubicBezTo>
                    <a:cubicBezTo>
                      <a:pt x="412" y="1613"/>
                      <a:pt x="410" y="1607"/>
                      <a:pt x="406" y="1603"/>
                    </a:cubicBezTo>
                    <a:cubicBezTo>
                      <a:pt x="342" y="1538"/>
                      <a:pt x="277" y="1473"/>
                      <a:pt x="212" y="1409"/>
                    </a:cubicBezTo>
                    <a:cubicBezTo>
                      <a:pt x="208" y="1405"/>
                      <a:pt x="202" y="1403"/>
                      <a:pt x="197" y="1400"/>
                    </a:cubicBezTo>
                    <a:cubicBezTo>
                      <a:pt x="158" y="1359"/>
                      <a:pt x="118" y="1320"/>
                      <a:pt x="81" y="1277"/>
                    </a:cubicBezTo>
                    <a:cubicBezTo>
                      <a:pt x="50" y="1241"/>
                      <a:pt x="29" y="1198"/>
                      <a:pt x="18" y="1151"/>
                    </a:cubicBezTo>
                    <a:close/>
                  </a:path>
                </a:pathLst>
              </a:custGeom>
              <a:noFill/>
              <a:ln>
                <a:solidFill>
                  <a:schemeClr val="bg1"/>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grpSp>
        <p:sp>
          <p:nvSpPr>
            <p:cNvPr id="2051" name="文本框 9"/>
            <p:cNvSpPr txBox="1"/>
            <p:nvPr/>
          </p:nvSpPr>
          <p:spPr>
            <a:xfrm>
              <a:off x="4253127" y="1843986"/>
              <a:ext cx="3561080" cy="2838702"/>
            </a:xfrm>
            <a:prstGeom prst="rect">
              <a:avLst/>
            </a:prstGeom>
            <a:noFill/>
            <a:effectLst>
              <a:outerShdw dist="63500" dir="2700000" algn="tl" rotWithShape="0">
                <a:schemeClr val="bg1">
                  <a:alpha val="40000"/>
                </a:schemeClr>
              </a:outerShdw>
            </a:effectLst>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600" b="1" i="0" u="none" strike="noStrike" cap="none" spc="0" normalizeH="0" baseline="0">
                  <a:ln>
                    <a:noFill/>
                  </a:ln>
                  <a:solidFill>
                    <a:schemeClr val="accent1"/>
                  </a:solidFill>
                  <a:effectLst>
                    <a:outerShdw dist="76200" dir="2700000" algn="tl" rotWithShape="0">
                      <a:prstClr val="white">
                        <a:alpha val="40000"/>
                      </a:prstClr>
                    </a:outerShdw>
                  </a:effectLst>
                  <a:uLnTx/>
                  <a:uFillTx/>
                  <a:latin typeface="Arial" panose="020B0604020202090204"/>
                  <a:ea typeface="微软雅黑"/>
                  <a:cs typeface="汉仪雅酷黑 65W" panose="020B0604020202020204" charset="-122"/>
                </a:defRPr>
              </a:lvl1pPr>
            </a:lstStyle>
            <a:p>
              <a:r>
                <a:rPr lang="en-US" altLang="zh-CN" sz="960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sym typeface="+mn-lt"/>
                </a:rPr>
                <a:t>03</a:t>
              </a:r>
            </a:p>
          </p:txBody>
        </p:sp>
      </p:grpSp>
      <p:sp>
        <p:nvSpPr>
          <p:cNvPr id="3" name="文本框 14"/>
          <p:cNvSpPr txBox="1"/>
          <p:nvPr/>
        </p:nvSpPr>
        <p:spPr>
          <a:xfrm>
            <a:off x="3615496" y="2233242"/>
            <a:ext cx="7984945" cy="2185214"/>
          </a:xfrm>
          <a:prstGeom prst="rect">
            <a:avLst/>
          </a:prstGeom>
          <a:noFill/>
        </p:spPr>
        <p:txBody>
          <a:bodyPr wrap="square" rtlCol="0">
            <a:spAutoFit/>
          </a:bodyPr>
          <a:lstStyle/>
          <a:p>
            <a:r>
              <a:rPr lang="zh-CN" altLang="en-US" sz="40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endParaRPr lang="en-US" altLang="zh-CN" sz="40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r>
              <a:rPr lang="zh-CN" altLang="en-US" sz="48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肺结核患者血液炎症指标相</a:t>
            </a:r>
            <a:endParaRPr lang="en-US" altLang="zh-CN" sz="48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endParaRPr>
          </a:p>
          <a:p>
            <a:r>
              <a:rPr lang="zh-CN" altLang="en-US" sz="48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关的机器学习预后模型研究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23</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4" name="组合 3"/>
          <p:cNvGrpSpPr/>
          <p:nvPr/>
        </p:nvGrpSpPr>
        <p:grpSpPr>
          <a:xfrm>
            <a:off x="-80276" y="-309462"/>
            <a:ext cx="12272277" cy="991435"/>
            <a:chOff x="-80276" y="-309462"/>
            <a:chExt cx="12272277" cy="991435"/>
          </a:xfrm>
        </p:grpSpPr>
        <p:sp>
          <p:nvSpPr>
            <p:cNvPr id="5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6" name="组合 65"/>
            <p:cNvGrpSpPr/>
            <p:nvPr/>
          </p:nvGrpSpPr>
          <p:grpSpPr>
            <a:xfrm>
              <a:off x="6743677" y="-30118"/>
              <a:ext cx="2576999" cy="581449"/>
              <a:chOff x="4826291" y="-31583"/>
              <a:chExt cx="2576999" cy="581449"/>
            </a:xfrm>
          </p:grpSpPr>
          <p:sp>
            <p:nvSpPr>
              <p:cNvPr id="60"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1"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研究方法</a:t>
                </a:r>
              </a:p>
            </p:txBody>
          </p:sp>
        </p:grpSp>
        <p:sp>
          <p:nvSpPr>
            <p:cNvPr id="62"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63"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64"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65"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grpSp>
        <p:nvGrpSpPr>
          <p:cNvPr id="19" name="组合 18"/>
          <p:cNvGrpSpPr/>
          <p:nvPr/>
        </p:nvGrpSpPr>
        <p:grpSpPr>
          <a:xfrm>
            <a:off x="5611521" y="716859"/>
            <a:ext cx="4531966" cy="396000"/>
            <a:chOff x="5554542" y="686034"/>
            <a:chExt cx="4531966" cy="396000"/>
          </a:xfrm>
        </p:grpSpPr>
        <p:sp>
          <p:nvSpPr>
            <p:cNvPr id="12" name="TextBox 76"/>
            <p:cNvSpPr txBox="1"/>
            <p:nvPr/>
          </p:nvSpPr>
          <p:spPr>
            <a:xfrm>
              <a:off x="5967471" y="712706"/>
              <a:ext cx="4119037" cy="369328"/>
            </a:xfrm>
            <a:prstGeom prst="rect">
              <a:avLst/>
            </a:prstGeom>
            <a:noFill/>
          </p:spPr>
          <p:txBody>
            <a:bodyPr wrap="squar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1800" b="1" i="0" u="none" strike="noStrike" kern="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研究对象与数据收集：同第二章</a:t>
              </a:r>
            </a:p>
          </p:txBody>
        </p:sp>
        <p:sp>
          <p:nvSpPr>
            <p:cNvPr id="14" name="Freeform 87"/>
            <p:cNvSpPr>
              <a:spLocks noChangeAspect="1" noEditPoints="1"/>
            </p:cNvSpPr>
            <p:nvPr/>
          </p:nvSpPr>
          <p:spPr bwMode="auto">
            <a:xfrm>
              <a:off x="5554542" y="686034"/>
              <a:ext cx="412929" cy="396000"/>
            </a:xfrm>
            <a:custGeom>
              <a:avLst/>
              <a:gdLst>
                <a:gd name="T0" fmla="*/ 213 w 239"/>
                <a:gd name="T1" fmla="*/ 93 h 266"/>
                <a:gd name="T2" fmla="*/ 93 w 239"/>
                <a:gd name="T3" fmla="*/ 104 h 266"/>
                <a:gd name="T4" fmla="*/ 94 w 239"/>
                <a:gd name="T5" fmla="*/ 132 h 266"/>
                <a:gd name="T6" fmla="*/ 214 w 239"/>
                <a:gd name="T7" fmla="*/ 121 h 266"/>
                <a:gd name="T8" fmla="*/ 94 w 239"/>
                <a:gd name="T9" fmla="*/ 132 h 266"/>
                <a:gd name="T10" fmla="*/ 69 w 239"/>
                <a:gd name="T11" fmla="*/ 69 h 266"/>
                <a:gd name="T12" fmla="*/ 85 w 239"/>
                <a:gd name="T13" fmla="*/ 79 h 266"/>
                <a:gd name="T14" fmla="*/ 223 w 239"/>
                <a:gd name="T15" fmla="*/ 250 h 266"/>
                <a:gd name="T16" fmla="*/ 116 w 239"/>
                <a:gd name="T17" fmla="*/ 251 h 266"/>
                <a:gd name="T18" fmla="*/ 85 w 239"/>
                <a:gd name="T19" fmla="*/ 250 h 266"/>
                <a:gd name="T20" fmla="*/ 72 w 239"/>
                <a:gd name="T21" fmla="*/ 209 h 266"/>
                <a:gd name="T22" fmla="*/ 71 w 239"/>
                <a:gd name="T23" fmla="*/ 208 h 266"/>
                <a:gd name="T24" fmla="*/ 69 w 239"/>
                <a:gd name="T25" fmla="*/ 266 h 266"/>
                <a:gd name="T26" fmla="*/ 239 w 239"/>
                <a:gd name="T27" fmla="*/ 63 h 266"/>
                <a:gd name="T28" fmla="*/ 100 w 239"/>
                <a:gd name="T29" fmla="*/ 146 h 266"/>
                <a:gd name="T30" fmla="*/ 213 w 239"/>
                <a:gd name="T31" fmla="*/ 157 h 266"/>
                <a:gd name="T32" fmla="*/ 100 w 239"/>
                <a:gd name="T33" fmla="*/ 146 h 266"/>
                <a:gd name="T34" fmla="*/ 214 w 239"/>
                <a:gd name="T35" fmla="*/ 185 h 266"/>
                <a:gd name="T36" fmla="*/ 112 w 239"/>
                <a:gd name="T37" fmla="*/ 174 h 266"/>
                <a:gd name="T38" fmla="*/ 118 w 239"/>
                <a:gd name="T39" fmla="*/ 196 h 266"/>
                <a:gd name="T40" fmla="*/ 214 w 239"/>
                <a:gd name="T41" fmla="*/ 207 h 266"/>
                <a:gd name="T42" fmla="*/ 118 w 239"/>
                <a:gd name="T43" fmla="*/ 196 h 266"/>
                <a:gd name="T44" fmla="*/ 113 w 239"/>
                <a:gd name="T45" fmla="*/ 190 h 266"/>
                <a:gd name="T46" fmla="*/ 111 w 239"/>
                <a:gd name="T47" fmla="*/ 240 h 266"/>
                <a:gd name="T48" fmla="*/ 20 w 239"/>
                <a:gd name="T49" fmla="*/ 3 h 266"/>
                <a:gd name="T50" fmla="*/ 3 w 239"/>
                <a:gd name="T51" fmla="*/ 27 h 266"/>
                <a:gd name="T52" fmla="*/ 48 w 239"/>
                <a:gd name="T53" fmla="*/ 30 h 266"/>
                <a:gd name="T54" fmla="*/ 116 w 239"/>
                <a:gd name="T55" fmla="*/ 235 h 266"/>
                <a:gd name="T56" fmla="*/ 215 w 239"/>
                <a:gd name="T57" fmla="*/ 224 h 266"/>
                <a:gd name="T58" fmla="*/ 116 w 239"/>
                <a:gd name="T59" fmla="*/ 235 h 266"/>
                <a:gd name="T60" fmla="*/ 12 w 239"/>
                <a:gd name="T61" fmla="*/ 50 h 266"/>
                <a:gd name="T62" fmla="*/ 112 w 239"/>
                <a:gd name="T63" fmla="*/ 187 h 266"/>
                <a:gd name="T64" fmla="*/ 37 w 239"/>
                <a:gd name="T65" fmla="*/ 44 h 266"/>
                <a:gd name="T66" fmla="*/ 85 w 239"/>
                <a:gd name="T67" fmla="*/ 150 h 266"/>
                <a:gd name="T68" fmla="*/ 46 w 239"/>
                <a:gd name="T69" fmla="*/ 41 h 266"/>
                <a:gd name="T70" fmla="*/ 70 w 239"/>
                <a:gd name="T71" fmla="*/ 149 h 266"/>
                <a:gd name="T72" fmla="*/ 21 w 239"/>
                <a:gd name="T73" fmla="*/ 51 h 266"/>
                <a:gd name="T74" fmla="*/ 68 w 239"/>
                <a:gd name="T75" fmla="*/ 157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9" h="266">
                  <a:moveTo>
                    <a:pt x="93" y="93"/>
                  </a:moveTo>
                  <a:cubicBezTo>
                    <a:pt x="213" y="93"/>
                    <a:pt x="213" y="93"/>
                    <a:pt x="213" y="93"/>
                  </a:cubicBezTo>
                  <a:cubicBezTo>
                    <a:pt x="213" y="104"/>
                    <a:pt x="213" y="104"/>
                    <a:pt x="213" y="104"/>
                  </a:cubicBezTo>
                  <a:cubicBezTo>
                    <a:pt x="93" y="104"/>
                    <a:pt x="93" y="104"/>
                    <a:pt x="93" y="104"/>
                  </a:cubicBezTo>
                  <a:lnTo>
                    <a:pt x="93" y="93"/>
                  </a:lnTo>
                  <a:close/>
                  <a:moveTo>
                    <a:pt x="94" y="132"/>
                  </a:moveTo>
                  <a:cubicBezTo>
                    <a:pt x="214" y="132"/>
                    <a:pt x="214" y="132"/>
                    <a:pt x="214" y="132"/>
                  </a:cubicBezTo>
                  <a:cubicBezTo>
                    <a:pt x="214" y="121"/>
                    <a:pt x="214" y="121"/>
                    <a:pt x="214" y="121"/>
                  </a:cubicBezTo>
                  <a:cubicBezTo>
                    <a:pt x="94" y="121"/>
                    <a:pt x="94" y="121"/>
                    <a:pt x="94" y="121"/>
                  </a:cubicBezTo>
                  <a:lnTo>
                    <a:pt x="94" y="132"/>
                  </a:lnTo>
                  <a:close/>
                  <a:moveTo>
                    <a:pt x="69" y="63"/>
                  </a:moveTo>
                  <a:cubicBezTo>
                    <a:pt x="69" y="69"/>
                    <a:pt x="69" y="69"/>
                    <a:pt x="69" y="69"/>
                  </a:cubicBezTo>
                  <a:cubicBezTo>
                    <a:pt x="85" y="108"/>
                    <a:pt x="85" y="108"/>
                    <a:pt x="85" y="108"/>
                  </a:cubicBezTo>
                  <a:cubicBezTo>
                    <a:pt x="85" y="79"/>
                    <a:pt x="85" y="79"/>
                    <a:pt x="85" y="79"/>
                  </a:cubicBezTo>
                  <a:cubicBezTo>
                    <a:pt x="223" y="79"/>
                    <a:pt x="223" y="79"/>
                    <a:pt x="223" y="79"/>
                  </a:cubicBezTo>
                  <a:cubicBezTo>
                    <a:pt x="223" y="250"/>
                    <a:pt x="223" y="250"/>
                    <a:pt x="223" y="250"/>
                  </a:cubicBezTo>
                  <a:cubicBezTo>
                    <a:pt x="116" y="250"/>
                    <a:pt x="116" y="250"/>
                    <a:pt x="116" y="250"/>
                  </a:cubicBezTo>
                  <a:cubicBezTo>
                    <a:pt x="116" y="251"/>
                    <a:pt x="116" y="251"/>
                    <a:pt x="116" y="251"/>
                  </a:cubicBezTo>
                  <a:cubicBezTo>
                    <a:pt x="115" y="250"/>
                    <a:pt x="115" y="250"/>
                    <a:pt x="115" y="250"/>
                  </a:cubicBezTo>
                  <a:cubicBezTo>
                    <a:pt x="85" y="250"/>
                    <a:pt x="85" y="250"/>
                    <a:pt x="85" y="250"/>
                  </a:cubicBezTo>
                  <a:cubicBezTo>
                    <a:pt x="85" y="221"/>
                    <a:pt x="85" y="221"/>
                    <a:pt x="85" y="221"/>
                  </a:cubicBezTo>
                  <a:cubicBezTo>
                    <a:pt x="72" y="209"/>
                    <a:pt x="72" y="209"/>
                    <a:pt x="72" y="209"/>
                  </a:cubicBezTo>
                  <a:cubicBezTo>
                    <a:pt x="72" y="209"/>
                    <a:pt x="72" y="209"/>
                    <a:pt x="72" y="209"/>
                  </a:cubicBezTo>
                  <a:cubicBezTo>
                    <a:pt x="71" y="208"/>
                    <a:pt x="71" y="208"/>
                    <a:pt x="71" y="208"/>
                  </a:cubicBezTo>
                  <a:cubicBezTo>
                    <a:pt x="69" y="206"/>
                    <a:pt x="69" y="206"/>
                    <a:pt x="69" y="206"/>
                  </a:cubicBezTo>
                  <a:cubicBezTo>
                    <a:pt x="69" y="266"/>
                    <a:pt x="69" y="266"/>
                    <a:pt x="69" y="266"/>
                  </a:cubicBezTo>
                  <a:cubicBezTo>
                    <a:pt x="239" y="266"/>
                    <a:pt x="239" y="266"/>
                    <a:pt x="239" y="266"/>
                  </a:cubicBezTo>
                  <a:cubicBezTo>
                    <a:pt x="239" y="63"/>
                    <a:pt x="239" y="63"/>
                    <a:pt x="239" y="63"/>
                  </a:cubicBezTo>
                  <a:lnTo>
                    <a:pt x="69" y="63"/>
                  </a:lnTo>
                  <a:close/>
                  <a:moveTo>
                    <a:pt x="100" y="146"/>
                  </a:moveTo>
                  <a:cubicBezTo>
                    <a:pt x="105" y="157"/>
                    <a:pt x="105" y="157"/>
                    <a:pt x="105" y="157"/>
                  </a:cubicBezTo>
                  <a:cubicBezTo>
                    <a:pt x="213" y="157"/>
                    <a:pt x="213" y="157"/>
                    <a:pt x="213" y="157"/>
                  </a:cubicBezTo>
                  <a:cubicBezTo>
                    <a:pt x="213" y="146"/>
                    <a:pt x="213" y="146"/>
                    <a:pt x="213" y="146"/>
                  </a:cubicBezTo>
                  <a:lnTo>
                    <a:pt x="100" y="146"/>
                  </a:lnTo>
                  <a:close/>
                  <a:moveTo>
                    <a:pt x="118" y="185"/>
                  </a:moveTo>
                  <a:cubicBezTo>
                    <a:pt x="214" y="185"/>
                    <a:pt x="214" y="185"/>
                    <a:pt x="214" y="185"/>
                  </a:cubicBezTo>
                  <a:cubicBezTo>
                    <a:pt x="214" y="174"/>
                    <a:pt x="214" y="174"/>
                    <a:pt x="214" y="174"/>
                  </a:cubicBezTo>
                  <a:cubicBezTo>
                    <a:pt x="112" y="174"/>
                    <a:pt x="112" y="174"/>
                    <a:pt x="112" y="174"/>
                  </a:cubicBezTo>
                  <a:lnTo>
                    <a:pt x="118" y="185"/>
                  </a:lnTo>
                  <a:close/>
                  <a:moveTo>
                    <a:pt x="118" y="196"/>
                  </a:moveTo>
                  <a:cubicBezTo>
                    <a:pt x="117" y="207"/>
                    <a:pt x="117" y="207"/>
                    <a:pt x="117" y="207"/>
                  </a:cubicBezTo>
                  <a:cubicBezTo>
                    <a:pt x="214" y="207"/>
                    <a:pt x="214" y="207"/>
                    <a:pt x="214" y="207"/>
                  </a:cubicBezTo>
                  <a:cubicBezTo>
                    <a:pt x="214" y="196"/>
                    <a:pt x="214" y="196"/>
                    <a:pt x="214" y="196"/>
                  </a:cubicBezTo>
                  <a:lnTo>
                    <a:pt x="118" y="196"/>
                  </a:lnTo>
                  <a:close/>
                  <a:moveTo>
                    <a:pt x="111" y="240"/>
                  </a:moveTo>
                  <a:cubicBezTo>
                    <a:pt x="113" y="190"/>
                    <a:pt x="113" y="190"/>
                    <a:pt x="113" y="190"/>
                  </a:cubicBezTo>
                  <a:cubicBezTo>
                    <a:pt x="75" y="205"/>
                    <a:pt x="75" y="205"/>
                    <a:pt x="75" y="205"/>
                  </a:cubicBezTo>
                  <a:lnTo>
                    <a:pt x="111" y="240"/>
                  </a:lnTo>
                  <a:close/>
                  <a:moveTo>
                    <a:pt x="40" y="12"/>
                  </a:moveTo>
                  <a:cubicBezTo>
                    <a:pt x="37" y="4"/>
                    <a:pt x="28" y="0"/>
                    <a:pt x="20" y="3"/>
                  </a:cubicBezTo>
                  <a:cubicBezTo>
                    <a:pt x="11" y="7"/>
                    <a:pt x="11" y="7"/>
                    <a:pt x="11" y="7"/>
                  </a:cubicBezTo>
                  <a:cubicBezTo>
                    <a:pt x="3" y="10"/>
                    <a:pt x="0" y="19"/>
                    <a:pt x="3" y="27"/>
                  </a:cubicBezTo>
                  <a:cubicBezTo>
                    <a:pt x="10" y="46"/>
                    <a:pt x="10" y="46"/>
                    <a:pt x="10" y="46"/>
                  </a:cubicBezTo>
                  <a:cubicBezTo>
                    <a:pt x="48" y="30"/>
                    <a:pt x="48" y="30"/>
                    <a:pt x="48" y="30"/>
                  </a:cubicBezTo>
                  <a:lnTo>
                    <a:pt x="40" y="12"/>
                  </a:lnTo>
                  <a:close/>
                  <a:moveTo>
                    <a:pt x="116" y="235"/>
                  </a:moveTo>
                  <a:cubicBezTo>
                    <a:pt x="215" y="235"/>
                    <a:pt x="215" y="235"/>
                    <a:pt x="215" y="235"/>
                  </a:cubicBezTo>
                  <a:cubicBezTo>
                    <a:pt x="215" y="224"/>
                    <a:pt x="215" y="224"/>
                    <a:pt x="215" y="224"/>
                  </a:cubicBezTo>
                  <a:cubicBezTo>
                    <a:pt x="117" y="224"/>
                    <a:pt x="117" y="224"/>
                    <a:pt x="117" y="224"/>
                  </a:cubicBezTo>
                  <a:lnTo>
                    <a:pt x="116" y="235"/>
                  </a:lnTo>
                  <a:close/>
                  <a:moveTo>
                    <a:pt x="74" y="202"/>
                  </a:moveTo>
                  <a:cubicBezTo>
                    <a:pt x="12" y="50"/>
                    <a:pt x="12" y="50"/>
                    <a:pt x="12" y="50"/>
                  </a:cubicBezTo>
                  <a:cubicBezTo>
                    <a:pt x="50" y="34"/>
                    <a:pt x="50" y="34"/>
                    <a:pt x="50" y="34"/>
                  </a:cubicBezTo>
                  <a:cubicBezTo>
                    <a:pt x="112" y="187"/>
                    <a:pt x="112" y="187"/>
                    <a:pt x="112" y="187"/>
                  </a:cubicBezTo>
                  <a:lnTo>
                    <a:pt x="74" y="202"/>
                  </a:lnTo>
                  <a:close/>
                  <a:moveTo>
                    <a:pt x="37" y="44"/>
                  </a:moveTo>
                  <a:cubicBezTo>
                    <a:pt x="79" y="145"/>
                    <a:pt x="79" y="145"/>
                    <a:pt x="79" y="145"/>
                  </a:cubicBezTo>
                  <a:cubicBezTo>
                    <a:pt x="80" y="149"/>
                    <a:pt x="83" y="151"/>
                    <a:pt x="85" y="150"/>
                  </a:cubicBezTo>
                  <a:cubicBezTo>
                    <a:pt x="88" y="149"/>
                    <a:pt x="88" y="145"/>
                    <a:pt x="87" y="142"/>
                  </a:cubicBezTo>
                  <a:cubicBezTo>
                    <a:pt x="46" y="41"/>
                    <a:pt x="46" y="41"/>
                    <a:pt x="46" y="41"/>
                  </a:cubicBezTo>
                  <a:lnTo>
                    <a:pt x="37" y="44"/>
                  </a:lnTo>
                  <a:close/>
                  <a:moveTo>
                    <a:pt x="70" y="149"/>
                  </a:moveTo>
                  <a:cubicBezTo>
                    <a:pt x="29" y="48"/>
                    <a:pt x="29" y="48"/>
                    <a:pt x="29" y="48"/>
                  </a:cubicBezTo>
                  <a:cubicBezTo>
                    <a:pt x="21" y="51"/>
                    <a:pt x="21" y="51"/>
                    <a:pt x="21" y="51"/>
                  </a:cubicBezTo>
                  <a:cubicBezTo>
                    <a:pt x="62" y="152"/>
                    <a:pt x="62" y="152"/>
                    <a:pt x="62" y="152"/>
                  </a:cubicBezTo>
                  <a:cubicBezTo>
                    <a:pt x="63" y="156"/>
                    <a:pt x="66" y="158"/>
                    <a:pt x="68" y="157"/>
                  </a:cubicBezTo>
                  <a:cubicBezTo>
                    <a:pt x="71" y="156"/>
                    <a:pt x="72" y="152"/>
                    <a:pt x="70" y="149"/>
                  </a:cubicBezTo>
                  <a:close/>
                </a:path>
              </a:pathLst>
            </a:custGeom>
            <a:solidFill>
              <a:srgbClr val="014924"/>
            </a:solidFill>
            <a:ln>
              <a:noFill/>
            </a:ln>
          </p:spPr>
          <p:txBody>
            <a:bodyPr vert="horz" wrap="square" lIns="91440" tIns="45720" rIns="91440" bIns="45720" numCol="1" anchor="t" anchorCtr="0" compatLnSpc="1"/>
            <a:lstStyle/>
            <a:p>
              <a:endParaRPr lang="zh-CN" altLang="en-US">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20" name="组合 19"/>
          <p:cNvGrpSpPr/>
          <p:nvPr/>
        </p:nvGrpSpPr>
        <p:grpSpPr>
          <a:xfrm>
            <a:off x="647921" y="543327"/>
            <a:ext cx="4560848" cy="6353727"/>
            <a:chOff x="214787" y="543327"/>
            <a:chExt cx="4560848" cy="6353727"/>
          </a:xfrm>
        </p:grpSpPr>
        <p:pic>
          <p:nvPicPr>
            <p:cNvPr id="10" name="图片 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214787" y="543327"/>
              <a:ext cx="4508423" cy="6192000"/>
            </a:xfrm>
            <a:prstGeom prst="rect">
              <a:avLst/>
            </a:prstGeom>
          </p:spPr>
        </p:pic>
        <p:sp>
          <p:nvSpPr>
            <p:cNvPr id="11" name="文本框 10"/>
            <p:cNvSpPr txBox="1"/>
            <p:nvPr/>
          </p:nvSpPr>
          <p:spPr>
            <a:xfrm>
              <a:off x="214787" y="6589277"/>
              <a:ext cx="4560848"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技术路线图</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23" name="组合 22"/>
          <p:cNvGrpSpPr/>
          <p:nvPr/>
        </p:nvGrpSpPr>
        <p:grpSpPr>
          <a:xfrm>
            <a:off x="5659647" y="1270193"/>
            <a:ext cx="1959396" cy="369332"/>
            <a:chOff x="5659647" y="1270193"/>
            <a:chExt cx="1959396" cy="369332"/>
          </a:xfrm>
        </p:grpSpPr>
        <p:sp>
          <p:nvSpPr>
            <p:cNvPr id="17" name="Freeform 42"/>
            <p:cNvSpPr>
              <a:spLocks noChangeAspect="1" noEditPoints="1"/>
            </p:cNvSpPr>
            <p:nvPr/>
          </p:nvSpPr>
          <p:spPr bwMode="auto">
            <a:xfrm>
              <a:off x="5659647" y="1279525"/>
              <a:ext cx="389736" cy="360000"/>
            </a:xfrm>
            <a:custGeom>
              <a:avLst/>
              <a:gdLst>
                <a:gd name="T0" fmla="*/ 25 w 596"/>
                <a:gd name="T1" fmla="*/ 345 h 583"/>
                <a:gd name="T2" fmla="*/ 25 w 596"/>
                <a:gd name="T3" fmla="*/ 62 h 583"/>
                <a:gd name="T4" fmla="*/ 61 w 596"/>
                <a:gd name="T5" fmla="*/ 26 h 583"/>
                <a:gd name="T6" fmla="*/ 534 w 596"/>
                <a:gd name="T7" fmla="*/ 26 h 583"/>
                <a:gd name="T8" fmla="*/ 570 w 596"/>
                <a:gd name="T9" fmla="*/ 62 h 583"/>
                <a:gd name="T10" fmla="*/ 570 w 596"/>
                <a:gd name="T11" fmla="*/ 345 h 583"/>
                <a:gd name="T12" fmla="*/ 534 w 596"/>
                <a:gd name="T13" fmla="*/ 381 h 583"/>
                <a:gd name="T14" fmla="*/ 61 w 596"/>
                <a:gd name="T15" fmla="*/ 381 h 583"/>
                <a:gd name="T16" fmla="*/ 25 w 596"/>
                <a:gd name="T17" fmla="*/ 345 h 583"/>
                <a:gd name="T18" fmla="*/ 534 w 596"/>
                <a:gd name="T19" fmla="*/ 406 h 583"/>
                <a:gd name="T20" fmla="*/ 596 w 596"/>
                <a:gd name="T21" fmla="*/ 345 h 583"/>
                <a:gd name="T22" fmla="*/ 596 w 596"/>
                <a:gd name="T23" fmla="*/ 62 h 583"/>
                <a:gd name="T24" fmla="*/ 534 w 596"/>
                <a:gd name="T25" fmla="*/ 0 h 583"/>
                <a:gd name="T26" fmla="*/ 61 w 596"/>
                <a:gd name="T27" fmla="*/ 0 h 583"/>
                <a:gd name="T28" fmla="*/ 0 w 596"/>
                <a:gd name="T29" fmla="*/ 62 h 583"/>
                <a:gd name="T30" fmla="*/ 0 w 596"/>
                <a:gd name="T31" fmla="*/ 345 h 583"/>
                <a:gd name="T32" fmla="*/ 61 w 596"/>
                <a:gd name="T33" fmla="*/ 406 h 583"/>
                <a:gd name="T34" fmla="*/ 245 w 596"/>
                <a:gd name="T35" fmla="*/ 406 h 583"/>
                <a:gd name="T36" fmla="*/ 245 w 596"/>
                <a:gd name="T37" fmla="*/ 462 h 583"/>
                <a:gd name="T38" fmla="*/ 61 w 596"/>
                <a:gd name="T39" fmla="*/ 462 h 583"/>
                <a:gd name="T40" fmla="*/ 0 w 596"/>
                <a:gd name="T41" fmla="*/ 524 h 583"/>
                <a:gd name="T42" fmla="*/ 0 w 596"/>
                <a:gd name="T43" fmla="*/ 570 h 583"/>
                <a:gd name="T44" fmla="*/ 12 w 596"/>
                <a:gd name="T45" fmla="*/ 583 h 583"/>
                <a:gd name="T46" fmla="*/ 583 w 596"/>
                <a:gd name="T47" fmla="*/ 583 h 583"/>
                <a:gd name="T48" fmla="*/ 596 w 596"/>
                <a:gd name="T49" fmla="*/ 570 h 583"/>
                <a:gd name="T50" fmla="*/ 596 w 596"/>
                <a:gd name="T51" fmla="*/ 524 h 583"/>
                <a:gd name="T52" fmla="*/ 534 w 596"/>
                <a:gd name="T53" fmla="*/ 462 h 583"/>
                <a:gd name="T54" fmla="*/ 351 w 596"/>
                <a:gd name="T55" fmla="*/ 462 h 583"/>
                <a:gd name="T56" fmla="*/ 351 w 596"/>
                <a:gd name="T57" fmla="*/ 406 h 583"/>
                <a:gd name="T58" fmla="*/ 534 w 596"/>
                <a:gd name="T59" fmla="*/ 406 h 583"/>
                <a:gd name="T60" fmla="*/ 544 w 596"/>
                <a:gd name="T61" fmla="*/ 345 h 583"/>
                <a:gd name="T62" fmla="*/ 544 w 596"/>
                <a:gd name="T63" fmla="*/ 62 h 583"/>
                <a:gd name="T64" fmla="*/ 534 w 596"/>
                <a:gd name="T65" fmla="*/ 52 h 583"/>
                <a:gd name="T66" fmla="*/ 61 w 596"/>
                <a:gd name="T67" fmla="*/ 52 h 583"/>
                <a:gd name="T68" fmla="*/ 51 w 596"/>
                <a:gd name="T69" fmla="*/ 62 h 583"/>
                <a:gd name="T70" fmla="*/ 51 w 596"/>
                <a:gd name="T71" fmla="*/ 345 h 583"/>
                <a:gd name="T72" fmla="*/ 61 w 596"/>
                <a:gd name="T73" fmla="*/ 355 h 583"/>
                <a:gd name="T74" fmla="*/ 534 w 596"/>
                <a:gd name="T75" fmla="*/ 355 h 583"/>
                <a:gd name="T76" fmla="*/ 544 w 596"/>
                <a:gd name="T77" fmla="*/ 345 h 5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96" h="583">
                  <a:moveTo>
                    <a:pt x="25" y="345"/>
                  </a:moveTo>
                  <a:lnTo>
                    <a:pt x="25" y="62"/>
                  </a:lnTo>
                  <a:cubicBezTo>
                    <a:pt x="25" y="42"/>
                    <a:pt x="41" y="26"/>
                    <a:pt x="61" y="26"/>
                  </a:cubicBezTo>
                  <a:lnTo>
                    <a:pt x="534" y="26"/>
                  </a:lnTo>
                  <a:cubicBezTo>
                    <a:pt x="554" y="26"/>
                    <a:pt x="570" y="42"/>
                    <a:pt x="570" y="62"/>
                  </a:cubicBezTo>
                  <a:lnTo>
                    <a:pt x="570" y="345"/>
                  </a:lnTo>
                  <a:cubicBezTo>
                    <a:pt x="570" y="365"/>
                    <a:pt x="554" y="381"/>
                    <a:pt x="534" y="381"/>
                  </a:cubicBezTo>
                  <a:lnTo>
                    <a:pt x="61" y="381"/>
                  </a:lnTo>
                  <a:cubicBezTo>
                    <a:pt x="41" y="381"/>
                    <a:pt x="25" y="365"/>
                    <a:pt x="25" y="345"/>
                  </a:cubicBezTo>
                  <a:close/>
                  <a:moveTo>
                    <a:pt x="534" y="406"/>
                  </a:moveTo>
                  <a:cubicBezTo>
                    <a:pt x="568" y="406"/>
                    <a:pt x="596" y="379"/>
                    <a:pt x="596" y="345"/>
                  </a:cubicBezTo>
                  <a:lnTo>
                    <a:pt x="596" y="62"/>
                  </a:lnTo>
                  <a:cubicBezTo>
                    <a:pt x="596" y="28"/>
                    <a:pt x="568" y="0"/>
                    <a:pt x="534" y="0"/>
                  </a:cubicBezTo>
                  <a:lnTo>
                    <a:pt x="61" y="0"/>
                  </a:lnTo>
                  <a:cubicBezTo>
                    <a:pt x="27" y="0"/>
                    <a:pt x="0" y="28"/>
                    <a:pt x="0" y="62"/>
                  </a:cubicBezTo>
                  <a:lnTo>
                    <a:pt x="0" y="345"/>
                  </a:lnTo>
                  <a:cubicBezTo>
                    <a:pt x="0" y="379"/>
                    <a:pt x="27" y="406"/>
                    <a:pt x="61" y="406"/>
                  </a:cubicBezTo>
                  <a:lnTo>
                    <a:pt x="245" y="406"/>
                  </a:lnTo>
                  <a:lnTo>
                    <a:pt x="245" y="462"/>
                  </a:lnTo>
                  <a:lnTo>
                    <a:pt x="61" y="462"/>
                  </a:lnTo>
                  <a:cubicBezTo>
                    <a:pt x="27" y="462"/>
                    <a:pt x="0" y="490"/>
                    <a:pt x="0" y="524"/>
                  </a:cubicBezTo>
                  <a:lnTo>
                    <a:pt x="0" y="570"/>
                  </a:lnTo>
                  <a:cubicBezTo>
                    <a:pt x="0" y="577"/>
                    <a:pt x="5" y="583"/>
                    <a:pt x="12" y="583"/>
                  </a:cubicBezTo>
                  <a:lnTo>
                    <a:pt x="583" y="583"/>
                  </a:lnTo>
                  <a:cubicBezTo>
                    <a:pt x="590" y="583"/>
                    <a:pt x="596" y="577"/>
                    <a:pt x="596" y="570"/>
                  </a:cubicBezTo>
                  <a:lnTo>
                    <a:pt x="596" y="524"/>
                  </a:lnTo>
                  <a:cubicBezTo>
                    <a:pt x="596" y="490"/>
                    <a:pt x="568" y="462"/>
                    <a:pt x="534" y="462"/>
                  </a:cubicBezTo>
                  <a:lnTo>
                    <a:pt x="351" y="462"/>
                  </a:lnTo>
                  <a:lnTo>
                    <a:pt x="351" y="406"/>
                  </a:lnTo>
                  <a:lnTo>
                    <a:pt x="534" y="406"/>
                  </a:lnTo>
                  <a:close/>
                  <a:moveTo>
                    <a:pt x="544" y="345"/>
                  </a:moveTo>
                  <a:lnTo>
                    <a:pt x="544" y="62"/>
                  </a:lnTo>
                  <a:cubicBezTo>
                    <a:pt x="544" y="56"/>
                    <a:pt x="540" y="52"/>
                    <a:pt x="534" y="52"/>
                  </a:cubicBezTo>
                  <a:lnTo>
                    <a:pt x="61" y="52"/>
                  </a:lnTo>
                  <a:cubicBezTo>
                    <a:pt x="56" y="52"/>
                    <a:pt x="51" y="56"/>
                    <a:pt x="51" y="62"/>
                  </a:cubicBezTo>
                  <a:lnTo>
                    <a:pt x="51" y="345"/>
                  </a:lnTo>
                  <a:cubicBezTo>
                    <a:pt x="51" y="350"/>
                    <a:pt x="56" y="355"/>
                    <a:pt x="61" y="355"/>
                  </a:cubicBezTo>
                  <a:lnTo>
                    <a:pt x="534" y="355"/>
                  </a:lnTo>
                  <a:cubicBezTo>
                    <a:pt x="540" y="355"/>
                    <a:pt x="544" y="350"/>
                    <a:pt x="544" y="345"/>
                  </a:cubicBezTo>
                  <a:close/>
                </a:path>
              </a:pathLst>
            </a:custGeom>
            <a:solidFill>
              <a:srgbClr val="005229"/>
            </a:solidFill>
            <a:ln>
              <a:noFill/>
            </a:ln>
          </p:spPr>
          <p:txBody>
            <a:bodyPr vert="horz" wrap="square" lIns="91440" tIns="45720" rIns="91440" bIns="45720" numCol="1" anchor="t" anchorCtr="0" compatLnSpc="1"/>
            <a:lstStyle/>
            <a:p>
              <a:endParaRPr lang="zh-CN" altLang="en-US" b="1">
                <a:solidFill>
                  <a:schemeClr val="accent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2" name="文本框 21"/>
            <p:cNvSpPr txBox="1"/>
            <p:nvPr/>
          </p:nvSpPr>
          <p:spPr>
            <a:xfrm>
              <a:off x="6049383" y="1270193"/>
              <a:ext cx="1569660" cy="369332"/>
            </a:xfrm>
            <a:prstGeom prst="rect">
              <a:avLst/>
            </a:prstGeom>
            <a:noFill/>
            <a:ln w="19050">
              <a:noFill/>
            </a:ln>
          </p:spPr>
          <p:txBody>
            <a:bodyPr wrap="none" rtlCol="0">
              <a:spAutoFit/>
            </a:bodyPr>
            <a:lstStyle/>
            <a:p>
              <a:pPr algn="l"/>
              <a:r>
                <a:rPr lang="zh-CN" altLang="en-US" b="1" kern="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数据增强策略</a:t>
              </a:r>
            </a:p>
          </p:txBody>
        </p:sp>
      </p:grpSp>
      <p:grpSp>
        <p:nvGrpSpPr>
          <p:cNvPr id="3" name="组合 2"/>
          <p:cNvGrpSpPr/>
          <p:nvPr/>
        </p:nvGrpSpPr>
        <p:grpSpPr>
          <a:xfrm>
            <a:off x="5359869" y="3668237"/>
            <a:ext cx="6664337" cy="1675854"/>
            <a:chOff x="5359869" y="3568221"/>
            <a:chExt cx="6664337" cy="1675854"/>
          </a:xfrm>
        </p:grpSpPr>
        <p:grpSp>
          <p:nvGrpSpPr>
            <p:cNvPr id="70" name="组合 69"/>
            <p:cNvGrpSpPr/>
            <p:nvPr/>
          </p:nvGrpSpPr>
          <p:grpSpPr>
            <a:xfrm>
              <a:off x="5359869" y="3898143"/>
              <a:ext cx="6664337" cy="1345932"/>
              <a:chOff x="5359869" y="4227923"/>
              <a:chExt cx="6664337" cy="1345932"/>
            </a:xfrm>
          </p:grpSpPr>
          <p:pic>
            <p:nvPicPr>
              <p:cNvPr id="49" name="图片 48"/>
              <p:cNvPicPr>
                <a:picLocks noChangeAspect="1"/>
              </p:cNvPicPr>
              <p:nvPr/>
            </p:nvPicPr>
            <p:blipFill>
              <a:blip r:embed="rId5"/>
              <a:stretch>
                <a:fillRect/>
              </a:stretch>
            </p:blipFill>
            <p:spPr>
              <a:xfrm>
                <a:off x="5548943" y="4227923"/>
                <a:ext cx="2070100" cy="673100"/>
              </a:xfrm>
              <a:prstGeom prst="rect">
                <a:avLst/>
              </a:prstGeom>
            </p:spPr>
          </p:pic>
          <p:pic>
            <p:nvPicPr>
              <p:cNvPr id="50" name="图片 49"/>
              <p:cNvPicPr>
                <a:picLocks noChangeAspect="1"/>
              </p:cNvPicPr>
              <p:nvPr/>
            </p:nvPicPr>
            <p:blipFill>
              <a:blip r:embed="rId6"/>
              <a:stretch>
                <a:fillRect/>
              </a:stretch>
            </p:blipFill>
            <p:spPr>
              <a:xfrm>
                <a:off x="5455511" y="4875355"/>
                <a:ext cx="2374900" cy="698500"/>
              </a:xfrm>
              <a:prstGeom prst="rect">
                <a:avLst/>
              </a:prstGeom>
            </p:spPr>
          </p:pic>
          <p:pic>
            <p:nvPicPr>
              <p:cNvPr id="51" name="图片 50"/>
              <p:cNvPicPr>
                <a:picLocks noChangeAspect="1"/>
              </p:cNvPicPr>
              <p:nvPr/>
            </p:nvPicPr>
            <p:blipFill>
              <a:blip r:embed="rId7"/>
              <a:stretch>
                <a:fillRect/>
              </a:stretch>
            </p:blipFill>
            <p:spPr>
              <a:xfrm>
                <a:off x="7769706" y="4252002"/>
                <a:ext cx="4254500" cy="660400"/>
              </a:xfrm>
              <a:prstGeom prst="rect">
                <a:avLst/>
              </a:prstGeom>
            </p:spPr>
          </p:pic>
          <p:pic>
            <p:nvPicPr>
              <p:cNvPr id="53" name="图片 52"/>
              <p:cNvPicPr>
                <a:picLocks noChangeAspect="1"/>
              </p:cNvPicPr>
              <p:nvPr/>
            </p:nvPicPr>
            <p:blipFill>
              <a:blip r:embed="rId8"/>
              <a:stretch>
                <a:fillRect/>
              </a:stretch>
            </p:blipFill>
            <p:spPr>
              <a:xfrm>
                <a:off x="7694373" y="4893463"/>
                <a:ext cx="3759200" cy="660400"/>
              </a:xfrm>
              <a:prstGeom prst="rect">
                <a:avLst/>
              </a:prstGeom>
            </p:spPr>
          </p:pic>
          <p:cxnSp>
            <p:nvCxnSpPr>
              <p:cNvPr id="54" name="直线连接符 53"/>
              <p:cNvCxnSpPr/>
              <p:nvPr/>
            </p:nvCxnSpPr>
            <p:spPr>
              <a:xfrm>
                <a:off x="7694374" y="4380492"/>
                <a:ext cx="0" cy="1159363"/>
              </a:xfrm>
              <a:prstGeom prst="line">
                <a:avLst/>
              </a:prstGeom>
              <a:ln w="19050">
                <a:solidFill>
                  <a:srgbClr val="014924"/>
                </a:solidFill>
                <a:prstDash val="dash"/>
              </a:ln>
            </p:spPr>
            <p:style>
              <a:lnRef idx="1">
                <a:schemeClr val="accent1"/>
              </a:lnRef>
              <a:fillRef idx="0">
                <a:schemeClr val="accent1"/>
              </a:fillRef>
              <a:effectRef idx="0">
                <a:schemeClr val="accent1"/>
              </a:effectRef>
              <a:fontRef idx="minor">
                <a:schemeClr val="tx1"/>
              </a:fontRef>
            </p:style>
          </p:cxnSp>
          <p:cxnSp>
            <p:nvCxnSpPr>
              <p:cNvPr id="56" name="直线连接符 55"/>
              <p:cNvCxnSpPr/>
              <p:nvPr/>
            </p:nvCxnSpPr>
            <p:spPr>
              <a:xfrm flipH="1" flipV="1">
                <a:off x="5359869" y="4920184"/>
                <a:ext cx="6485768" cy="10819"/>
              </a:xfrm>
              <a:prstGeom prst="line">
                <a:avLst/>
              </a:prstGeom>
              <a:ln w="19050">
                <a:solidFill>
                  <a:srgbClr val="014924"/>
                </a:solidFill>
                <a:prstDash val="dash"/>
              </a:ln>
            </p:spPr>
            <p:style>
              <a:lnRef idx="1">
                <a:schemeClr val="accent1"/>
              </a:lnRef>
              <a:fillRef idx="0">
                <a:schemeClr val="accent1"/>
              </a:fillRef>
              <a:effectRef idx="0">
                <a:schemeClr val="accent1"/>
              </a:effectRef>
              <a:fontRef idx="minor">
                <a:schemeClr val="tx1"/>
              </a:fontRef>
            </p:style>
          </p:cxnSp>
        </p:grpSp>
        <p:grpSp>
          <p:nvGrpSpPr>
            <p:cNvPr id="45" name="组合 44"/>
            <p:cNvGrpSpPr/>
            <p:nvPr/>
          </p:nvGrpSpPr>
          <p:grpSpPr>
            <a:xfrm>
              <a:off x="5629667" y="3568221"/>
              <a:ext cx="6248419" cy="369328"/>
              <a:chOff x="5596746" y="3897235"/>
              <a:chExt cx="6248419" cy="369328"/>
            </a:xfrm>
          </p:grpSpPr>
          <p:sp>
            <p:nvSpPr>
              <p:cNvPr id="43" name="TextBox 76"/>
              <p:cNvSpPr txBox="1"/>
              <p:nvPr/>
            </p:nvSpPr>
            <p:spPr>
              <a:xfrm>
                <a:off x="6086865" y="3897235"/>
                <a:ext cx="5758300" cy="369328"/>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zh-CN" altLang="en-US" sz="180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模型评价：</a:t>
                </a:r>
                <a:r>
                  <a:rPr lang="zh-CN" altLang="en-US" b="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灵敏度、特异度、平衡准确度，</a:t>
                </a:r>
                <a:r>
                  <a:rPr lang="en-US" altLang="zh-CN" b="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F2</a:t>
                </a:r>
                <a:r>
                  <a:rPr lang="zh-CN" altLang="en-US" b="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分数、</a:t>
                </a:r>
                <a:r>
                  <a:rPr lang="en-US" altLang="zh-CN" b="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AUROC</a:t>
                </a:r>
                <a:endParaRPr lang="zh-CN" altLang="en-US" sz="1800" b="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4" name="Freeform 82"/>
              <p:cNvSpPr>
                <a:spLocks noChangeAspect="1" noEditPoints="1"/>
              </p:cNvSpPr>
              <p:nvPr/>
            </p:nvSpPr>
            <p:spPr bwMode="auto">
              <a:xfrm>
                <a:off x="5596746" y="3942563"/>
                <a:ext cx="522079" cy="324000"/>
              </a:xfrm>
              <a:custGeom>
                <a:avLst/>
                <a:gdLst>
                  <a:gd name="T0" fmla="*/ 18 w 312"/>
                  <a:gd name="T1" fmla="*/ 158 h 194"/>
                  <a:gd name="T2" fmla="*/ 18 w 312"/>
                  <a:gd name="T3" fmla="*/ 194 h 194"/>
                  <a:gd name="T4" fmla="*/ 250 w 312"/>
                  <a:gd name="T5" fmla="*/ 176 h 194"/>
                  <a:gd name="T6" fmla="*/ 65 w 312"/>
                  <a:gd name="T7" fmla="*/ 179 h 194"/>
                  <a:gd name="T8" fmla="*/ 15 w 312"/>
                  <a:gd name="T9" fmla="*/ 176 h 194"/>
                  <a:gd name="T10" fmla="*/ 65 w 312"/>
                  <a:gd name="T11" fmla="*/ 174 h 194"/>
                  <a:gd name="T12" fmla="*/ 99 w 312"/>
                  <a:gd name="T13" fmla="*/ 179 h 194"/>
                  <a:gd name="T14" fmla="*/ 77 w 312"/>
                  <a:gd name="T15" fmla="*/ 174 h 194"/>
                  <a:gd name="T16" fmla="*/ 99 w 312"/>
                  <a:gd name="T17" fmla="*/ 179 h 194"/>
                  <a:gd name="T18" fmla="*/ 208 w 312"/>
                  <a:gd name="T19" fmla="*/ 179 h 194"/>
                  <a:gd name="T20" fmla="*/ 232 w 312"/>
                  <a:gd name="T21" fmla="*/ 174 h 194"/>
                  <a:gd name="T22" fmla="*/ 232 w 312"/>
                  <a:gd name="T23" fmla="*/ 179 h 194"/>
                  <a:gd name="T24" fmla="*/ 27 w 312"/>
                  <a:gd name="T25" fmla="*/ 151 h 194"/>
                  <a:gd name="T26" fmla="*/ 41 w 312"/>
                  <a:gd name="T27" fmla="*/ 0 h 194"/>
                  <a:gd name="T28" fmla="*/ 221 w 312"/>
                  <a:gd name="T29" fmla="*/ 15 h 194"/>
                  <a:gd name="T30" fmla="*/ 204 w 312"/>
                  <a:gd name="T31" fmla="*/ 18 h 194"/>
                  <a:gd name="T32" fmla="*/ 195 w 312"/>
                  <a:gd name="T33" fmla="*/ 16 h 194"/>
                  <a:gd name="T34" fmla="*/ 177 w 312"/>
                  <a:gd name="T35" fmla="*/ 16 h 194"/>
                  <a:gd name="T36" fmla="*/ 43 w 312"/>
                  <a:gd name="T37" fmla="*/ 143 h 194"/>
                  <a:gd name="T38" fmla="*/ 189 w 312"/>
                  <a:gd name="T39" fmla="*/ 147 h 194"/>
                  <a:gd name="T40" fmla="*/ 221 w 312"/>
                  <a:gd name="T41" fmla="*/ 138 h 194"/>
                  <a:gd name="T42" fmla="*/ 221 w 312"/>
                  <a:gd name="T43" fmla="*/ 154 h 194"/>
                  <a:gd name="T44" fmla="*/ 132 w 312"/>
                  <a:gd name="T45" fmla="*/ 46 h 194"/>
                  <a:gd name="T46" fmla="*/ 68 w 312"/>
                  <a:gd name="T47" fmla="*/ 35 h 194"/>
                  <a:gd name="T48" fmla="*/ 132 w 312"/>
                  <a:gd name="T49" fmla="*/ 46 h 194"/>
                  <a:gd name="T50" fmla="*/ 126 w 312"/>
                  <a:gd name="T51" fmla="*/ 60 h 194"/>
                  <a:gd name="T52" fmla="*/ 67 w 312"/>
                  <a:gd name="T53" fmla="*/ 71 h 194"/>
                  <a:gd name="T54" fmla="*/ 123 w 312"/>
                  <a:gd name="T55" fmla="*/ 87 h 194"/>
                  <a:gd name="T56" fmla="*/ 68 w 312"/>
                  <a:gd name="T57" fmla="*/ 98 h 194"/>
                  <a:gd name="T58" fmla="*/ 123 w 312"/>
                  <a:gd name="T59" fmla="*/ 87 h 194"/>
                  <a:gd name="T60" fmla="*/ 131 w 312"/>
                  <a:gd name="T61" fmla="*/ 112 h 194"/>
                  <a:gd name="T62" fmla="*/ 66 w 312"/>
                  <a:gd name="T63" fmla="*/ 123 h 194"/>
                  <a:gd name="T64" fmla="*/ 304 w 312"/>
                  <a:gd name="T65" fmla="*/ 143 h 194"/>
                  <a:gd name="T66" fmla="*/ 244 w 312"/>
                  <a:gd name="T67" fmla="*/ 101 h 194"/>
                  <a:gd name="T68" fmla="*/ 160 w 312"/>
                  <a:gd name="T69" fmla="*/ 26 h 194"/>
                  <a:gd name="T70" fmla="*/ 215 w 312"/>
                  <a:gd name="T71" fmla="*/ 136 h 194"/>
                  <a:gd name="T72" fmla="*/ 227 w 312"/>
                  <a:gd name="T73" fmla="*/ 132 h 194"/>
                  <a:gd name="T74" fmla="*/ 304 w 312"/>
                  <a:gd name="T75" fmla="*/ 169 h 194"/>
                  <a:gd name="T76" fmla="*/ 304 w 312"/>
                  <a:gd name="T77" fmla="*/ 143 h 194"/>
                  <a:gd name="T78" fmla="*/ 151 w 312"/>
                  <a:gd name="T79" fmla="*/ 99 h 194"/>
                  <a:gd name="T80" fmla="*/ 224 w 312"/>
                  <a:gd name="T81" fmla="*/ 63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2" h="194">
                    <a:moveTo>
                      <a:pt x="232" y="158"/>
                    </a:moveTo>
                    <a:cubicBezTo>
                      <a:pt x="18" y="158"/>
                      <a:pt x="18" y="158"/>
                      <a:pt x="18" y="158"/>
                    </a:cubicBezTo>
                    <a:cubicBezTo>
                      <a:pt x="8" y="158"/>
                      <a:pt x="0" y="167"/>
                      <a:pt x="0" y="176"/>
                    </a:cubicBezTo>
                    <a:cubicBezTo>
                      <a:pt x="0" y="186"/>
                      <a:pt x="8" y="194"/>
                      <a:pt x="18" y="194"/>
                    </a:cubicBezTo>
                    <a:cubicBezTo>
                      <a:pt x="232" y="194"/>
                      <a:pt x="232" y="194"/>
                      <a:pt x="232" y="194"/>
                    </a:cubicBezTo>
                    <a:cubicBezTo>
                      <a:pt x="242" y="194"/>
                      <a:pt x="250" y="186"/>
                      <a:pt x="250" y="176"/>
                    </a:cubicBezTo>
                    <a:cubicBezTo>
                      <a:pt x="250" y="167"/>
                      <a:pt x="242" y="158"/>
                      <a:pt x="232" y="158"/>
                    </a:cubicBezTo>
                    <a:close/>
                    <a:moveTo>
                      <a:pt x="65" y="179"/>
                    </a:moveTo>
                    <a:cubicBezTo>
                      <a:pt x="18" y="179"/>
                      <a:pt x="18" y="179"/>
                      <a:pt x="18" y="179"/>
                    </a:cubicBezTo>
                    <a:cubicBezTo>
                      <a:pt x="16" y="179"/>
                      <a:pt x="15" y="178"/>
                      <a:pt x="15" y="176"/>
                    </a:cubicBezTo>
                    <a:cubicBezTo>
                      <a:pt x="15" y="175"/>
                      <a:pt x="16" y="174"/>
                      <a:pt x="18" y="174"/>
                    </a:cubicBezTo>
                    <a:cubicBezTo>
                      <a:pt x="65" y="174"/>
                      <a:pt x="65" y="174"/>
                      <a:pt x="65" y="174"/>
                    </a:cubicBezTo>
                    <a:lnTo>
                      <a:pt x="65" y="179"/>
                    </a:lnTo>
                    <a:close/>
                    <a:moveTo>
                      <a:pt x="99" y="179"/>
                    </a:moveTo>
                    <a:cubicBezTo>
                      <a:pt x="77" y="179"/>
                      <a:pt x="77" y="179"/>
                      <a:pt x="77" y="179"/>
                    </a:cubicBezTo>
                    <a:cubicBezTo>
                      <a:pt x="77" y="174"/>
                      <a:pt x="77" y="174"/>
                      <a:pt x="77" y="174"/>
                    </a:cubicBezTo>
                    <a:cubicBezTo>
                      <a:pt x="99" y="174"/>
                      <a:pt x="99" y="174"/>
                      <a:pt x="99" y="174"/>
                    </a:cubicBezTo>
                    <a:lnTo>
                      <a:pt x="99" y="179"/>
                    </a:lnTo>
                    <a:close/>
                    <a:moveTo>
                      <a:pt x="232" y="179"/>
                    </a:moveTo>
                    <a:cubicBezTo>
                      <a:pt x="208" y="179"/>
                      <a:pt x="208" y="179"/>
                      <a:pt x="208" y="179"/>
                    </a:cubicBezTo>
                    <a:cubicBezTo>
                      <a:pt x="208" y="174"/>
                      <a:pt x="208" y="174"/>
                      <a:pt x="208" y="174"/>
                    </a:cubicBezTo>
                    <a:cubicBezTo>
                      <a:pt x="232" y="174"/>
                      <a:pt x="232" y="174"/>
                      <a:pt x="232" y="174"/>
                    </a:cubicBezTo>
                    <a:cubicBezTo>
                      <a:pt x="233" y="174"/>
                      <a:pt x="234" y="175"/>
                      <a:pt x="234" y="176"/>
                    </a:cubicBezTo>
                    <a:cubicBezTo>
                      <a:pt x="234" y="178"/>
                      <a:pt x="233" y="179"/>
                      <a:pt x="232" y="179"/>
                    </a:cubicBezTo>
                    <a:close/>
                    <a:moveTo>
                      <a:pt x="27" y="154"/>
                    </a:moveTo>
                    <a:cubicBezTo>
                      <a:pt x="27" y="153"/>
                      <a:pt x="27" y="152"/>
                      <a:pt x="27" y="151"/>
                    </a:cubicBezTo>
                    <a:cubicBezTo>
                      <a:pt x="27" y="15"/>
                      <a:pt x="27" y="15"/>
                      <a:pt x="27" y="15"/>
                    </a:cubicBezTo>
                    <a:cubicBezTo>
                      <a:pt x="27" y="7"/>
                      <a:pt x="33" y="0"/>
                      <a:pt x="41" y="0"/>
                    </a:cubicBezTo>
                    <a:cubicBezTo>
                      <a:pt x="206" y="0"/>
                      <a:pt x="206" y="0"/>
                      <a:pt x="206" y="0"/>
                    </a:cubicBezTo>
                    <a:cubicBezTo>
                      <a:pt x="214" y="0"/>
                      <a:pt x="221" y="7"/>
                      <a:pt x="221" y="15"/>
                    </a:cubicBezTo>
                    <a:cubicBezTo>
                      <a:pt x="221" y="26"/>
                      <a:pt x="221" y="26"/>
                      <a:pt x="221" y="26"/>
                    </a:cubicBezTo>
                    <a:cubicBezTo>
                      <a:pt x="216" y="22"/>
                      <a:pt x="210" y="20"/>
                      <a:pt x="204" y="18"/>
                    </a:cubicBezTo>
                    <a:cubicBezTo>
                      <a:pt x="204" y="16"/>
                      <a:pt x="204" y="16"/>
                      <a:pt x="204" y="16"/>
                    </a:cubicBezTo>
                    <a:cubicBezTo>
                      <a:pt x="195" y="16"/>
                      <a:pt x="195" y="16"/>
                      <a:pt x="195" y="16"/>
                    </a:cubicBezTo>
                    <a:cubicBezTo>
                      <a:pt x="192" y="15"/>
                      <a:pt x="189" y="15"/>
                      <a:pt x="186" y="15"/>
                    </a:cubicBezTo>
                    <a:cubicBezTo>
                      <a:pt x="183" y="15"/>
                      <a:pt x="180" y="16"/>
                      <a:pt x="177" y="16"/>
                    </a:cubicBezTo>
                    <a:cubicBezTo>
                      <a:pt x="43" y="16"/>
                      <a:pt x="43" y="16"/>
                      <a:pt x="43" y="16"/>
                    </a:cubicBezTo>
                    <a:cubicBezTo>
                      <a:pt x="43" y="143"/>
                      <a:pt x="43" y="143"/>
                      <a:pt x="43" y="143"/>
                    </a:cubicBezTo>
                    <a:cubicBezTo>
                      <a:pt x="169" y="143"/>
                      <a:pt x="169" y="143"/>
                      <a:pt x="169" y="143"/>
                    </a:cubicBezTo>
                    <a:cubicBezTo>
                      <a:pt x="175" y="145"/>
                      <a:pt x="182" y="147"/>
                      <a:pt x="189" y="147"/>
                    </a:cubicBezTo>
                    <a:cubicBezTo>
                      <a:pt x="199" y="147"/>
                      <a:pt x="208" y="144"/>
                      <a:pt x="217" y="140"/>
                    </a:cubicBezTo>
                    <a:cubicBezTo>
                      <a:pt x="218" y="139"/>
                      <a:pt x="220" y="138"/>
                      <a:pt x="221" y="138"/>
                    </a:cubicBezTo>
                    <a:cubicBezTo>
                      <a:pt x="221" y="151"/>
                      <a:pt x="221" y="151"/>
                      <a:pt x="221" y="151"/>
                    </a:cubicBezTo>
                    <a:cubicBezTo>
                      <a:pt x="221" y="152"/>
                      <a:pt x="221" y="153"/>
                      <a:pt x="221" y="154"/>
                    </a:cubicBezTo>
                    <a:lnTo>
                      <a:pt x="27" y="154"/>
                    </a:lnTo>
                    <a:close/>
                    <a:moveTo>
                      <a:pt x="132" y="46"/>
                    </a:moveTo>
                    <a:cubicBezTo>
                      <a:pt x="68" y="46"/>
                      <a:pt x="68" y="46"/>
                      <a:pt x="68" y="46"/>
                    </a:cubicBezTo>
                    <a:cubicBezTo>
                      <a:pt x="68" y="35"/>
                      <a:pt x="68" y="35"/>
                      <a:pt x="68" y="35"/>
                    </a:cubicBezTo>
                    <a:cubicBezTo>
                      <a:pt x="141" y="35"/>
                      <a:pt x="141" y="35"/>
                      <a:pt x="141" y="35"/>
                    </a:cubicBezTo>
                    <a:cubicBezTo>
                      <a:pt x="138" y="38"/>
                      <a:pt x="135" y="42"/>
                      <a:pt x="132" y="46"/>
                    </a:cubicBezTo>
                    <a:close/>
                    <a:moveTo>
                      <a:pt x="67" y="60"/>
                    </a:moveTo>
                    <a:cubicBezTo>
                      <a:pt x="126" y="60"/>
                      <a:pt x="126" y="60"/>
                      <a:pt x="126" y="60"/>
                    </a:cubicBezTo>
                    <a:cubicBezTo>
                      <a:pt x="125" y="64"/>
                      <a:pt x="124" y="68"/>
                      <a:pt x="123" y="71"/>
                    </a:cubicBezTo>
                    <a:cubicBezTo>
                      <a:pt x="67" y="71"/>
                      <a:pt x="67" y="71"/>
                      <a:pt x="67" y="71"/>
                    </a:cubicBezTo>
                    <a:lnTo>
                      <a:pt x="67" y="60"/>
                    </a:lnTo>
                    <a:close/>
                    <a:moveTo>
                      <a:pt x="123" y="87"/>
                    </a:moveTo>
                    <a:cubicBezTo>
                      <a:pt x="124" y="90"/>
                      <a:pt x="124" y="94"/>
                      <a:pt x="125" y="98"/>
                    </a:cubicBezTo>
                    <a:cubicBezTo>
                      <a:pt x="68" y="98"/>
                      <a:pt x="68" y="98"/>
                      <a:pt x="68" y="98"/>
                    </a:cubicBezTo>
                    <a:cubicBezTo>
                      <a:pt x="68" y="87"/>
                      <a:pt x="68" y="87"/>
                      <a:pt x="68" y="87"/>
                    </a:cubicBezTo>
                    <a:lnTo>
                      <a:pt x="123" y="87"/>
                    </a:lnTo>
                    <a:close/>
                    <a:moveTo>
                      <a:pt x="66" y="112"/>
                    </a:moveTo>
                    <a:cubicBezTo>
                      <a:pt x="131" y="112"/>
                      <a:pt x="131" y="112"/>
                      <a:pt x="131" y="112"/>
                    </a:cubicBezTo>
                    <a:cubicBezTo>
                      <a:pt x="134" y="116"/>
                      <a:pt x="136" y="120"/>
                      <a:pt x="139" y="123"/>
                    </a:cubicBezTo>
                    <a:cubicBezTo>
                      <a:pt x="66" y="123"/>
                      <a:pt x="66" y="123"/>
                      <a:pt x="66" y="123"/>
                    </a:cubicBezTo>
                    <a:lnTo>
                      <a:pt x="66" y="112"/>
                    </a:lnTo>
                    <a:close/>
                    <a:moveTo>
                      <a:pt x="304" y="143"/>
                    </a:moveTo>
                    <a:cubicBezTo>
                      <a:pt x="248" y="103"/>
                      <a:pt x="248" y="103"/>
                      <a:pt x="248" y="103"/>
                    </a:cubicBezTo>
                    <a:cubicBezTo>
                      <a:pt x="247" y="102"/>
                      <a:pt x="246" y="101"/>
                      <a:pt x="244" y="101"/>
                    </a:cubicBezTo>
                    <a:cubicBezTo>
                      <a:pt x="249" y="86"/>
                      <a:pt x="248" y="70"/>
                      <a:pt x="241" y="54"/>
                    </a:cubicBezTo>
                    <a:cubicBezTo>
                      <a:pt x="226" y="24"/>
                      <a:pt x="190" y="12"/>
                      <a:pt x="160" y="26"/>
                    </a:cubicBezTo>
                    <a:cubicBezTo>
                      <a:pt x="131" y="41"/>
                      <a:pt x="119" y="77"/>
                      <a:pt x="134" y="107"/>
                    </a:cubicBezTo>
                    <a:cubicBezTo>
                      <a:pt x="149" y="138"/>
                      <a:pt x="185" y="150"/>
                      <a:pt x="215" y="136"/>
                    </a:cubicBezTo>
                    <a:cubicBezTo>
                      <a:pt x="218" y="134"/>
                      <a:pt x="221" y="132"/>
                      <a:pt x="224" y="129"/>
                    </a:cubicBezTo>
                    <a:cubicBezTo>
                      <a:pt x="225" y="130"/>
                      <a:pt x="226" y="131"/>
                      <a:pt x="227" y="132"/>
                    </a:cubicBezTo>
                    <a:cubicBezTo>
                      <a:pt x="283" y="172"/>
                      <a:pt x="283" y="172"/>
                      <a:pt x="283" y="172"/>
                    </a:cubicBezTo>
                    <a:cubicBezTo>
                      <a:pt x="289" y="177"/>
                      <a:pt x="299" y="175"/>
                      <a:pt x="304" y="169"/>
                    </a:cubicBezTo>
                    <a:cubicBezTo>
                      <a:pt x="307" y="164"/>
                      <a:pt x="307" y="164"/>
                      <a:pt x="307" y="164"/>
                    </a:cubicBezTo>
                    <a:cubicBezTo>
                      <a:pt x="312" y="157"/>
                      <a:pt x="310" y="148"/>
                      <a:pt x="304" y="143"/>
                    </a:cubicBezTo>
                    <a:close/>
                    <a:moveTo>
                      <a:pt x="206" y="119"/>
                    </a:moveTo>
                    <a:cubicBezTo>
                      <a:pt x="186" y="128"/>
                      <a:pt x="162" y="120"/>
                      <a:pt x="151" y="99"/>
                    </a:cubicBezTo>
                    <a:cubicBezTo>
                      <a:pt x="141" y="78"/>
                      <a:pt x="149" y="53"/>
                      <a:pt x="169" y="43"/>
                    </a:cubicBezTo>
                    <a:cubicBezTo>
                      <a:pt x="189" y="33"/>
                      <a:pt x="213" y="42"/>
                      <a:pt x="224" y="63"/>
                    </a:cubicBezTo>
                    <a:cubicBezTo>
                      <a:pt x="234" y="84"/>
                      <a:pt x="226" y="109"/>
                      <a:pt x="206" y="119"/>
                    </a:cubicBezTo>
                    <a:close/>
                  </a:path>
                </a:pathLst>
              </a:custGeom>
              <a:solidFill>
                <a:srgbClr val="014924"/>
              </a:solidFill>
              <a:ln>
                <a:noFill/>
              </a:ln>
            </p:spPr>
            <p:txBody>
              <a:bodyPr vert="horz" wrap="square" lIns="91440" tIns="45720" rIns="91440" bIns="45720" numCol="1" anchor="t" anchorCtr="0" compatLnSpc="1"/>
              <a:lstStyle/>
              <a:p>
                <a:endParaRPr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grpSp>
        <p:nvGrpSpPr>
          <p:cNvPr id="2" name="组合 1"/>
          <p:cNvGrpSpPr/>
          <p:nvPr/>
        </p:nvGrpSpPr>
        <p:grpSpPr>
          <a:xfrm>
            <a:off x="5591671" y="5323057"/>
            <a:ext cx="5468785" cy="1360698"/>
            <a:chOff x="5563095" y="5223041"/>
            <a:chExt cx="5468785" cy="1360698"/>
          </a:xfrm>
        </p:grpSpPr>
        <p:grpSp>
          <p:nvGrpSpPr>
            <p:cNvPr id="77" name="组合 76"/>
            <p:cNvGrpSpPr/>
            <p:nvPr/>
          </p:nvGrpSpPr>
          <p:grpSpPr>
            <a:xfrm>
              <a:off x="5563095" y="5223041"/>
              <a:ext cx="2705200" cy="576000"/>
              <a:chOff x="5596541" y="5074017"/>
              <a:chExt cx="2705200" cy="576000"/>
            </a:xfrm>
          </p:grpSpPr>
          <p:pic>
            <p:nvPicPr>
              <p:cNvPr id="73" name="图形 72" descr="目标 纯色填充"/>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596541" y="5074017"/>
                <a:ext cx="576000" cy="576000"/>
              </a:xfrm>
              <a:prstGeom prst="rect">
                <a:avLst/>
              </a:prstGeom>
            </p:spPr>
          </p:pic>
          <p:sp>
            <p:nvSpPr>
              <p:cNvPr id="76" name="TextBox 76"/>
              <p:cNvSpPr txBox="1"/>
              <p:nvPr/>
            </p:nvSpPr>
            <p:spPr>
              <a:xfrm>
                <a:off x="6078063" y="5176181"/>
                <a:ext cx="2223678" cy="369328"/>
              </a:xfrm>
              <a:prstGeom prst="rect">
                <a:avLst/>
              </a:prstGeom>
              <a:noFill/>
            </p:spPr>
            <p:txBody>
              <a:bodyPr wrap="none" lIns="91436" tIns="45718" rIns="91436" bIns="45718" rtlCol="0">
                <a:spAutoFit/>
              </a:bodyPr>
              <a:lstStyle>
                <a:defPPr>
                  <a:defRPr lang="zh-CN"/>
                </a:defPPr>
                <a:lvl1pPr>
                  <a:defRPr sz="1600" b="1">
                    <a:solidFill>
                      <a:schemeClr val="bg1">
                        <a:lumMod val="50000"/>
                      </a:schemeClr>
                    </a:solidFill>
                    <a:latin typeface="微软雅黑" panose="020B0503020204020204" pitchFamily="34" charset="-122"/>
                    <a:ea typeface="微软雅黑" panose="020B0503020204020204" pitchFamily="34" charset="-122"/>
                  </a:defRPr>
                </a:lvl1pPr>
              </a:lstStyle>
              <a:p>
                <a:r>
                  <a:rPr lang="en-US" altLang="zh-CN" sz="180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SHAP</a:t>
                </a:r>
                <a:r>
                  <a:rPr lang="zh-CN" altLang="en-US" sz="180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rPr>
                  <a:t>可解释性分析</a:t>
                </a:r>
                <a:endParaRPr lang="zh-CN" altLang="en-US" sz="1800" b="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78" name="文本框 77"/>
            <p:cNvSpPr txBox="1"/>
            <p:nvPr/>
          </p:nvSpPr>
          <p:spPr>
            <a:xfrm>
              <a:off x="6044617" y="5721965"/>
              <a:ext cx="4987263" cy="861774"/>
            </a:xfrm>
            <a:prstGeom prst="rect">
              <a:avLst/>
            </a:prstGeom>
            <a:noFill/>
            <a:ln w="19050">
              <a:noFill/>
            </a:ln>
          </p:spPr>
          <p:txBody>
            <a:bodyPr wrap="none" rtlCol="0">
              <a:spAutoFit/>
            </a:bodyPr>
            <a:lstStyle/>
            <a:p>
              <a:pPr marL="285750" indent="-285750" algn="l">
                <a:buFont typeface="Wingdings" panose="05000000000000000000" pitchFamily="2" charset="2"/>
                <a:buChar char="Ø"/>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重要性特征排序</a:t>
              </a:r>
              <a:endPar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gn="l">
                <a:buFont typeface="Wingdings" panose="05000000000000000000" pitchFamily="2" charset="2"/>
                <a:buChar char="Ø"/>
              </a:pP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特征对模型预测的影响（蜂窝图、单因素依赖图）</a:t>
              </a:r>
              <a:endParaRPr lang="en-US" altLang="zh-CN"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gn="l">
                <a:buFont typeface="Wingdings" panose="05000000000000000000" pitchFamily="2" charset="2"/>
                <a:buChar char="Ø"/>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特征间交互作用（交互依赖图）</a:t>
              </a:r>
            </a:p>
          </p:txBody>
        </p:sp>
      </p:grpSp>
      <p:grpSp>
        <p:nvGrpSpPr>
          <p:cNvPr id="18" name="组合 17"/>
          <p:cNvGrpSpPr/>
          <p:nvPr/>
        </p:nvGrpSpPr>
        <p:grpSpPr>
          <a:xfrm>
            <a:off x="5359869" y="1714145"/>
            <a:ext cx="6647131" cy="1904492"/>
            <a:chOff x="5359869" y="1714145"/>
            <a:chExt cx="6647131" cy="1904492"/>
          </a:xfrm>
        </p:grpSpPr>
        <p:grpSp>
          <p:nvGrpSpPr>
            <p:cNvPr id="71" name="组合 70"/>
            <p:cNvGrpSpPr/>
            <p:nvPr/>
          </p:nvGrpSpPr>
          <p:grpSpPr>
            <a:xfrm>
              <a:off x="5359869" y="1714145"/>
              <a:ext cx="6647131" cy="1904492"/>
              <a:chOff x="5359869" y="1806191"/>
              <a:chExt cx="6647131" cy="1904492"/>
            </a:xfrm>
          </p:grpSpPr>
          <p:pic>
            <p:nvPicPr>
              <p:cNvPr id="25" name="图片 24"/>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359869" y="1806191"/>
                <a:ext cx="2259174" cy="1737826"/>
              </a:xfrm>
              <a:prstGeom prst="rect">
                <a:avLst/>
              </a:prstGeom>
            </p:spPr>
          </p:pic>
          <p:pic>
            <p:nvPicPr>
              <p:cNvPr id="32" name="Picture 12"/>
              <p:cNvPicPr>
                <a:picLocks noChangeAspect="1" noChangeArrowheads="1"/>
              </p:cNvPicPr>
              <p:nvPr/>
            </p:nvPicPr>
            <p:blipFill rotWithShape="1">
              <a:blip r:embed="rId12">
                <a:extLst>
                  <a:ext uri="{28A0092B-C50C-407E-A947-70E740481C1C}">
                    <a14:useLocalDpi xmlns:a14="http://schemas.microsoft.com/office/drawing/2010/main" val="0"/>
                  </a:ext>
                </a:extLst>
              </a:blip>
              <a:srcRect r="14477"/>
              <a:stretch>
                <a:fillRect/>
              </a:stretch>
            </p:blipFill>
            <p:spPr bwMode="auto">
              <a:xfrm>
                <a:off x="7694973" y="1806191"/>
                <a:ext cx="1958400" cy="1548000"/>
              </a:xfrm>
              <a:prstGeom prst="rect">
                <a:avLst/>
              </a:prstGeom>
              <a:noFill/>
              <a:extLst>
                <a:ext uri="{909E8E84-426E-40DD-AFC4-6F175D3DCCD1}">
                  <a14:hiddenFill xmlns:a14="http://schemas.microsoft.com/office/drawing/2010/main">
                    <a:solidFill>
                      <a:srgbClr val="FFFFFF"/>
                    </a:solidFill>
                  </a14:hiddenFill>
                </a:ext>
              </a:extLst>
            </p:spPr>
          </p:pic>
          <p:cxnSp>
            <p:nvCxnSpPr>
              <p:cNvPr id="33" name="直线连接符 32"/>
              <p:cNvCxnSpPr/>
              <p:nvPr/>
            </p:nvCxnSpPr>
            <p:spPr>
              <a:xfrm>
                <a:off x="7619043" y="1806191"/>
                <a:ext cx="0" cy="1622809"/>
              </a:xfrm>
              <a:prstGeom prst="line">
                <a:avLst/>
              </a:prstGeom>
              <a:ln w="19050">
                <a:solidFill>
                  <a:srgbClr val="014924"/>
                </a:solidFill>
                <a:prstDash val="dash"/>
              </a:ln>
            </p:spPr>
            <p:style>
              <a:lnRef idx="1">
                <a:schemeClr val="accent1"/>
              </a:lnRef>
              <a:fillRef idx="0">
                <a:schemeClr val="accent1"/>
              </a:fillRef>
              <a:effectRef idx="0">
                <a:schemeClr val="accent1"/>
              </a:effectRef>
              <a:fontRef idx="minor">
                <a:schemeClr val="tx1"/>
              </a:fontRef>
            </p:style>
          </p:cxnSp>
          <p:cxnSp>
            <p:nvCxnSpPr>
              <p:cNvPr id="35" name="直线连接符 34"/>
              <p:cNvCxnSpPr/>
              <p:nvPr/>
            </p:nvCxnSpPr>
            <p:spPr>
              <a:xfrm>
                <a:off x="9809550" y="1806191"/>
                <a:ext cx="0" cy="1622809"/>
              </a:xfrm>
              <a:prstGeom prst="line">
                <a:avLst/>
              </a:prstGeom>
              <a:ln w="19050">
                <a:solidFill>
                  <a:srgbClr val="014924"/>
                </a:solidFill>
                <a:prstDash val="dash"/>
              </a:ln>
            </p:spPr>
            <p:style>
              <a:lnRef idx="1">
                <a:schemeClr val="accent1"/>
              </a:lnRef>
              <a:fillRef idx="0">
                <a:schemeClr val="accent1"/>
              </a:fillRef>
              <a:effectRef idx="0">
                <a:schemeClr val="accent1"/>
              </a:effectRef>
              <a:fontRef idx="minor">
                <a:schemeClr val="tx1"/>
              </a:fontRef>
            </p:style>
          </p:cxnSp>
          <p:pic>
            <p:nvPicPr>
              <p:cNvPr id="38" name="图片 3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965728" y="1909978"/>
                <a:ext cx="2041272" cy="1332497"/>
              </a:xfrm>
              <a:prstGeom prst="rect">
                <a:avLst/>
              </a:prstGeom>
            </p:spPr>
          </p:pic>
          <p:sp>
            <p:nvSpPr>
              <p:cNvPr id="40" name="文本框 39"/>
              <p:cNvSpPr txBox="1"/>
              <p:nvPr/>
            </p:nvSpPr>
            <p:spPr>
              <a:xfrm>
                <a:off x="5563095" y="3402906"/>
                <a:ext cx="1840351"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基于聚类的欠采样</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1" name="文本框 40"/>
              <p:cNvSpPr txBox="1"/>
              <p:nvPr/>
            </p:nvSpPr>
            <p:spPr>
              <a:xfrm>
                <a:off x="7934551" y="3390128"/>
                <a:ext cx="1840351" cy="307777"/>
              </a:xfrm>
              <a:prstGeom prst="rect">
                <a:avLst/>
              </a:prstGeom>
              <a:noFill/>
              <a:ln w="19050">
                <a:noFill/>
              </a:ln>
            </p:spPr>
            <p:txBody>
              <a:bodyPr wrap="square" rtlCol="0">
                <a:spAutoFit/>
              </a:bodyPr>
              <a:lstStyle/>
              <a:p>
                <a:pPr algn="ct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SMOTE</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2" name="文本框 41"/>
              <p:cNvSpPr txBox="1"/>
              <p:nvPr/>
            </p:nvSpPr>
            <p:spPr>
              <a:xfrm>
                <a:off x="10005286" y="3390128"/>
                <a:ext cx="1840351" cy="307777"/>
              </a:xfrm>
              <a:prstGeom prst="rect">
                <a:avLst/>
              </a:prstGeom>
              <a:noFill/>
              <a:ln w="19050">
                <a:noFill/>
              </a:ln>
            </p:spPr>
            <p:txBody>
              <a:bodyPr wrap="square" rtlCol="0">
                <a:spAutoFit/>
              </a:bodyPr>
              <a:lstStyle/>
              <a:p>
                <a:pPr algn="ct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SMOTE+ENN</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6" name="文本框 5"/>
            <p:cNvSpPr txBox="1"/>
            <p:nvPr/>
          </p:nvSpPr>
          <p:spPr>
            <a:xfrm>
              <a:off x="5378677" y="1746088"/>
              <a:ext cx="788994" cy="369332"/>
            </a:xfrm>
            <a:prstGeom prst="rect">
              <a:avLst/>
            </a:prstGeom>
            <a:noFill/>
            <a:ln w="19050">
              <a:noFill/>
            </a:ln>
          </p:spPr>
          <p:txBody>
            <a:bodyPr wrap="square">
              <a:spAutoFit/>
            </a:bodyPr>
            <a:lstStyle/>
            <a:p>
              <a:r>
                <a:rPr lang="en-US" altLang="zh-CN"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：多数类</a:t>
              </a:r>
              <a:endParaRPr lang="en-US" altLang="zh-CN"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a:p>
              <a:r>
                <a:rPr lang="en-US" altLang="zh-CN"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：少数类</a:t>
              </a:r>
              <a:endParaRPr lang="zh-CN" altLang="en-US" sz="900" dirty="0"/>
            </a:p>
          </p:txBody>
        </p:sp>
        <p:pic>
          <p:nvPicPr>
            <p:cNvPr id="9" name="图片 8"/>
            <p:cNvPicPr>
              <a:picLocks noChangeAspect="1"/>
            </p:cNvPicPr>
            <p:nvPr/>
          </p:nvPicPr>
          <p:blipFill>
            <a:blip r:embed="rId14"/>
            <a:stretch>
              <a:fillRect/>
            </a:stretch>
          </p:blipFill>
          <p:spPr>
            <a:xfrm>
              <a:off x="7903171" y="1789779"/>
              <a:ext cx="337580" cy="332597"/>
            </a:xfrm>
            <a:prstGeom prst="rect">
              <a:avLst/>
            </a:prstGeom>
          </p:spPr>
        </p:pic>
        <p:sp>
          <p:nvSpPr>
            <p:cNvPr id="8" name="文本框 7"/>
            <p:cNvSpPr txBox="1"/>
            <p:nvPr/>
          </p:nvSpPr>
          <p:spPr>
            <a:xfrm>
              <a:off x="7830411" y="1942105"/>
              <a:ext cx="535609" cy="230832"/>
            </a:xfrm>
            <a:prstGeom prst="rect">
              <a:avLst/>
            </a:prstGeom>
            <a:noFill/>
            <a:ln w="19050">
              <a:noFill/>
            </a:ln>
          </p:spPr>
          <p:txBody>
            <a:bodyPr wrap="square">
              <a:spAutoFit/>
            </a:bodyPr>
            <a:lstStyle/>
            <a:p>
              <a:r>
                <a:rPr lang="zh-CN" altLang="en-US"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多数类</a:t>
              </a:r>
              <a:endParaRPr lang="en-US" altLang="zh-CN"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3" name="文本框 12"/>
            <p:cNvSpPr txBox="1"/>
            <p:nvPr/>
          </p:nvSpPr>
          <p:spPr>
            <a:xfrm>
              <a:off x="7830411" y="1748550"/>
              <a:ext cx="535609" cy="230832"/>
            </a:xfrm>
            <a:prstGeom prst="rect">
              <a:avLst/>
            </a:prstGeom>
            <a:noFill/>
            <a:ln w="19050">
              <a:noFill/>
            </a:ln>
          </p:spPr>
          <p:txBody>
            <a:bodyPr wrap="square">
              <a:spAutoFit/>
            </a:bodyPr>
            <a:lstStyle/>
            <a:p>
              <a:r>
                <a:rPr lang="zh-CN" altLang="en-US"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少数类</a:t>
              </a:r>
              <a:endParaRPr lang="en-US" altLang="zh-CN" sz="9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24</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aphicFrame>
        <p:nvGraphicFramePr>
          <p:cNvPr id="8" name="表格 7"/>
          <p:cNvGraphicFramePr>
            <a:graphicFrameLocks noGrp="1"/>
          </p:cNvGraphicFramePr>
          <p:nvPr>
            <p:extLst>
              <p:ext uri="{D42A27DB-BD31-4B8C-83A1-F6EECF244321}">
                <p14:modId xmlns:p14="http://schemas.microsoft.com/office/powerpoint/2010/main" val="4223199792"/>
              </p:ext>
            </p:extLst>
          </p:nvPr>
        </p:nvGraphicFramePr>
        <p:xfrm>
          <a:off x="5685466" y="835826"/>
          <a:ext cx="6248268" cy="5759678"/>
        </p:xfrm>
        <a:graphic>
          <a:graphicData uri="http://schemas.openxmlformats.org/drawingml/2006/table">
            <a:tbl>
              <a:tblPr firstRow="1" firstCol="1" bandRow="1">
                <a:tableStyleId>{7DF18680-E054-41AD-8BC1-D1AEF772440D}</a:tableStyleId>
              </a:tblPr>
              <a:tblGrid>
                <a:gridCol w="1338653">
                  <a:extLst>
                    <a:ext uri="{9D8B030D-6E8A-4147-A177-3AD203B41FA5}">
                      <a16:colId xmlns:a16="http://schemas.microsoft.com/office/drawing/2014/main" val="20000"/>
                    </a:ext>
                  </a:extLst>
                </a:gridCol>
                <a:gridCol w="4909615">
                  <a:extLst>
                    <a:ext uri="{9D8B030D-6E8A-4147-A177-3AD203B41FA5}">
                      <a16:colId xmlns:a16="http://schemas.microsoft.com/office/drawing/2014/main" val="20001"/>
                    </a:ext>
                  </a:extLst>
                </a:gridCol>
              </a:tblGrid>
              <a:tr h="439013">
                <a:tc>
                  <a:txBody>
                    <a:bodyPr/>
                    <a:lstStyle/>
                    <a:p>
                      <a:pPr indent="0" algn="ctr" latinLnBrk="0" hangingPunct="0">
                        <a:lnSpc>
                          <a:spcPct val="150000"/>
                        </a:lnSpc>
                        <a:spcBef>
                          <a:spcPts val="300"/>
                        </a:spcBef>
                        <a:spcAft>
                          <a:spcPts val="300"/>
                        </a:spcAft>
                      </a:pP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特征类型</a:t>
                      </a: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solidFill>
                      <a:srgbClr val="3E762A"/>
                    </a:solidFill>
                  </a:tcPr>
                </a:tc>
                <a:tc>
                  <a:txBody>
                    <a:bodyPr/>
                    <a:lstStyle/>
                    <a:p>
                      <a:pPr indent="0" algn="ctr" latinLnBrk="0" hangingPunct="0">
                        <a:lnSpc>
                          <a:spcPct val="150000"/>
                        </a:lnSpc>
                        <a:spcBef>
                          <a:spcPts val="300"/>
                        </a:spcBef>
                        <a:spcAft>
                          <a:spcPts val="300"/>
                        </a:spcAft>
                      </a:pPr>
                      <a:r>
                        <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入选特征</a:t>
                      </a:r>
                    </a:p>
                  </a:txBody>
                  <a:tcPr marL="68580" marR="68580" marT="0" marB="0">
                    <a:solidFill>
                      <a:srgbClr val="3E762A"/>
                    </a:solidFill>
                  </a:tcPr>
                </a:tc>
                <a:extLst>
                  <a:ext uri="{0D108BD9-81ED-4DB2-BD59-A6C34878D82A}">
                    <a16:rowId xmlns:a16="http://schemas.microsoft.com/office/drawing/2014/main" val="10000"/>
                  </a:ext>
                </a:extLst>
              </a:tr>
              <a:tr h="914362">
                <a:tc>
                  <a:txBody>
                    <a:bodyPr/>
                    <a:lstStyle/>
                    <a:p>
                      <a:pPr indent="0" algn="ctr" latinLnBrk="0" hangingPunct="0">
                        <a:lnSpc>
                          <a:spcPct val="150000"/>
                        </a:lnSpc>
                        <a:spcBef>
                          <a:spcPts val="300"/>
                        </a:spcBef>
                        <a:spcAft>
                          <a:spcPts val="300"/>
                        </a:spcAft>
                      </a:pPr>
                      <a:r>
                        <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Clinical</a:t>
                      </a:r>
                    </a:p>
                    <a:p>
                      <a:pPr indent="0" algn="ctr" latinLnBrk="0" hangingPunct="0">
                        <a:lnSpc>
                          <a:spcPct val="150000"/>
                        </a:lnSpc>
                        <a:spcBef>
                          <a:spcPts val="300"/>
                        </a:spcBef>
                        <a:spcAft>
                          <a:spcPts val="300"/>
                        </a:spcAft>
                      </a:pP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600" kern="100">
                          <a:effectLst/>
                          <a:latin typeface="Times New Roman" panose="02020503050405090304" pitchFamily="18" charset="0"/>
                          <a:ea typeface="Microsoft YaHei UI" panose="020B0503020204020204" pitchFamily="34" charset="-122"/>
                          <a:cs typeface="Times New Roman" panose="02020503050405090304" pitchFamily="18" charset="0"/>
                        </a:rPr>
                        <a:t>13/33</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a:t>
                      </a: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3E762A"/>
                    </a:solidFill>
                  </a:tcPr>
                </a:tc>
                <a:tc>
                  <a:txBody>
                    <a:bodyPr/>
                    <a:lstStyle/>
                    <a:p>
                      <a:pPr indent="0" algn="just" latinLnBrk="0" hangingPunct="0">
                        <a:lnSpc>
                          <a:spcPct val="100000"/>
                        </a:lnSpc>
                        <a:spcBef>
                          <a:spcPts val="300"/>
                        </a:spcBef>
                        <a:spcAft>
                          <a:spcPts val="300"/>
                        </a:spcAft>
                      </a:pP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marL="0" marR="0" indent="0" algn="just" defTabSz="914400" rtl="0" eaLnBrk="1" fontAlgn="auto" latinLnBrk="0" hangingPunct="0">
                        <a:lnSpc>
                          <a:spcPct val="150000"/>
                        </a:lnSpc>
                        <a:spcBef>
                          <a:spcPts val="0"/>
                        </a:spcBef>
                        <a:spcAft>
                          <a:spcPts val="0"/>
                        </a:spcAft>
                        <a:buClrTx/>
                        <a:buSzTx/>
                        <a:buFontTx/>
                        <a:buNone/>
                        <a:defRPr/>
                      </a:pP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年龄，</a:t>
                      </a:r>
                      <a:r>
                        <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BMI，</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治疗分类，乏力，肿瘤，贫血，基线病原学结果，</a:t>
                      </a: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月末病原学结果，空洞，胸腔积液，胸膜病变，药物敏感结核病，耐多药结核病 </a:t>
                      </a: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indent="0" algn="just" latinLnBrk="0" hangingPunct="0">
                        <a:lnSpc>
                          <a:spcPct val="100000"/>
                        </a:lnSpc>
                        <a:spcBef>
                          <a:spcPts val="300"/>
                        </a:spcBef>
                        <a:spcAft>
                          <a:spcPts val="300"/>
                        </a:spcAft>
                      </a:pP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D2E0CE"/>
                    </a:solidFill>
                  </a:tcPr>
                </a:tc>
                <a:extLst>
                  <a:ext uri="{0D108BD9-81ED-4DB2-BD59-A6C34878D82A}">
                    <a16:rowId xmlns:a16="http://schemas.microsoft.com/office/drawing/2014/main" val="10001"/>
                  </a:ext>
                </a:extLst>
              </a:tr>
              <a:tr h="596911">
                <a:tc>
                  <a:txBody>
                    <a:bodyPr/>
                    <a:lstStyle/>
                    <a:p>
                      <a:pPr indent="0" algn="ctr" latinLnBrk="0" hangingPunct="0">
                        <a:lnSpc>
                          <a:spcPct val="150000"/>
                        </a:lnSpc>
                        <a:spcBef>
                          <a:spcPts val="300"/>
                        </a:spcBef>
                        <a:spcAft>
                          <a:spcPts val="300"/>
                        </a:spcAft>
                      </a:pPr>
                      <a:r>
                        <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Inflammation</a:t>
                      </a:r>
                    </a:p>
                    <a:p>
                      <a:pPr indent="0" algn="ctr" latinLnBrk="0" hangingPunct="0">
                        <a:lnSpc>
                          <a:spcPct val="150000"/>
                        </a:lnSpc>
                        <a:spcBef>
                          <a:spcPts val="300"/>
                        </a:spcBef>
                        <a:spcAft>
                          <a:spcPts val="300"/>
                        </a:spcAft>
                      </a:pP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12/12</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a:t>
                      </a: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3E762A"/>
                    </a:solidFill>
                  </a:tcPr>
                </a:tc>
                <a:tc>
                  <a:txBody>
                    <a:bodyPr/>
                    <a:lstStyle/>
                    <a:p>
                      <a:pPr indent="0" algn="just" latinLnBrk="0" hangingPunct="0">
                        <a:lnSpc>
                          <a:spcPct val="200000"/>
                        </a:lnSpc>
                        <a:spcBef>
                          <a:spcPts val="300"/>
                        </a:spcBef>
                        <a:spcAft>
                          <a:spcPts val="300"/>
                        </a:spcAft>
                      </a:pP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marL="0" marR="0" indent="0" algn="just" defTabSz="914400" rtl="0" eaLnBrk="1" fontAlgn="auto" latinLnBrk="0" hangingPunct="0">
                        <a:lnSpc>
                          <a:spcPct val="150000"/>
                        </a:lnSpc>
                        <a:spcBef>
                          <a:spcPts val="0"/>
                        </a:spcBef>
                        <a:spcAft>
                          <a:spcPts val="0"/>
                        </a:spcAft>
                        <a:buClrTx/>
                        <a:buSzTx/>
                        <a:buFontTx/>
                        <a:buNone/>
                        <a:defRPr/>
                      </a:pPr>
                      <a:r>
                        <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CAR, CLR, </a:t>
                      </a:r>
                      <a:r>
                        <a:rPr lang="en-US" sz="1600" kern="100" dirty="0" err="1">
                          <a:effectLst/>
                          <a:latin typeface="Times New Roman" panose="02020503050405090304" pitchFamily="18" charset="0"/>
                          <a:ea typeface="Microsoft YaHei UI" panose="020B0503020204020204" pitchFamily="34" charset="-122"/>
                          <a:cs typeface="Times New Roman" panose="02020503050405090304" pitchFamily="18" charset="0"/>
                        </a:rPr>
                        <a:t>dNLR</a:t>
                      </a:r>
                      <a:r>
                        <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 ELR, EMR, ENR, MLR, NLR, PLR, PNI, SII, SIRI </a:t>
                      </a:r>
                    </a:p>
                    <a:p>
                      <a:pPr indent="0" algn="just" latinLnBrk="0" hangingPunct="0">
                        <a:lnSpc>
                          <a:spcPct val="200000"/>
                        </a:lnSpc>
                        <a:spcBef>
                          <a:spcPts val="300"/>
                        </a:spcBef>
                        <a:spcAft>
                          <a:spcPts val="300"/>
                        </a:spcAft>
                      </a:pP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tc>
                <a:extLst>
                  <a:ext uri="{0D108BD9-81ED-4DB2-BD59-A6C34878D82A}">
                    <a16:rowId xmlns:a16="http://schemas.microsoft.com/office/drawing/2014/main" val="10002"/>
                  </a:ext>
                </a:extLst>
              </a:tr>
              <a:tr h="914362">
                <a:tc>
                  <a:txBody>
                    <a:bodyPr/>
                    <a:lstStyle/>
                    <a:p>
                      <a:pPr indent="0" algn="ctr" latinLnBrk="0" hangingPunct="0">
                        <a:lnSpc>
                          <a:spcPct val="150000"/>
                        </a:lnSpc>
                        <a:spcBef>
                          <a:spcPts val="300"/>
                        </a:spcBef>
                        <a:spcAft>
                          <a:spcPts val="300"/>
                        </a:spcAft>
                      </a:pPr>
                      <a:r>
                        <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Combine</a:t>
                      </a:r>
                    </a:p>
                    <a:p>
                      <a:pPr indent="0" algn="ctr" latinLnBrk="0" hangingPunct="0">
                        <a:lnSpc>
                          <a:spcPct val="150000"/>
                        </a:lnSpc>
                        <a:spcBef>
                          <a:spcPts val="300"/>
                        </a:spcBef>
                        <a:spcAft>
                          <a:spcPts val="300"/>
                        </a:spcAft>
                      </a:pP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20/45</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a:t>
                      </a: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3E762A"/>
                    </a:solidFill>
                  </a:tcPr>
                </a:tc>
                <a:tc>
                  <a:txBody>
                    <a:bodyPr/>
                    <a:lstStyle/>
                    <a:p>
                      <a:pPr indent="0" algn="just" latinLnBrk="0" hangingPunct="0">
                        <a:lnSpc>
                          <a:spcPct val="100000"/>
                        </a:lnSpc>
                        <a:spcBef>
                          <a:spcPts val="0"/>
                        </a:spcBef>
                        <a:spcAft>
                          <a:spcPts val="0"/>
                        </a:spcAft>
                      </a:pP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marL="0" marR="0" indent="0" algn="just" defTabSz="914400" rtl="0" eaLnBrk="1" fontAlgn="auto" latinLnBrk="0" hangingPunct="0">
                        <a:lnSpc>
                          <a:spcPct val="150000"/>
                        </a:lnSpc>
                        <a:spcBef>
                          <a:spcPts val="0"/>
                        </a:spcBef>
                        <a:spcAft>
                          <a:spcPts val="0"/>
                        </a:spcAft>
                        <a:buClrTx/>
                        <a:buSzTx/>
                        <a:buFontTx/>
                        <a:buNone/>
                        <a:defRPr/>
                      </a:pP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年龄，治疗分类，乏力，肿瘤，贫血，</a:t>
                      </a: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月末病原学结果，空洞，胸膜病变，药物敏感结核病，耐多药结核病，</a:t>
                      </a:r>
                      <a:r>
                        <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CAR, CLR, </a:t>
                      </a:r>
                      <a:r>
                        <a:rPr lang="en-US" sz="1600" kern="100" dirty="0" err="1">
                          <a:effectLst/>
                          <a:latin typeface="Times New Roman" panose="02020503050405090304" pitchFamily="18" charset="0"/>
                          <a:ea typeface="Microsoft YaHei UI" panose="020B0503020204020204" pitchFamily="34" charset="-122"/>
                          <a:cs typeface="Times New Roman" panose="02020503050405090304" pitchFamily="18" charset="0"/>
                        </a:rPr>
                        <a:t>dNLR</a:t>
                      </a:r>
                      <a:r>
                        <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 EMR, ENR, NLR, PLR, PNI, SII, SIRI </a:t>
                      </a:r>
                    </a:p>
                    <a:p>
                      <a:pPr indent="0" algn="just" latinLnBrk="0" hangingPunct="0">
                        <a:lnSpc>
                          <a:spcPct val="100000"/>
                        </a:lnSpc>
                        <a:spcBef>
                          <a:spcPts val="0"/>
                        </a:spcBef>
                        <a:spcAft>
                          <a:spcPts val="0"/>
                        </a:spcAft>
                      </a:pP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D2E0CE"/>
                    </a:solidFill>
                  </a:tcPr>
                </a:tc>
                <a:extLst>
                  <a:ext uri="{0D108BD9-81ED-4DB2-BD59-A6C34878D82A}">
                    <a16:rowId xmlns:a16="http://schemas.microsoft.com/office/drawing/2014/main" val="10003"/>
                  </a:ext>
                </a:extLst>
              </a:tr>
            </a:tbl>
          </a:graphicData>
        </a:graphic>
      </p:graphicFrame>
      <p:grpSp>
        <p:nvGrpSpPr>
          <p:cNvPr id="12" name="组合 11"/>
          <p:cNvGrpSpPr/>
          <p:nvPr/>
        </p:nvGrpSpPr>
        <p:grpSpPr>
          <a:xfrm>
            <a:off x="422910" y="1161304"/>
            <a:ext cx="5255588" cy="5653636"/>
            <a:chOff x="422910" y="1147016"/>
            <a:chExt cx="5255588" cy="5653636"/>
          </a:xfrm>
        </p:grpSpPr>
        <p:pic>
          <p:nvPicPr>
            <p:cNvPr id="5" name="图片 4"/>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22911" y="1147016"/>
              <a:ext cx="5255587" cy="5335728"/>
            </a:xfrm>
            <a:prstGeom prst="rect">
              <a:avLst/>
            </a:prstGeom>
          </p:spPr>
        </p:pic>
        <p:sp>
          <p:nvSpPr>
            <p:cNvPr id="11" name="文本框 10"/>
            <p:cNvSpPr txBox="1"/>
            <p:nvPr/>
          </p:nvSpPr>
          <p:spPr>
            <a:xfrm>
              <a:off x="422910" y="6492875"/>
              <a:ext cx="5255587"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3-1 </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Lasso</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回归系数路径图与正则化路径图  </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3" name="TextBox 9"/>
          <p:cNvSpPr txBox="1"/>
          <p:nvPr/>
        </p:nvSpPr>
        <p:spPr>
          <a:xfrm>
            <a:off x="204292" y="692708"/>
            <a:ext cx="1600217"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特征工程</a:t>
            </a:r>
          </a:p>
        </p:txBody>
      </p:sp>
      <p:grpSp>
        <p:nvGrpSpPr>
          <p:cNvPr id="2" name="组合 1"/>
          <p:cNvGrpSpPr/>
          <p:nvPr/>
        </p:nvGrpSpPr>
        <p:grpSpPr>
          <a:xfrm>
            <a:off x="-80276" y="-309462"/>
            <a:ext cx="12272277" cy="991435"/>
            <a:chOff x="-80276" y="-309462"/>
            <a:chExt cx="12272277" cy="991435"/>
          </a:xfrm>
        </p:grpSpPr>
        <p:sp>
          <p:nvSpPr>
            <p:cNvPr id="6"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7" name="组合 6"/>
            <p:cNvGrpSpPr/>
            <p:nvPr/>
          </p:nvGrpSpPr>
          <p:grpSpPr>
            <a:xfrm>
              <a:off x="6743677" y="-30118"/>
              <a:ext cx="2576999" cy="581449"/>
              <a:chOff x="4826291" y="-31583"/>
              <a:chExt cx="2576999" cy="581449"/>
            </a:xfrm>
          </p:grpSpPr>
          <p:sp>
            <p:nvSpPr>
              <p:cNvPr id="15"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6"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研究结果</a:t>
                </a:r>
              </a:p>
            </p:txBody>
          </p:sp>
        </p:grpSp>
        <p:sp>
          <p:nvSpPr>
            <p:cNvPr id="9"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10"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13"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14"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25</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 name="TextBox 9"/>
          <p:cNvSpPr txBox="1"/>
          <p:nvPr/>
        </p:nvSpPr>
        <p:spPr>
          <a:xfrm>
            <a:off x="204292" y="692708"/>
            <a:ext cx="2622035"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参数调优</a:t>
            </a:r>
            <a:r>
              <a:rPr lang="en-US" altLang="zh-CN"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重采样</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113656" y="1228259"/>
            <a:ext cx="5589062" cy="4471249"/>
          </a:xfrm>
          <a:prstGeom prst="rect">
            <a:avLst/>
          </a:prstGeom>
        </p:spPr>
      </p:pic>
      <p:pic>
        <p:nvPicPr>
          <p:cNvPr id="6" name="图片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a:xfrm>
            <a:off x="5848946" y="1228192"/>
            <a:ext cx="6142115" cy="2456846"/>
          </a:xfrm>
          <a:prstGeom prst="rect">
            <a:avLst/>
          </a:prstGeom>
        </p:spPr>
      </p:pic>
      <p:sp>
        <p:nvSpPr>
          <p:cNvPr id="7" name="文本框 6"/>
          <p:cNvSpPr txBox="1"/>
          <p:nvPr/>
        </p:nvSpPr>
        <p:spPr>
          <a:xfrm>
            <a:off x="380498" y="5857515"/>
            <a:ext cx="5255587" cy="523220"/>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3-2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不同模型的</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SMOTE</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策略参数调优</a:t>
            </a:r>
          </a:p>
          <a:p>
            <a:pPr algn="ct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注：</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AB</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：随机森林参数调优；</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CD</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Catboost</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参数调优</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9" name="文本框 8"/>
          <p:cNvSpPr txBox="1"/>
          <p:nvPr/>
        </p:nvSpPr>
        <p:spPr>
          <a:xfrm>
            <a:off x="6292209" y="3787775"/>
            <a:ext cx="5255587" cy="523220"/>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3-3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不同模型的</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ENN</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参数调优</a:t>
            </a:r>
            <a:endPar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p>
            <a:pPr algn="ct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注：</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：随机森林参数调优；</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B</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Catboost</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参数调优</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zh-CN" altLang="en-US" sz="1400" b="0" i="0" u="none" strike="noStrike" kern="1200" cap="none" spc="0" normalizeH="0" baseline="0" noProof="0" dirty="0">
              <a:ln>
                <a:noFill/>
              </a:ln>
              <a:solidFill>
                <a:schemeClr val="bg1">
                  <a:lumMod val="50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aphicFrame>
        <p:nvGraphicFramePr>
          <p:cNvPr id="10" name="表格 9"/>
          <p:cNvGraphicFramePr>
            <a:graphicFrameLocks noGrp="1"/>
          </p:cNvGraphicFramePr>
          <p:nvPr/>
        </p:nvGraphicFramePr>
        <p:xfrm>
          <a:off x="6254804" y="4486007"/>
          <a:ext cx="5356350" cy="1633118"/>
        </p:xfrm>
        <a:graphic>
          <a:graphicData uri="http://schemas.openxmlformats.org/drawingml/2006/table">
            <a:tbl>
              <a:tblPr firstRow="1" firstCol="1" bandRow="1">
                <a:tableStyleId>{7DF18680-E054-41AD-8BC1-D1AEF772440D}</a:tableStyleId>
              </a:tblPr>
              <a:tblGrid>
                <a:gridCol w="956730">
                  <a:extLst>
                    <a:ext uri="{9D8B030D-6E8A-4147-A177-3AD203B41FA5}">
                      <a16:colId xmlns:a16="http://schemas.microsoft.com/office/drawing/2014/main" val="20000"/>
                    </a:ext>
                  </a:extLst>
                </a:gridCol>
                <a:gridCol w="1232452">
                  <a:extLst>
                    <a:ext uri="{9D8B030D-6E8A-4147-A177-3AD203B41FA5}">
                      <a16:colId xmlns:a16="http://schemas.microsoft.com/office/drawing/2014/main" val="20001"/>
                    </a:ext>
                  </a:extLst>
                </a:gridCol>
                <a:gridCol w="1918192">
                  <a:extLst>
                    <a:ext uri="{9D8B030D-6E8A-4147-A177-3AD203B41FA5}">
                      <a16:colId xmlns:a16="http://schemas.microsoft.com/office/drawing/2014/main" val="20002"/>
                    </a:ext>
                  </a:extLst>
                </a:gridCol>
                <a:gridCol w="1248976">
                  <a:extLst>
                    <a:ext uri="{9D8B030D-6E8A-4147-A177-3AD203B41FA5}">
                      <a16:colId xmlns:a16="http://schemas.microsoft.com/office/drawing/2014/main" val="20003"/>
                    </a:ext>
                  </a:extLst>
                </a:gridCol>
              </a:tblGrid>
              <a:tr h="266728">
                <a:tc rowSpan="2">
                  <a:txBody>
                    <a:bodyPr/>
                    <a:lstStyle/>
                    <a:p>
                      <a:pPr indent="0" algn="ctr" latinLnBrk="0" hangingPunct="0">
                        <a:lnSpc>
                          <a:spcPct val="150000"/>
                        </a:lnSpc>
                        <a:spcBef>
                          <a:spcPts val="300"/>
                        </a:spcBef>
                        <a:spcAft>
                          <a:spcPts val="300"/>
                        </a:spcAft>
                      </a:pP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模型</a:t>
                      </a: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3E762A"/>
                    </a:solidFill>
                  </a:tcPr>
                </a:tc>
                <a:tc gridSpan="3">
                  <a:txBody>
                    <a:bodyPr/>
                    <a:lstStyle/>
                    <a:p>
                      <a:pPr indent="0" algn="ctr" latinLnBrk="0" hangingPunct="0">
                        <a:lnSpc>
                          <a:spcPct val="150000"/>
                        </a:lnSpc>
                        <a:spcBef>
                          <a:spcPts val="300"/>
                        </a:spcBef>
                        <a:spcAft>
                          <a:spcPts val="300"/>
                        </a:spcAft>
                      </a:pP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最佳参数</a:t>
                      </a: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solidFill>
                      <a:srgbClr val="3E762A"/>
                    </a:solidFill>
                  </a:tcPr>
                </a:tc>
                <a:tc hMerge="1">
                  <a:txBody>
                    <a:bodyPr/>
                    <a:lstStyle/>
                    <a:p>
                      <a:endParaRPr lang="zh-CN"/>
                    </a:p>
                  </a:txBody>
                  <a:tcPr marL="68580" marR="68580" marT="0" marB="0">
                    <a:solidFill>
                      <a:srgbClr val="3E762A"/>
                    </a:solidFill>
                  </a:tcPr>
                </a:tc>
                <a:tc hMerge="1">
                  <a:txBody>
                    <a:bodyPr/>
                    <a:lstStyle/>
                    <a:p>
                      <a:endParaRPr lang="zh-CN"/>
                    </a:p>
                  </a:txBody>
                  <a:tcPr marL="68580" marR="68580" marT="0" marB="0">
                    <a:solidFill>
                      <a:srgbClr val="3E762A"/>
                    </a:solidFill>
                  </a:tcPr>
                </a:tc>
                <a:extLst>
                  <a:ext uri="{0D108BD9-81ED-4DB2-BD59-A6C34878D82A}">
                    <a16:rowId xmlns:a16="http://schemas.microsoft.com/office/drawing/2014/main" val="10000"/>
                  </a:ext>
                </a:extLst>
              </a:tr>
              <a:tr h="439013">
                <a:tc vMerge="1">
                  <a:txBody>
                    <a:bodyPr/>
                    <a:lstStyle/>
                    <a:p>
                      <a:endParaRPr lang="zh-CN"/>
                    </a:p>
                  </a:txBody>
                  <a:tcPr marL="68580" marR="68580" marT="0" marB="0">
                    <a:solidFill>
                      <a:srgbClr val="3E762A"/>
                    </a:solidFill>
                  </a:tcPr>
                </a:tc>
                <a:tc>
                  <a:txBody>
                    <a:bodyPr/>
                    <a:lstStyle/>
                    <a:p>
                      <a:pPr indent="0" algn="ctr" latinLnBrk="0" hangingPunct="0">
                        <a:lnSpc>
                          <a:spcPct val="150000"/>
                        </a:lnSpc>
                        <a:spcBef>
                          <a:spcPts val="300"/>
                        </a:spcBef>
                        <a:spcAft>
                          <a:spcPts val="300"/>
                        </a:spcAft>
                      </a:pPr>
                      <a:r>
                        <a:rPr lang="en-US" altLang="zh-CN" sz="1600" b="1" kern="100" dirty="0" err="1">
                          <a:solidFill>
                            <a:schemeClr val="bg1"/>
                          </a:solidFill>
                          <a:effectLst/>
                          <a:latin typeface="Times New Roman" panose="02020503050405090304" pitchFamily="18" charset="0"/>
                          <a:ea typeface="Microsoft YaHei UI" panose="020B0503020204020204" pitchFamily="34" charset="-122"/>
                          <a:cs typeface="Times New Roman" panose="02020503050405090304" pitchFamily="18" charset="0"/>
                        </a:rPr>
                        <a:t>k_neighbors</a:t>
                      </a:r>
                      <a:endParaRPr lang="zh-CN" sz="1600" b="1" kern="100" dirty="0">
                        <a:solidFill>
                          <a:schemeClr val="bg1"/>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solidFill>
                      <a:srgbClr val="3E762A"/>
                    </a:solidFill>
                  </a:tcPr>
                </a:tc>
                <a:tc>
                  <a:txBody>
                    <a:bodyPr/>
                    <a:lstStyle/>
                    <a:p>
                      <a:pPr indent="0" algn="ctr" latinLnBrk="0" hangingPunct="0">
                        <a:lnSpc>
                          <a:spcPct val="150000"/>
                        </a:lnSpc>
                        <a:spcBef>
                          <a:spcPts val="300"/>
                        </a:spcBef>
                        <a:spcAft>
                          <a:spcPts val="300"/>
                        </a:spcAft>
                      </a:pPr>
                      <a:r>
                        <a:rPr lang="en-US" altLang="zh-CN" sz="1600" b="1" kern="100" dirty="0" err="1">
                          <a:solidFill>
                            <a:schemeClr val="bg1"/>
                          </a:solidFill>
                          <a:effectLst/>
                          <a:latin typeface="Times New Roman" panose="02020503050405090304" pitchFamily="18" charset="0"/>
                          <a:ea typeface="Microsoft YaHei UI" panose="020B0503020204020204" pitchFamily="34" charset="-122"/>
                          <a:cs typeface="Times New Roman" panose="02020503050405090304" pitchFamily="18" charset="0"/>
                        </a:rPr>
                        <a:t>deformation_factor</a:t>
                      </a:r>
                      <a:endParaRPr lang="zh-CN" sz="1600" b="1" kern="100" dirty="0">
                        <a:solidFill>
                          <a:schemeClr val="bg1"/>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solidFill>
                      <a:srgbClr val="3E762A"/>
                    </a:solidFill>
                  </a:tcPr>
                </a:tc>
                <a:tc>
                  <a:txBody>
                    <a:bodyPr/>
                    <a:lstStyle/>
                    <a:p>
                      <a:pPr indent="0" algn="ctr" latinLnBrk="0" hangingPunct="0">
                        <a:lnSpc>
                          <a:spcPct val="150000"/>
                        </a:lnSpc>
                        <a:spcBef>
                          <a:spcPts val="300"/>
                        </a:spcBef>
                        <a:spcAft>
                          <a:spcPts val="300"/>
                        </a:spcAft>
                      </a:pPr>
                      <a:r>
                        <a:rPr lang="en-US" altLang="zh-CN" sz="1600" b="1" kern="100" dirty="0" err="1">
                          <a:solidFill>
                            <a:schemeClr val="bg1"/>
                          </a:solidFill>
                          <a:effectLst/>
                          <a:latin typeface="Times New Roman" panose="02020503050405090304" pitchFamily="18" charset="0"/>
                          <a:ea typeface="Microsoft YaHei UI" panose="020B0503020204020204" pitchFamily="34" charset="-122"/>
                          <a:cs typeface="Times New Roman" panose="02020503050405090304" pitchFamily="18" charset="0"/>
                        </a:rPr>
                        <a:t>n_neighbors</a:t>
                      </a:r>
                      <a:endParaRPr lang="zh-CN" sz="1600" b="1" kern="100" dirty="0">
                        <a:solidFill>
                          <a:schemeClr val="bg1"/>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solidFill>
                      <a:srgbClr val="3E762A"/>
                    </a:solidFill>
                  </a:tcPr>
                </a:tc>
                <a:extLst>
                  <a:ext uri="{0D108BD9-81ED-4DB2-BD59-A6C34878D82A}">
                    <a16:rowId xmlns:a16="http://schemas.microsoft.com/office/drawing/2014/main" val="10001"/>
                  </a:ext>
                </a:extLst>
              </a:tr>
              <a:tr h="442582">
                <a:tc>
                  <a:txBody>
                    <a:bodyPr/>
                    <a:lstStyle/>
                    <a:p>
                      <a:pPr indent="0" algn="ctr" latinLnBrk="0" hangingPunct="0">
                        <a:lnSpc>
                          <a:spcPct val="150000"/>
                        </a:lnSpc>
                        <a:spcBef>
                          <a:spcPts val="300"/>
                        </a:spcBef>
                        <a:spcAft>
                          <a:spcPts val="300"/>
                        </a:spcAft>
                      </a:pPr>
                      <a:r>
                        <a:rPr lang="en-US" sz="1600" kern="100" dirty="0" err="1">
                          <a:effectLst/>
                          <a:latin typeface="Times New Roman" panose="02020503050405090304" pitchFamily="18" charset="0"/>
                          <a:ea typeface="Microsoft YaHei UI" panose="020B0503020204020204" pitchFamily="34" charset="-122"/>
                          <a:cs typeface="Times New Roman" panose="02020503050405090304" pitchFamily="18" charset="0"/>
                        </a:rPr>
                        <a:t>随机森林</a:t>
                      </a: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3E762A"/>
                    </a:solidFill>
                  </a:tcPr>
                </a:tc>
                <a:tc>
                  <a:txBody>
                    <a:bodyPr/>
                    <a:lstStyle/>
                    <a:p>
                      <a:pPr indent="0" algn="ctr" latinLnBrk="0" hangingPunct="0">
                        <a:lnSpc>
                          <a:spcPct val="100000"/>
                        </a:lnSpc>
                        <a:spcBef>
                          <a:spcPts val="300"/>
                        </a:spcBef>
                        <a:spcAft>
                          <a:spcPts val="300"/>
                        </a:spcAft>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5</a:t>
                      </a:r>
                      <a:r>
                        <a:rPr lang="zh-CN" altLang="en-US" sz="10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0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3-2A</a:t>
                      </a:r>
                      <a:r>
                        <a:rPr lang="zh-CN" altLang="en-US" sz="10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a:t>
                      </a:r>
                      <a:endParaRPr lang="en-US" sz="16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D2E0CE"/>
                    </a:solidFill>
                  </a:tcPr>
                </a:tc>
                <a:tc>
                  <a:txBody>
                    <a:bodyPr/>
                    <a:lstStyle/>
                    <a:p>
                      <a:pPr marL="0" marR="0" indent="0" algn="ctr" defTabSz="914400" rtl="0" eaLnBrk="1" fontAlgn="auto" latinLnBrk="0" hangingPunct="0">
                        <a:lnSpc>
                          <a:spcPct val="150000"/>
                        </a:lnSpc>
                        <a:spcBef>
                          <a:spcPts val="0"/>
                        </a:spcBef>
                        <a:spcAft>
                          <a:spcPts val="0"/>
                        </a:spcAft>
                        <a:buClrTx/>
                        <a:buSzTx/>
                        <a:buFontTx/>
                        <a:buNone/>
                        <a:defRPr/>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0.083</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（图</a:t>
                      </a:r>
                      <a:r>
                        <a:rPr kumimoji="0" lang="en-US" altLang="zh-CN"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3-2B</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D2E0CE"/>
                    </a:solidFill>
                  </a:tcPr>
                </a:tc>
                <a:tc>
                  <a:txBody>
                    <a:bodyPr/>
                    <a:lstStyle/>
                    <a:p>
                      <a:pPr marL="0" marR="0" indent="0" algn="ctr" defTabSz="914400" rtl="0" eaLnBrk="1" fontAlgn="auto" latinLnBrk="0" hangingPunct="0">
                        <a:lnSpc>
                          <a:spcPct val="150000"/>
                        </a:lnSpc>
                        <a:spcBef>
                          <a:spcPts val="0"/>
                        </a:spcBef>
                        <a:spcAft>
                          <a:spcPts val="0"/>
                        </a:spcAft>
                        <a:buClrTx/>
                        <a:buSzTx/>
                        <a:buFontTx/>
                        <a:buNone/>
                        <a:defRPr/>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26</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（图</a:t>
                      </a:r>
                      <a:r>
                        <a:rPr kumimoji="0" lang="en-US" altLang="zh-CN"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3-3A</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D2E0CE"/>
                    </a:solidFill>
                  </a:tcPr>
                </a:tc>
                <a:extLst>
                  <a:ext uri="{0D108BD9-81ED-4DB2-BD59-A6C34878D82A}">
                    <a16:rowId xmlns:a16="http://schemas.microsoft.com/office/drawing/2014/main" val="10002"/>
                  </a:ext>
                </a:extLst>
              </a:tr>
              <a:tr h="428625">
                <a:tc>
                  <a:txBody>
                    <a:bodyPr/>
                    <a:lstStyle/>
                    <a:p>
                      <a:pPr indent="0" algn="ctr" latinLnBrk="0" hangingPunct="0">
                        <a:lnSpc>
                          <a:spcPct val="150000"/>
                        </a:lnSpc>
                        <a:spcBef>
                          <a:spcPts val="300"/>
                        </a:spcBef>
                        <a:spcAft>
                          <a:spcPts val="300"/>
                        </a:spcAft>
                      </a:pPr>
                      <a:r>
                        <a:rPr lang="en-US" sz="1600" kern="100" dirty="0" err="1">
                          <a:effectLst/>
                          <a:latin typeface="Times New Roman" panose="02020503050405090304" pitchFamily="18" charset="0"/>
                          <a:ea typeface="Microsoft YaHei UI" panose="020B0503020204020204" pitchFamily="34" charset="-122"/>
                          <a:cs typeface="Times New Roman" panose="02020503050405090304" pitchFamily="18" charset="0"/>
                        </a:rPr>
                        <a:t>Catboost</a:t>
                      </a: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rgbClr val="3E762A"/>
                    </a:solidFill>
                  </a:tcPr>
                </a:tc>
                <a:tc>
                  <a:txBody>
                    <a:bodyPr/>
                    <a:lstStyle/>
                    <a:p>
                      <a:pPr marL="0" marR="0" indent="0" algn="ctr" defTabSz="914400" rtl="0" eaLnBrk="1" fontAlgn="auto" latinLnBrk="0" hangingPunct="0">
                        <a:lnSpc>
                          <a:spcPct val="150000"/>
                        </a:lnSpc>
                        <a:spcBef>
                          <a:spcPts val="0"/>
                        </a:spcBef>
                        <a:spcAft>
                          <a:spcPts val="0"/>
                        </a:spcAft>
                        <a:buClrTx/>
                        <a:buSzTx/>
                        <a:buFontTx/>
                        <a:buNone/>
                        <a:defRPr/>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3</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（图</a:t>
                      </a:r>
                      <a:r>
                        <a:rPr kumimoji="0" lang="en-US" altLang="zh-CN"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3-2C</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chemeClr val="bg1"/>
                    </a:solidFill>
                  </a:tcPr>
                </a:tc>
                <a:tc>
                  <a:txBody>
                    <a:bodyPr/>
                    <a:lstStyle/>
                    <a:p>
                      <a:pPr marL="0" marR="0" indent="0" algn="ctr" defTabSz="914400" rtl="0" eaLnBrk="1" fontAlgn="auto" latinLnBrk="0" hangingPunct="0">
                        <a:lnSpc>
                          <a:spcPct val="150000"/>
                        </a:lnSpc>
                        <a:spcBef>
                          <a:spcPts val="0"/>
                        </a:spcBef>
                        <a:spcAft>
                          <a:spcPts val="0"/>
                        </a:spcAft>
                        <a:buClrTx/>
                        <a:buSzTx/>
                        <a:buFontTx/>
                        <a:buNone/>
                        <a:defRPr/>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0.788</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（图</a:t>
                      </a:r>
                      <a:r>
                        <a:rPr kumimoji="0" lang="en-US" altLang="zh-CN"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3-2D</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chemeClr val="bg1"/>
                    </a:solidFill>
                  </a:tcPr>
                </a:tc>
                <a:tc>
                  <a:txBody>
                    <a:bodyPr/>
                    <a:lstStyle/>
                    <a:p>
                      <a:pPr marL="0" marR="0" indent="0" algn="ctr" defTabSz="914400" rtl="0" eaLnBrk="1" fontAlgn="auto" latinLnBrk="0" hangingPunct="0">
                        <a:lnSpc>
                          <a:spcPct val="150000"/>
                        </a:lnSpc>
                        <a:spcBef>
                          <a:spcPts val="0"/>
                        </a:spcBef>
                        <a:spcAft>
                          <a:spcPts val="0"/>
                        </a:spcAft>
                        <a:buClrTx/>
                        <a:buSzTx/>
                        <a:buFontTx/>
                        <a:buNone/>
                        <a:defRPr/>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20</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（图</a:t>
                      </a:r>
                      <a:r>
                        <a:rPr kumimoji="0" lang="en-US" altLang="zh-CN"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3-3B</a:t>
                      </a:r>
                      <a:r>
                        <a:rPr kumimoji="0" lang="zh-CN" altLang="en-US" sz="1000" b="0" i="0" u="none" strike="noStrike" kern="100" cap="none" spc="0" normalizeH="0" baseline="0" noProof="0" dirty="0">
                          <a:ln>
                            <a:noFill/>
                          </a:ln>
                          <a:solidFill>
                            <a:prstClr val="white">
                              <a:lumMod val="50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solidFill>
                      <a:schemeClr val="bg1"/>
                    </a:solidFill>
                  </a:tcPr>
                </a:tc>
                <a:extLst>
                  <a:ext uri="{0D108BD9-81ED-4DB2-BD59-A6C34878D82A}">
                    <a16:rowId xmlns:a16="http://schemas.microsoft.com/office/drawing/2014/main" val="10003"/>
                  </a:ext>
                </a:extLst>
              </a:tr>
            </a:tbl>
          </a:graphicData>
        </a:graphic>
      </p:graphicFrame>
      <p:grpSp>
        <p:nvGrpSpPr>
          <p:cNvPr id="26" name="组合 25"/>
          <p:cNvGrpSpPr/>
          <p:nvPr/>
        </p:nvGrpSpPr>
        <p:grpSpPr>
          <a:xfrm>
            <a:off x="-80276" y="-309462"/>
            <a:ext cx="12272277" cy="991435"/>
            <a:chOff x="-80276" y="-309462"/>
            <a:chExt cx="12272277" cy="991435"/>
          </a:xfrm>
        </p:grpSpPr>
        <p:sp>
          <p:nvSpPr>
            <p:cNvPr id="27"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8" name="组合 27"/>
            <p:cNvGrpSpPr/>
            <p:nvPr/>
          </p:nvGrpSpPr>
          <p:grpSpPr>
            <a:xfrm>
              <a:off x="6743677" y="-30118"/>
              <a:ext cx="2576999" cy="581449"/>
              <a:chOff x="4826291" y="-31583"/>
              <a:chExt cx="2576999" cy="581449"/>
            </a:xfrm>
          </p:grpSpPr>
          <p:sp>
            <p:nvSpPr>
              <p:cNvPr id="33"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4"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研究结果</a:t>
                </a:r>
              </a:p>
            </p:txBody>
          </p:sp>
        </p:grpSp>
        <p:sp>
          <p:nvSpPr>
            <p:cNvPr id="29"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30" name="图片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31"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32"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26</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aphicFrame>
        <p:nvGraphicFramePr>
          <p:cNvPr id="8" name="表格 7"/>
          <p:cNvGraphicFramePr>
            <a:graphicFrameLocks noGrp="1"/>
          </p:cNvGraphicFramePr>
          <p:nvPr/>
        </p:nvGraphicFramePr>
        <p:xfrm>
          <a:off x="1299884" y="1204176"/>
          <a:ext cx="9582183" cy="4896000"/>
        </p:xfrm>
        <a:graphic>
          <a:graphicData uri="http://schemas.openxmlformats.org/drawingml/2006/table">
            <a:tbl>
              <a:tblPr firstRow="1" firstCol="1" bandRow="1"/>
              <a:tblGrid>
                <a:gridCol w="1682319">
                  <a:extLst>
                    <a:ext uri="{9D8B030D-6E8A-4147-A177-3AD203B41FA5}">
                      <a16:colId xmlns:a16="http://schemas.microsoft.com/office/drawing/2014/main" val="20000"/>
                    </a:ext>
                  </a:extLst>
                </a:gridCol>
                <a:gridCol w="3851480">
                  <a:extLst>
                    <a:ext uri="{9D8B030D-6E8A-4147-A177-3AD203B41FA5}">
                      <a16:colId xmlns:a16="http://schemas.microsoft.com/office/drawing/2014/main" val="20001"/>
                    </a:ext>
                  </a:extLst>
                </a:gridCol>
                <a:gridCol w="4048384">
                  <a:extLst>
                    <a:ext uri="{9D8B030D-6E8A-4147-A177-3AD203B41FA5}">
                      <a16:colId xmlns:a16="http://schemas.microsoft.com/office/drawing/2014/main" val="20002"/>
                    </a:ext>
                  </a:extLst>
                </a:gridCol>
              </a:tblGrid>
              <a:tr h="288000">
                <a:tc>
                  <a:txBody>
                    <a:bodyPr/>
                    <a:lstStyle/>
                    <a:p>
                      <a:endParaRPr lang="zh-CN" sz="1600" dirty="0">
                        <a:effectLst/>
                        <a:latin typeface="Times New Roman" panose="02020503050405090304" pitchFamily="18" charset="0"/>
                      </a:endParaRPr>
                    </a:p>
                  </a:txBody>
                  <a:tcPr marL="43573" marR="435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latinLnBrk="0">
                        <a:lnSpc>
                          <a:spcPct val="100000"/>
                        </a:lnSpc>
                        <a:spcBef>
                          <a:spcPts val="300"/>
                        </a:spcBef>
                        <a:spcAft>
                          <a:spcPts val="300"/>
                        </a:spcAft>
                      </a:pPr>
                      <a:r>
                        <a:rPr lang="zh-CN" sz="1600" b="1" kern="100" dirty="0">
                          <a:effectLst/>
                          <a:latin typeface="Times New Roman" panose="02020503050405090304" pitchFamily="18" charset="0"/>
                          <a:ea typeface="宋体" pitchFamily="2" charset="-122"/>
                        </a:rPr>
                        <a:t>随机森林</a:t>
                      </a:r>
                      <a:r>
                        <a:rPr lang="en-US" sz="1600" b="1" kern="100" baseline="30000" dirty="0">
                          <a:effectLst/>
                          <a:latin typeface="Times New Roman" panose="02020503050405090304" pitchFamily="18" charset="0"/>
                          <a:ea typeface="宋体" pitchFamily="2" charset="-122"/>
                        </a:rPr>
                        <a:t>*</a:t>
                      </a:r>
                      <a:endParaRPr lang="zh-CN" sz="1600" b="1" kern="100" dirty="0">
                        <a:effectLst/>
                        <a:latin typeface="Times New Roman" panose="02020503050405090304" pitchFamily="18" charset="0"/>
                        <a:ea typeface="宋体" pitchFamily="2" charset="-122"/>
                      </a:endParaRPr>
                    </a:p>
                  </a:txBody>
                  <a:tcPr marL="43573" marR="435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indent="127000" algn="ctr" latinLnBrk="0">
                        <a:lnSpc>
                          <a:spcPct val="100000"/>
                        </a:lnSpc>
                        <a:spcBef>
                          <a:spcPts val="300"/>
                        </a:spcBef>
                        <a:spcAft>
                          <a:spcPts val="300"/>
                        </a:spcAft>
                      </a:pPr>
                      <a:r>
                        <a:rPr lang="en-US" sz="1600" b="1" kern="100" dirty="0" err="1">
                          <a:effectLst/>
                          <a:latin typeface="Times New Roman" panose="02020503050405090304" pitchFamily="18" charset="0"/>
                          <a:ea typeface="宋体" pitchFamily="2" charset="-122"/>
                        </a:rPr>
                        <a:t>Catboost</a:t>
                      </a:r>
                      <a:r>
                        <a:rPr lang="en-US" sz="1600" b="1" kern="100" baseline="30000" dirty="0">
                          <a:effectLst/>
                          <a:latin typeface="Times New Roman" panose="02020503050405090304" pitchFamily="18" charset="0"/>
                          <a:ea typeface="宋体" pitchFamily="2" charset="-122"/>
                        </a:rPr>
                        <a:t>#</a:t>
                      </a:r>
                      <a:endParaRPr lang="zh-CN" sz="1600" b="1" kern="100" dirty="0">
                        <a:effectLst/>
                        <a:latin typeface="Times New Roman" panose="02020503050405090304" pitchFamily="18" charset="0"/>
                        <a:ea typeface="宋体" pitchFamily="2" charset="-122"/>
                      </a:endParaRPr>
                    </a:p>
                  </a:txBody>
                  <a:tcPr marL="43573" marR="43573"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00"/>
                  </a:ext>
                </a:extLst>
              </a:tr>
              <a:tr h="288000">
                <a:tc>
                  <a:txBody>
                    <a:bodyPr/>
                    <a:lstStyle/>
                    <a:p>
                      <a:pPr indent="127000" latinLnBrk="0">
                        <a:lnSpc>
                          <a:spcPct val="100000"/>
                        </a:lnSpc>
                        <a:spcBef>
                          <a:spcPts val="300"/>
                        </a:spcBef>
                        <a:spcAft>
                          <a:spcPts val="300"/>
                        </a:spcAft>
                      </a:pPr>
                      <a:r>
                        <a:rPr lang="en-US" sz="1600" b="1" kern="100" dirty="0">
                          <a:effectLst/>
                          <a:latin typeface="Times New Roman" panose="02020503050405090304" pitchFamily="18" charset="0"/>
                          <a:ea typeface="宋体" pitchFamily="2" charset="-122"/>
                        </a:rPr>
                        <a:t>Raw</a:t>
                      </a:r>
                      <a:endParaRPr lang="zh-CN" sz="1600" b="1" kern="100" dirty="0">
                        <a:effectLst/>
                        <a:latin typeface="Times New Roman" panose="02020503050405090304" pitchFamily="18" charset="0"/>
                        <a:ea typeface="宋体" pitchFamily="2" charset="-122"/>
                      </a:endParaRPr>
                    </a:p>
                  </a:txBody>
                  <a:tcPr marL="43573" marR="43573"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lnSpc>
                          <a:spcPct val="100000"/>
                        </a:lnSpc>
                      </a:pPr>
                      <a:endParaRPr lang="zh-CN" sz="1600" dirty="0">
                        <a:effectLst/>
                        <a:latin typeface="Times New Roman" panose="02020503050405090304" pitchFamily="18" charset="0"/>
                      </a:endParaRPr>
                    </a:p>
                  </a:txBody>
                  <a:tcPr marL="43573" marR="43573" marT="0" marB="0" anchor="ctr">
                    <a:lnL>
                      <a:noFill/>
                    </a:lnL>
                    <a:lnR>
                      <a:noFill/>
                    </a:lnR>
                    <a:lnT w="12700" cap="flat" cmpd="sng" algn="ctr">
                      <a:solidFill>
                        <a:srgbClr val="000000"/>
                      </a:solidFill>
                      <a:prstDash val="solid"/>
                      <a:round/>
                      <a:headEnd type="none" w="med" len="med"/>
                      <a:tailEnd type="none" w="med" len="med"/>
                    </a:lnT>
                    <a:lnB>
                      <a:noFill/>
                    </a:lnB>
                    <a:noFill/>
                  </a:tcPr>
                </a:tc>
                <a:tc>
                  <a:txBody>
                    <a:bodyPr/>
                    <a:lstStyle/>
                    <a:p>
                      <a:pPr algn="ctr">
                        <a:lnSpc>
                          <a:spcPct val="100000"/>
                        </a:lnSpc>
                      </a:pPr>
                      <a:endParaRPr lang="zh-CN" sz="1600" dirty="0">
                        <a:effectLst/>
                        <a:latin typeface="Times New Roman" panose="02020503050405090304" pitchFamily="18" charset="0"/>
                      </a:endParaRPr>
                    </a:p>
                  </a:txBody>
                  <a:tcPr marL="43573" marR="43573" marT="0" marB="0" anchor="ctr">
                    <a:lnL>
                      <a:noFill/>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0001"/>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Clinical</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(1085, 103, 29.005, 36.634, 0.226)</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a:effectLst/>
                          <a:latin typeface="Times New Roman" panose="02020503050405090304" pitchFamily="18" charset="0"/>
                          <a:ea typeface="宋体" pitchFamily="2" charset="-122"/>
                        </a:rPr>
                        <a:t>(116, 2, 0.12, 0.802, 0.302, 2.408)</a:t>
                      </a:r>
                      <a:endParaRPr lang="zh-CN" sz="1600" kern="10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02"/>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Inflammation</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(467, 118, 2.038, 7.017, 0.143)</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(457, 15, 0.01, 0.6, 0.2, 1)</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03"/>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Combine</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(1205, 60, 7.395, 14.238, 0.452)</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(161, 3, 0.088, 0.761, 0.931, 1.439)</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04"/>
                  </a:ext>
                </a:extLst>
              </a:tr>
              <a:tr h="288000">
                <a:tc>
                  <a:txBody>
                    <a:bodyPr/>
                    <a:lstStyle/>
                    <a:p>
                      <a:pPr indent="127000" latinLnBrk="0">
                        <a:lnSpc>
                          <a:spcPct val="100000"/>
                        </a:lnSpc>
                        <a:spcBef>
                          <a:spcPts val="300"/>
                        </a:spcBef>
                        <a:spcAft>
                          <a:spcPts val="300"/>
                        </a:spcAft>
                      </a:pPr>
                      <a:r>
                        <a:rPr lang="en-US" sz="1600" b="1" kern="100" dirty="0" err="1">
                          <a:effectLst/>
                          <a:latin typeface="Times New Roman" panose="02020503050405090304" pitchFamily="18" charset="0"/>
                          <a:ea typeface="宋体" pitchFamily="2" charset="-122"/>
                        </a:rPr>
                        <a:t>Kmeans</a:t>
                      </a:r>
                      <a:endParaRPr lang="zh-CN" sz="1600" b="1"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algn="ctr">
                        <a:lnSpc>
                          <a:spcPct val="100000"/>
                        </a:lnSpc>
                      </a:pPr>
                      <a:endParaRPr lang="zh-CN" sz="1600" dirty="0">
                        <a:effectLst/>
                        <a:latin typeface="Times New Roman" panose="02020503050405090304" pitchFamily="18" charset="0"/>
                      </a:endParaRPr>
                    </a:p>
                  </a:txBody>
                  <a:tcPr marL="43573" marR="43573" marT="0" marB="0" anchor="ctr">
                    <a:lnL>
                      <a:noFill/>
                    </a:lnL>
                    <a:lnR>
                      <a:noFill/>
                    </a:lnR>
                    <a:lnT>
                      <a:noFill/>
                    </a:lnT>
                    <a:lnB>
                      <a:noFill/>
                    </a:lnB>
                    <a:noFill/>
                  </a:tcPr>
                </a:tc>
                <a:tc>
                  <a:txBody>
                    <a:bodyPr/>
                    <a:lstStyle/>
                    <a:p>
                      <a:pPr algn="ctr">
                        <a:lnSpc>
                          <a:spcPct val="100000"/>
                        </a:lnSpc>
                      </a:pPr>
                      <a:endParaRPr lang="zh-CN" sz="1600" dirty="0">
                        <a:effectLst/>
                        <a:latin typeface="Times New Roman" panose="02020503050405090304" pitchFamily="18" charset="0"/>
                      </a:endParaRPr>
                    </a:p>
                  </a:txBody>
                  <a:tcPr marL="43573" marR="43573" marT="0" marB="0" anchor="ctr">
                    <a:lnL>
                      <a:noFill/>
                    </a:lnL>
                    <a:lnR>
                      <a:noFill/>
                    </a:lnR>
                    <a:lnT>
                      <a:noFill/>
                    </a:lnT>
                    <a:lnB>
                      <a:noFill/>
                    </a:lnB>
                    <a:noFill/>
                  </a:tcPr>
                </a:tc>
                <a:extLst>
                  <a:ext uri="{0D108BD9-81ED-4DB2-BD59-A6C34878D82A}">
                    <a16:rowId xmlns:a16="http://schemas.microsoft.com/office/drawing/2014/main" val="10005"/>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Clinical</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(634, 103, 29.114, 32.682, 0.995)</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(428, 12, 0.122, 0.747, 0.829, 22.61)</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06"/>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Inflammation</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(1412, 32, 7.777, 49.056, 0.244)</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(485, 2, 0.2, 0.826, 1, 25.786)</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07"/>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Combine</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(1590, 35, 7.9, 45.787, 0.191)</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(474, 3, 0.072, 0.915, 0.41, 28.605)</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08"/>
                  </a:ext>
                </a:extLst>
              </a:tr>
              <a:tr h="288000">
                <a:tc>
                  <a:txBody>
                    <a:bodyPr/>
                    <a:lstStyle/>
                    <a:p>
                      <a:pPr indent="127000" latinLnBrk="0">
                        <a:lnSpc>
                          <a:spcPct val="100000"/>
                        </a:lnSpc>
                        <a:spcBef>
                          <a:spcPts val="300"/>
                        </a:spcBef>
                        <a:spcAft>
                          <a:spcPts val="300"/>
                        </a:spcAft>
                      </a:pPr>
                      <a:r>
                        <a:rPr lang="en-US" sz="1600" b="1" kern="100" dirty="0">
                          <a:effectLst/>
                          <a:latin typeface="Times New Roman" panose="02020503050405090304" pitchFamily="18" charset="0"/>
                          <a:ea typeface="宋体" pitchFamily="2" charset="-122"/>
                        </a:rPr>
                        <a:t>SMOTE</a:t>
                      </a:r>
                      <a:endParaRPr lang="zh-CN" sz="1600" b="1"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algn="ctr">
                        <a:lnSpc>
                          <a:spcPct val="100000"/>
                        </a:lnSpc>
                      </a:pPr>
                      <a:endParaRPr lang="zh-CN" sz="1600" dirty="0">
                        <a:effectLst/>
                        <a:latin typeface="Times New Roman" panose="02020503050405090304" pitchFamily="18" charset="0"/>
                      </a:endParaRPr>
                    </a:p>
                  </a:txBody>
                  <a:tcPr marL="43573" marR="43573" marT="0" marB="0" anchor="ctr">
                    <a:lnL>
                      <a:noFill/>
                    </a:lnL>
                    <a:lnR>
                      <a:noFill/>
                    </a:lnR>
                    <a:lnT>
                      <a:noFill/>
                    </a:lnT>
                    <a:lnB>
                      <a:noFill/>
                    </a:lnB>
                    <a:noFill/>
                  </a:tcPr>
                </a:tc>
                <a:tc>
                  <a:txBody>
                    <a:bodyPr/>
                    <a:lstStyle/>
                    <a:p>
                      <a:pPr algn="ctr">
                        <a:lnSpc>
                          <a:spcPct val="100000"/>
                        </a:lnSpc>
                      </a:pPr>
                      <a:endParaRPr lang="zh-CN" sz="1600" dirty="0">
                        <a:effectLst/>
                        <a:latin typeface="Times New Roman" panose="02020503050405090304" pitchFamily="18" charset="0"/>
                      </a:endParaRPr>
                    </a:p>
                  </a:txBody>
                  <a:tcPr marL="43573" marR="43573" marT="0" marB="0" anchor="ctr">
                    <a:lnL>
                      <a:noFill/>
                    </a:lnL>
                    <a:lnR>
                      <a:noFill/>
                    </a:lnR>
                    <a:lnT>
                      <a:noFill/>
                    </a:lnT>
                    <a:lnB>
                      <a:noFill/>
                    </a:lnB>
                    <a:noFill/>
                  </a:tcPr>
                </a:tc>
                <a:extLst>
                  <a:ext uri="{0D108BD9-81ED-4DB2-BD59-A6C34878D82A}">
                    <a16:rowId xmlns:a16="http://schemas.microsoft.com/office/drawing/2014/main" val="10009"/>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Clinical</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(209, 3, 1.639, 17.433, 0.921)</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(160, 2, 0.01, 1, 0.2, 2.023)</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10"/>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Inflammation</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(1225, 82, 12.253, 20.485, 0.116)</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(498, 6, 0.111, 0.617, 0.48, 33.784)</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11"/>
                  </a:ext>
                </a:extLst>
              </a:tr>
              <a:tr h="288000">
                <a:tc>
                  <a:txBody>
                    <a:bodyPr/>
                    <a:lstStyle/>
                    <a:p>
                      <a:pPr indent="127000" latinLnBrk="0">
                        <a:lnSpc>
                          <a:spcPct val="100000"/>
                        </a:lnSpc>
                        <a:spcBef>
                          <a:spcPts val="300"/>
                        </a:spcBef>
                        <a:spcAft>
                          <a:spcPts val="300"/>
                        </a:spcAft>
                      </a:pPr>
                      <a:r>
                        <a:rPr lang="en-US" sz="1600" kern="100">
                          <a:effectLst/>
                          <a:latin typeface="Times New Roman" panose="02020503050405090304" pitchFamily="18" charset="0"/>
                          <a:ea typeface="宋体" pitchFamily="2" charset="-122"/>
                        </a:rPr>
                        <a:t>Combine</a:t>
                      </a:r>
                      <a:endParaRPr lang="zh-CN" sz="1600" kern="10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(1184, 61, 1.305, 8.569, 0.523)</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(437, 2, 0.167, 0.981, 0.805, 44.088)</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12"/>
                  </a:ext>
                </a:extLst>
              </a:tr>
              <a:tr h="288000">
                <a:tc gridSpan="3">
                  <a:txBody>
                    <a:bodyPr/>
                    <a:lstStyle/>
                    <a:p>
                      <a:pPr indent="127000" algn="l" latinLnBrk="0">
                        <a:lnSpc>
                          <a:spcPct val="100000"/>
                        </a:lnSpc>
                        <a:spcBef>
                          <a:spcPts val="300"/>
                        </a:spcBef>
                        <a:spcAft>
                          <a:spcPts val="300"/>
                        </a:spcAft>
                      </a:pPr>
                      <a:r>
                        <a:rPr lang="en-US" sz="1600" b="1" kern="100" dirty="0">
                          <a:effectLst/>
                          <a:latin typeface="Times New Roman" panose="02020503050405090304" pitchFamily="18" charset="0"/>
                          <a:ea typeface="宋体" pitchFamily="2" charset="-122"/>
                        </a:rPr>
                        <a:t>SMOTE+ENN</a:t>
                      </a:r>
                      <a:endParaRPr lang="zh-CN" sz="1600" b="1"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13"/>
                  </a:ext>
                </a:extLst>
              </a:tr>
              <a:tr h="288000">
                <a:tc>
                  <a:txBody>
                    <a:bodyPr/>
                    <a:lstStyle/>
                    <a:p>
                      <a:pPr indent="127000"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Clinical</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(638, 64, 29.031, 38.959, 0.688)</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(489, 2, 0.019, 0.991, 0.516, 15.263)</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14"/>
                  </a:ext>
                </a:extLst>
              </a:tr>
              <a:tr h="288000">
                <a:tc>
                  <a:txBody>
                    <a:bodyPr/>
                    <a:lstStyle/>
                    <a:p>
                      <a:pPr indent="127000" latinLnBrk="0">
                        <a:lnSpc>
                          <a:spcPct val="100000"/>
                        </a:lnSpc>
                        <a:spcBef>
                          <a:spcPts val="300"/>
                        </a:spcBef>
                        <a:spcAft>
                          <a:spcPts val="300"/>
                        </a:spcAft>
                      </a:pPr>
                      <a:r>
                        <a:rPr lang="en-US" sz="1600" kern="100">
                          <a:effectLst/>
                          <a:latin typeface="Times New Roman" panose="02020503050405090304" pitchFamily="18" charset="0"/>
                          <a:ea typeface="宋体" pitchFamily="2" charset="-122"/>
                        </a:rPr>
                        <a:t>Inflammation</a:t>
                      </a:r>
                      <a:endParaRPr lang="zh-CN" sz="1600" kern="10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(464, 120, 1.048, 10.035, 0.451)</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(447, 10, 0.01, 1, 0.2, 1)</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a:noFill/>
                    </a:lnB>
                    <a:noFill/>
                  </a:tcPr>
                </a:tc>
                <a:extLst>
                  <a:ext uri="{0D108BD9-81ED-4DB2-BD59-A6C34878D82A}">
                    <a16:rowId xmlns:a16="http://schemas.microsoft.com/office/drawing/2014/main" val="10015"/>
                  </a:ext>
                </a:extLst>
              </a:tr>
              <a:tr h="288000">
                <a:tc>
                  <a:txBody>
                    <a:bodyPr/>
                    <a:lstStyle/>
                    <a:p>
                      <a:pPr indent="127000" latinLnBrk="0">
                        <a:lnSpc>
                          <a:spcPct val="100000"/>
                        </a:lnSpc>
                        <a:spcBef>
                          <a:spcPts val="300"/>
                        </a:spcBef>
                        <a:spcAft>
                          <a:spcPts val="300"/>
                        </a:spcAft>
                      </a:pPr>
                      <a:r>
                        <a:rPr lang="en-US" sz="1600" kern="100">
                          <a:effectLst/>
                          <a:latin typeface="Times New Roman" panose="02020503050405090304" pitchFamily="18" charset="0"/>
                          <a:ea typeface="宋体" pitchFamily="2" charset="-122"/>
                        </a:rPr>
                        <a:t>Combine</a:t>
                      </a:r>
                      <a:endParaRPr lang="zh-CN" sz="1600" kern="100">
                        <a:effectLst/>
                        <a:latin typeface="Times New Roman" panose="02020503050405090304" pitchFamily="18" charset="0"/>
                        <a:ea typeface="宋体" pitchFamily="2" charset="-122"/>
                      </a:endParaRPr>
                    </a:p>
                  </a:txBody>
                  <a:tcPr marL="43573" marR="43573"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(967, 56, 1.792, 2.211, 0.387)</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w="12700" cap="flat" cmpd="sng" algn="ctr">
                      <a:solidFill>
                        <a:srgbClr val="000000"/>
                      </a:solidFill>
                      <a:prstDash val="solid"/>
                      <a:round/>
                      <a:headEnd type="none" w="med" len="med"/>
                      <a:tailEnd type="none" w="med" len="med"/>
                    </a:lnB>
                    <a:noFill/>
                  </a:tcPr>
                </a:tc>
                <a:tc>
                  <a:txBody>
                    <a:bodyPr/>
                    <a:lstStyle/>
                    <a:p>
                      <a:pPr indent="127000" algn="ctr" latinLnBrk="0">
                        <a:lnSpc>
                          <a:spcPct val="100000"/>
                        </a:lnSpc>
                        <a:spcBef>
                          <a:spcPts val="300"/>
                        </a:spcBef>
                        <a:spcAft>
                          <a:spcPts val="300"/>
                        </a:spcAft>
                      </a:pPr>
                      <a:r>
                        <a:rPr lang="en-US" sz="1600" kern="100" dirty="0">
                          <a:effectLst/>
                          <a:latin typeface="Times New Roman" panose="02020503050405090304" pitchFamily="18" charset="0"/>
                          <a:ea typeface="宋体" pitchFamily="2" charset="-122"/>
                        </a:rPr>
                        <a:t>(381, 2, 0.2, 0.957, 0.264, 1)</a:t>
                      </a:r>
                      <a:endParaRPr lang="zh-CN" sz="1600" kern="100" dirty="0">
                        <a:effectLst/>
                        <a:latin typeface="Times New Roman" panose="02020503050405090304" pitchFamily="18" charset="0"/>
                        <a:ea typeface="宋体" pitchFamily="2" charset="-122"/>
                      </a:endParaRPr>
                    </a:p>
                  </a:txBody>
                  <a:tcPr marL="43573" marR="43573" marT="0" marB="0" anchor="ctr">
                    <a:lnL>
                      <a:noFill/>
                    </a:lnL>
                    <a:lnR>
                      <a:noFill/>
                    </a:lnR>
                    <a:lnT>
                      <a:noFill/>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16"/>
                  </a:ext>
                </a:extLst>
              </a:tr>
            </a:tbl>
          </a:graphicData>
        </a:graphic>
      </p:graphicFrame>
      <p:sp>
        <p:nvSpPr>
          <p:cNvPr id="3" name="TextBox 9"/>
          <p:cNvSpPr txBox="1"/>
          <p:nvPr/>
        </p:nvSpPr>
        <p:spPr>
          <a:xfrm>
            <a:off x="66098" y="607784"/>
            <a:ext cx="3287053"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参数调优</a:t>
            </a:r>
            <a:r>
              <a:rPr lang="en-US" altLang="zh-CN"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机器学习算法</a:t>
            </a:r>
          </a:p>
        </p:txBody>
      </p:sp>
      <p:sp>
        <p:nvSpPr>
          <p:cNvPr id="11" name="文本框 10"/>
          <p:cNvSpPr txBox="1"/>
          <p:nvPr/>
        </p:nvSpPr>
        <p:spPr>
          <a:xfrm>
            <a:off x="3583264" y="861146"/>
            <a:ext cx="5255587"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表</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3-3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不同模型的最优超参数组合</a:t>
            </a:r>
          </a:p>
        </p:txBody>
      </p:sp>
      <p:sp>
        <p:nvSpPr>
          <p:cNvPr id="12" name="文本框 11"/>
          <p:cNvSpPr txBox="1"/>
          <p:nvPr/>
        </p:nvSpPr>
        <p:spPr>
          <a:xfrm>
            <a:off x="1287885" y="6135666"/>
            <a:ext cx="9582183" cy="738664"/>
          </a:xfrm>
          <a:prstGeom prst="rect">
            <a:avLst/>
          </a:prstGeom>
          <a:noFill/>
          <a:ln w="19050">
            <a:noFill/>
          </a:ln>
        </p:spPr>
        <p:txBody>
          <a:bodyPr wrap="square" rtlCol="0">
            <a:spAutoFit/>
          </a:bodyPr>
          <a:lstStyle/>
          <a:p>
            <a:r>
              <a:rPr lang="zh-CN"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注：</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n_estimators</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max_depth</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min_samples_leaf</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min_samples_split</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max_features</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(iterations, depth, </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learning_rate</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rsm</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subsample, </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scale_pos_weight</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Clinical</a:t>
            </a:r>
            <a:r>
              <a:rPr lang="zh-CN"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：模型仅纳入临床特征；</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Inflammation</a:t>
            </a:r>
            <a:r>
              <a:rPr lang="zh-CN"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：模型仅纳入炎症特征；</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Combine</a:t>
            </a:r>
            <a:r>
              <a:rPr lang="zh-CN"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：模型纳入临床和炎症特征。</a:t>
            </a:r>
          </a:p>
        </p:txBody>
      </p:sp>
      <p:grpSp>
        <p:nvGrpSpPr>
          <p:cNvPr id="4" name="组合 3"/>
          <p:cNvGrpSpPr/>
          <p:nvPr/>
        </p:nvGrpSpPr>
        <p:grpSpPr>
          <a:xfrm>
            <a:off x="-80276" y="-309462"/>
            <a:ext cx="12272277" cy="991435"/>
            <a:chOff x="-80276" y="-309462"/>
            <a:chExt cx="12272277" cy="991435"/>
          </a:xfrm>
        </p:grpSpPr>
        <p:sp>
          <p:nvSpPr>
            <p:cNvPr id="16"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7" name="组合 16"/>
            <p:cNvGrpSpPr/>
            <p:nvPr/>
          </p:nvGrpSpPr>
          <p:grpSpPr>
            <a:xfrm>
              <a:off x="6743677" y="-30118"/>
              <a:ext cx="2576999" cy="581449"/>
              <a:chOff x="4826291" y="-31583"/>
              <a:chExt cx="2576999" cy="581449"/>
            </a:xfrm>
          </p:grpSpPr>
          <p:sp>
            <p:nvSpPr>
              <p:cNvPr id="22"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3"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研究结果</a:t>
                </a:r>
              </a:p>
            </p:txBody>
          </p:sp>
        </p:grpSp>
        <p:sp>
          <p:nvSpPr>
            <p:cNvPr id="18"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19"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20"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21"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5111400" y="528272"/>
            <a:ext cx="6921738" cy="6334832"/>
            <a:chOff x="5204164" y="528272"/>
            <a:chExt cx="6921738" cy="6334832"/>
          </a:xfrm>
        </p:grpSpPr>
        <p:pic>
          <p:nvPicPr>
            <p:cNvPr id="6" name="图片 5"/>
            <p:cNvPicPr>
              <a:picLocks noChangeAspect="1"/>
            </p:cNvPicPr>
            <p:nvPr/>
          </p:nvPicPr>
          <p:blipFill>
            <a:blip r:embed="rId3">
              <a:extLst>
                <a:ext uri="{28A0092B-C50C-407E-A947-70E740481C1C}">
                  <a14:useLocalDpi xmlns:a14="http://schemas.microsoft.com/office/drawing/2010/main" val="0"/>
                </a:ext>
              </a:extLst>
            </a:blip>
            <a:srcRect t="68" b="68"/>
            <a:stretch>
              <a:fillRect/>
            </a:stretch>
          </p:blipFill>
          <p:spPr>
            <a:xfrm>
              <a:off x="5204164" y="528272"/>
              <a:ext cx="6921738" cy="6099124"/>
            </a:xfrm>
            <a:prstGeom prst="rect">
              <a:avLst/>
            </a:prstGeom>
          </p:spPr>
        </p:pic>
        <p:sp>
          <p:nvSpPr>
            <p:cNvPr id="10" name="文本框 9"/>
            <p:cNvSpPr txBox="1"/>
            <p:nvPr/>
          </p:nvSpPr>
          <p:spPr>
            <a:xfrm>
              <a:off x="5204164" y="6555327"/>
              <a:ext cx="6921738"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3-4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不同数据增强策略、特征类型和机器学习算法组合下的评价指标</a:t>
              </a:r>
            </a:p>
          </p:txBody>
        </p:sp>
      </p:grpSp>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27</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 name="TextBox 9"/>
          <p:cNvSpPr txBox="1"/>
          <p:nvPr/>
        </p:nvSpPr>
        <p:spPr>
          <a:xfrm>
            <a:off x="158862" y="908999"/>
            <a:ext cx="4159538"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不同特征类型对模型性能的影响 </a:t>
            </a:r>
          </a:p>
        </p:txBody>
      </p:sp>
      <p:sp>
        <p:nvSpPr>
          <p:cNvPr id="8" name="文本框 7"/>
          <p:cNvSpPr txBox="1"/>
          <p:nvPr/>
        </p:nvSpPr>
        <p:spPr>
          <a:xfrm>
            <a:off x="391706" y="3242451"/>
            <a:ext cx="3693850" cy="2536656"/>
          </a:xfrm>
          <a:prstGeom prst="rect">
            <a:avLst/>
          </a:prstGeom>
          <a:noFill/>
          <a:ln w="19050">
            <a:noFill/>
          </a:ln>
        </p:spPr>
        <p:txBody>
          <a:bodyPr wrap="square" rtlCol="0">
            <a:spAutoFit/>
          </a:bodyPr>
          <a:lstStyle/>
          <a:p>
            <a:pPr marL="285750" indent="-285750">
              <a:lnSpc>
                <a:spcPct val="150000"/>
              </a:lnSpc>
              <a:buFont typeface="Wingdings" panose="05000000000000000000" pitchFamily="2" charset="2"/>
              <a:buChar char="Ø"/>
            </a:pPr>
            <a:r>
              <a:rPr kumimoji="0" lang="en-US" altLang="zh-CN" b="1" i="0" u="none" strike="noStrike" kern="1200" cap="none" spc="0" normalizeH="0" baseline="0" noProof="0" dirty="0">
                <a:ln>
                  <a:noFill/>
                </a:ln>
                <a:solidFill>
                  <a:srgbClr val="4FC3B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Clinical</a:t>
            </a:r>
            <a:r>
              <a:rPr kumimoji="0" lang="zh-CN" altLang="en-US" b="1" i="0" u="none" strike="noStrike" kern="1200" cap="none" spc="0" normalizeH="0" baseline="0" noProof="0" dirty="0">
                <a:ln>
                  <a:noFill/>
                </a:ln>
                <a:solidFill>
                  <a:srgbClr val="4FC3B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模型</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特异度较高但灵敏度较低</a:t>
            </a:r>
            <a:r>
              <a:rPr lang="en-US" altLang="zh-CN" baseline="300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[1–4] </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，假阴性</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风险</a:t>
            </a:r>
            <a:r>
              <a:rPr kumimoji="0" lang="zh-CN" altLang="en-US" b="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r>
              <a:rPr kumimoji="0" lang="zh-CN" altLang="en-US" b="0" i="0" u="none" strike="noStrike" kern="1200" cap="none" spc="0" normalizeH="0" baseline="0" noProof="0" dirty="0">
                <a:ln>
                  <a:noFill/>
                </a:ln>
                <a:solidFill>
                  <a:srgbClr val="FF0000"/>
                </a:solidFill>
                <a:effectLst/>
                <a:highlight>
                  <a:srgbClr val="FFFFFF"/>
                </a:highligh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kumimoji="0" lang="en-US" altLang="zh-CN" b="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gn="l">
              <a:lnSpc>
                <a:spcPct val="150000"/>
              </a:lnSpc>
              <a:buFont typeface="Wingdings" panose="05000000000000000000" pitchFamily="2" charset="2"/>
              <a:buChar char="Ø"/>
            </a:pPr>
            <a:r>
              <a:rPr kumimoji="0" lang="en-US" altLang="zh-CN" b="1" i="0" u="none" strike="noStrike" kern="1200" cap="none" spc="0" normalizeH="0" baseline="0" noProof="0" dirty="0">
                <a:ln>
                  <a:noFill/>
                </a:ln>
                <a:solidFill>
                  <a:srgbClr val="47B3D9"/>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Inflammation</a:t>
            </a:r>
            <a:r>
              <a:rPr kumimoji="0" lang="zh-CN" altLang="en-US" b="1" i="0" u="none" strike="noStrike" kern="1200" cap="none" spc="0" normalizeH="0" baseline="0" noProof="0" dirty="0">
                <a:ln>
                  <a:noFill/>
                </a:ln>
                <a:solidFill>
                  <a:srgbClr val="47B3D9"/>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模型</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灵敏度较高但特异度较低</a:t>
            </a: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gn="l">
              <a:lnSpc>
                <a:spcPct val="150000"/>
              </a:lnSpc>
              <a:buFont typeface="Wingdings" panose="05000000000000000000" pitchFamily="2" charset="2"/>
              <a:buChar char="Ø"/>
            </a:pPr>
            <a:r>
              <a:rPr kumimoji="0" lang="en-US" altLang="zh-CN" b="1" i="0" u="none" strike="noStrike" kern="1200" cap="none" spc="0" normalizeH="0" baseline="0" noProof="0" dirty="0">
                <a:ln>
                  <a:noFill/>
                </a:ln>
                <a:solidFill>
                  <a:srgbClr val="EF7E89"/>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Combine</a:t>
            </a:r>
            <a:r>
              <a:rPr kumimoji="0" lang="zh-CN" altLang="en-US" b="1" i="0" u="none" strike="noStrike" kern="1200" cap="none" spc="0" normalizeH="0" baseline="0" noProof="0" dirty="0">
                <a:ln>
                  <a:noFill/>
                </a:ln>
                <a:solidFill>
                  <a:srgbClr val="EF7E89"/>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模型</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取得更高的平衡准确度、</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F2</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分数和</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AUROC</a:t>
            </a:r>
            <a:endPar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aphicFrame>
        <p:nvGraphicFramePr>
          <p:cNvPr id="9" name="表格 8"/>
          <p:cNvGraphicFramePr>
            <a:graphicFrameLocks noGrp="1"/>
          </p:cNvGraphicFramePr>
          <p:nvPr/>
        </p:nvGraphicFramePr>
        <p:xfrm>
          <a:off x="391706" y="1683558"/>
          <a:ext cx="4107374" cy="1310220"/>
        </p:xfrm>
        <a:graphic>
          <a:graphicData uri="http://schemas.openxmlformats.org/drawingml/2006/table">
            <a:tbl>
              <a:tblPr firstRow="1" firstCol="1" bandRow="1">
                <a:tableStyleId>{7DF18680-E054-41AD-8BC1-D1AEF772440D}</a:tableStyleId>
              </a:tblPr>
              <a:tblGrid>
                <a:gridCol w="1391701">
                  <a:extLst>
                    <a:ext uri="{9D8B030D-6E8A-4147-A177-3AD203B41FA5}">
                      <a16:colId xmlns:a16="http://schemas.microsoft.com/office/drawing/2014/main" val="20000"/>
                    </a:ext>
                  </a:extLst>
                </a:gridCol>
                <a:gridCol w="1298713">
                  <a:extLst>
                    <a:ext uri="{9D8B030D-6E8A-4147-A177-3AD203B41FA5}">
                      <a16:colId xmlns:a16="http://schemas.microsoft.com/office/drawing/2014/main" val="20001"/>
                    </a:ext>
                  </a:extLst>
                </a:gridCol>
                <a:gridCol w="1416960">
                  <a:extLst>
                    <a:ext uri="{9D8B030D-6E8A-4147-A177-3AD203B41FA5}">
                      <a16:colId xmlns:a16="http://schemas.microsoft.com/office/drawing/2014/main" val="20002"/>
                    </a:ext>
                  </a:extLst>
                </a:gridCol>
              </a:tblGrid>
              <a:tr h="439013">
                <a:tc>
                  <a:txBody>
                    <a:bodyPr/>
                    <a:lstStyle/>
                    <a:p>
                      <a:pPr indent="0" algn="ctr" latinLnBrk="0" hangingPunct="0">
                        <a:lnSpc>
                          <a:spcPct val="150000"/>
                        </a:lnSpc>
                        <a:spcBef>
                          <a:spcPts val="300"/>
                        </a:spcBef>
                        <a:spcAft>
                          <a:spcPts val="300"/>
                        </a:spcAft>
                      </a:pPr>
                      <a:r>
                        <a:rPr lang="zh-CN" altLang="en-US"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模型</a:t>
                      </a:r>
                      <a:endParaRPr lang="zh-CN"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0" algn="ctr" latinLnBrk="0" hangingPunct="0">
                        <a:lnSpc>
                          <a:spcPct val="150000"/>
                        </a:lnSpc>
                        <a:spcBef>
                          <a:spcPts val="300"/>
                        </a:spcBef>
                        <a:spcAft>
                          <a:spcPts val="300"/>
                        </a:spcAft>
                      </a:pPr>
                      <a:r>
                        <a:rPr lang="zh-CN" altLang="en-US"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灵敏度</a:t>
                      </a:r>
                      <a:endParaRPr lang="zh-CN"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indent="0" algn="ctr" latinLnBrk="0" hangingPunct="0">
                        <a:lnSpc>
                          <a:spcPct val="150000"/>
                        </a:lnSpc>
                        <a:spcBef>
                          <a:spcPts val="300"/>
                        </a:spcBef>
                        <a:spcAft>
                          <a:spcPts val="300"/>
                        </a:spcAft>
                      </a:pPr>
                      <a:r>
                        <a:rPr lang="zh-CN" altLang="en-US"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特异度</a:t>
                      </a:r>
                      <a:endParaRPr lang="zh-CN"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42582">
                <a:tc>
                  <a:txBody>
                    <a:bodyPr/>
                    <a:lstStyle/>
                    <a:p>
                      <a:pPr indent="0" algn="ctr" latinLnBrk="0" hangingPunct="0">
                        <a:lnSpc>
                          <a:spcPct val="150000"/>
                        </a:lnSpc>
                        <a:spcBef>
                          <a:spcPts val="300"/>
                        </a:spcBef>
                        <a:spcAft>
                          <a:spcPts val="300"/>
                        </a:spcAft>
                      </a:pPr>
                      <a:r>
                        <a:rPr lang="en-US"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Clinical</a:t>
                      </a: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indent="0" algn="ctr" latinLnBrk="0" hangingPunct="0">
                        <a:lnSpc>
                          <a:spcPct val="100000"/>
                        </a:lnSpc>
                        <a:spcBef>
                          <a:spcPts val="300"/>
                        </a:spcBef>
                        <a:spcAft>
                          <a:spcPts val="300"/>
                        </a:spcAft>
                      </a:pPr>
                      <a:r>
                        <a:rPr lang="en-US" altLang="zh-CN"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0.478-0.701 </a:t>
                      </a:r>
                      <a:endParaRPr lang="en-US"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tc>
                  <a:txBody>
                    <a:bodyPr/>
                    <a:lstStyle/>
                    <a:p>
                      <a:pPr marL="0" marR="0" indent="0" algn="ctr" defTabSz="914400" rtl="0" eaLnBrk="1" fontAlgn="auto" latinLnBrk="0" hangingPunct="0">
                        <a:lnSpc>
                          <a:spcPct val="150000"/>
                        </a:lnSpc>
                        <a:spcBef>
                          <a:spcPts val="0"/>
                        </a:spcBef>
                        <a:spcAft>
                          <a:spcPts val="0"/>
                        </a:spcAft>
                        <a:buClrTx/>
                        <a:buSzTx/>
                        <a:buFontTx/>
                        <a:buNone/>
                        <a:defRPr/>
                      </a:pPr>
                      <a:r>
                        <a:rPr lang="en-US" altLang="zh-CN"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0.725-0.885 </a:t>
                      </a:r>
                      <a:endParaRPr lang="zh-CN"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428625">
                <a:tc>
                  <a:txBody>
                    <a:bodyPr/>
                    <a:lstStyle/>
                    <a:p>
                      <a:pPr indent="0" algn="ctr" latinLnBrk="0" hangingPunct="0">
                        <a:lnSpc>
                          <a:spcPct val="150000"/>
                        </a:lnSpc>
                        <a:spcBef>
                          <a:spcPts val="300"/>
                        </a:spcBef>
                        <a:spcAft>
                          <a:spcPts val="300"/>
                        </a:spcAft>
                      </a:pPr>
                      <a:r>
                        <a:rPr lang="en-US"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Inflammation</a:t>
                      </a: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0">
                        <a:lnSpc>
                          <a:spcPct val="150000"/>
                        </a:lnSpc>
                        <a:spcBef>
                          <a:spcPts val="0"/>
                        </a:spcBef>
                        <a:spcAft>
                          <a:spcPts val="0"/>
                        </a:spcAft>
                        <a:buClrTx/>
                        <a:buSzTx/>
                        <a:buFontTx/>
                        <a:buNone/>
                        <a:defRPr/>
                      </a:pPr>
                      <a:r>
                        <a:rPr lang="en-US" altLang="zh-CN"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0.522-0.791 </a:t>
                      </a:r>
                      <a:endParaRPr lang="en-US"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tc>
                  <a:txBody>
                    <a:bodyPr/>
                    <a:lstStyle/>
                    <a:p>
                      <a:pPr marL="0" marR="0" indent="0" algn="ctr" defTabSz="914400" rtl="0" eaLnBrk="1" fontAlgn="auto" latinLnBrk="0" hangingPunct="0">
                        <a:lnSpc>
                          <a:spcPct val="150000"/>
                        </a:lnSpc>
                        <a:spcBef>
                          <a:spcPts val="0"/>
                        </a:spcBef>
                        <a:spcAft>
                          <a:spcPts val="0"/>
                        </a:spcAft>
                        <a:buClrTx/>
                        <a:buSzTx/>
                        <a:buFontTx/>
                        <a:buNone/>
                        <a:defRPr/>
                      </a:pPr>
                      <a:r>
                        <a:rPr lang="en-US" altLang="zh-CN"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0.606-0.853 </a:t>
                      </a:r>
                      <a:endParaRPr lang="en-US" sz="1600" b="0" kern="100" dirty="0">
                        <a:solidFill>
                          <a:schemeClr val="tx1">
                            <a:lumMod val="85000"/>
                            <a:lumOff val="1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txBody>
                  <a:tcPr marL="68580" marR="68580" marT="0" marB="0" anchor="ct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18" name="文本框 17"/>
          <p:cNvSpPr txBox="1"/>
          <p:nvPr/>
        </p:nvSpPr>
        <p:spPr>
          <a:xfrm>
            <a:off x="391706" y="6138932"/>
            <a:ext cx="3857201" cy="707886"/>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Abdelbary</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B E, et al. Epidemiol Infect, 2017.</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 Bastos H N,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PLoS</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One, 2016.</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[3] Sauer C M,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PLoS</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One, 2018.</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[4] Costa-</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Veiga</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Eur</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J Public Health, 2018.</a:t>
            </a:r>
          </a:p>
        </p:txBody>
      </p:sp>
      <p:grpSp>
        <p:nvGrpSpPr>
          <p:cNvPr id="19" name="组合 18"/>
          <p:cNvGrpSpPr/>
          <p:nvPr/>
        </p:nvGrpSpPr>
        <p:grpSpPr>
          <a:xfrm>
            <a:off x="-80276" y="-309462"/>
            <a:ext cx="12272277" cy="991435"/>
            <a:chOff x="-80276" y="-309462"/>
            <a:chExt cx="12272277" cy="991435"/>
          </a:xfrm>
        </p:grpSpPr>
        <p:sp>
          <p:nvSpPr>
            <p:cNvPr id="20"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1" name="组合 20"/>
            <p:cNvGrpSpPr/>
            <p:nvPr/>
          </p:nvGrpSpPr>
          <p:grpSpPr>
            <a:xfrm>
              <a:off x="6743677" y="-30118"/>
              <a:ext cx="2576999" cy="581449"/>
              <a:chOff x="4826291" y="-31583"/>
              <a:chExt cx="2576999" cy="581449"/>
            </a:xfrm>
          </p:grpSpPr>
          <p:sp>
            <p:nvSpPr>
              <p:cNvPr id="26"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7"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研究结果</a:t>
                </a:r>
              </a:p>
            </p:txBody>
          </p:sp>
        </p:grpSp>
        <p:sp>
          <p:nvSpPr>
            <p:cNvPr id="22"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23"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24"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25"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28</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8" name="文本框 7"/>
          <p:cNvSpPr txBox="1"/>
          <p:nvPr/>
        </p:nvSpPr>
        <p:spPr>
          <a:xfrm>
            <a:off x="3600095" y="5065789"/>
            <a:ext cx="4108395" cy="1572546"/>
          </a:xfrm>
          <a:prstGeom prst="rect">
            <a:avLst/>
          </a:prstGeom>
          <a:noFill/>
          <a:ln w="19050">
            <a:noFill/>
          </a:ln>
        </p:spPr>
        <p:txBody>
          <a:bodyPr wrap="square" rtlCol="0">
            <a:spAutoFit/>
          </a:bodyPr>
          <a:lstStyle/>
          <a:p>
            <a:pPr>
              <a:lnSpc>
                <a:spcPct val="150000"/>
              </a:lnSpc>
            </a:pP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综合考虑灵敏度和精确度（</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F2</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分数）：</a:t>
            </a:r>
            <a:endPar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单一算法中</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SMOTE+ENN</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表现最佳</a:t>
            </a:r>
            <a:endPar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基于聚类的欠采样：</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+RF</a:t>
            </a:r>
            <a:r>
              <a:rPr lang="zh-CN" altLang="en-US" sz="1600" dirty="0">
                <a:solidFill>
                  <a:srgbClr val="333333"/>
                </a:solidFill>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600" b="0" i="0" dirty="0" err="1">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Catboost</a:t>
            </a:r>
            <a:r>
              <a:rPr lang="zh-CN" altLang="en-US"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a:t>
            </a: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Ø"/>
              <a:defRPr/>
            </a:pPr>
            <a:r>
              <a:rPr lang="en-US" altLang="zh-CN"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SMOTE</a:t>
            </a:r>
            <a:r>
              <a:rPr lang="zh-CN" altLang="en-US"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6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Catboost</a:t>
            </a:r>
            <a:r>
              <a:rPr kumimoji="0" lang="zh-CN" altLang="en-US" sz="1600" i="0" u="none" strike="noStrike" kern="1200" cap="none" spc="0" normalizeH="0" baseline="0" noProof="0" dirty="0">
                <a:ln>
                  <a:noFill/>
                </a:ln>
                <a:solidFill>
                  <a:srgbClr val="333333"/>
                </a:solidFill>
                <a:effectLst/>
                <a:highlight>
                  <a:srgbClr val="FFFFFF"/>
                </a:highligh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zh-CN" altLang="en-US" sz="1600" b="0" i="0" u="none" strike="noStrike" kern="1200" cap="none" spc="0" normalizeH="0" baseline="0" noProof="0" dirty="0">
                <a:ln>
                  <a:noFill/>
                </a:ln>
                <a:solidFill>
                  <a:srgbClr val="333333"/>
                </a:solidFill>
                <a:effectLst/>
                <a:highlight>
                  <a:srgbClr val="FFFFFF"/>
                </a:highligh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600" b="0" i="0" u="none" strike="noStrike" kern="1200" cap="none" spc="0" normalizeH="0" baseline="0" noProof="0" dirty="0">
                <a:ln>
                  <a:noFill/>
                </a:ln>
                <a:solidFill>
                  <a:srgbClr val="333333"/>
                </a:solidFill>
                <a:effectLst/>
                <a:highlight>
                  <a:srgbClr val="FFFFFF"/>
                </a:highlight>
                <a:uLnTx/>
                <a:uFillTx/>
                <a:latin typeface="Times New Roman" panose="02020503050405090304" pitchFamily="18" charset="0"/>
                <a:ea typeface="Microsoft YaHei UI" panose="020B0503020204020204" pitchFamily="34" charset="-122"/>
                <a:cs typeface="Times New Roman" panose="02020503050405090304" pitchFamily="18" charset="0"/>
              </a:rPr>
              <a:t>+RF</a:t>
            </a:r>
            <a:r>
              <a:rPr lang="en-US" altLang="zh-CN" sz="1600" dirty="0">
                <a:solidFill>
                  <a:srgbClr val="333333"/>
                </a:solidFill>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a:t>
            </a:r>
            <a:endParaRPr lang="zh-CN" altLang="en-US"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endParaRPr>
          </a:p>
        </p:txBody>
      </p:sp>
      <p:cxnSp>
        <p:nvCxnSpPr>
          <p:cNvPr id="14" name="直线连接符 13"/>
          <p:cNvCxnSpPr/>
          <p:nvPr/>
        </p:nvCxnSpPr>
        <p:spPr>
          <a:xfrm flipH="1">
            <a:off x="7785579" y="5143221"/>
            <a:ext cx="16290" cy="1749954"/>
          </a:xfrm>
          <a:prstGeom prst="line">
            <a:avLst/>
          </a:prstGeom>
          <a:ln w="19050">
            <a:solidFill>
              <a:srgbClr val="014924"/>
            </a:solidFill>
            <a:prstDash val="dash"/>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8023600" y="5053349"/>
            <a:ext cx="3536063" cy="1572162"/>
          </a:xfrm>
          <a:prstGeom prst="rect">
            <a:avLst/>
          </a:prstGeom>
          <a:noFill/>
          <a:ln w="19050">
            <a:noFill/>
          </a:ln>
        </p:spPr>
        <p:txBody>
          <a:bodyPr wrap="square" rtlCol="0">
            <a:spAutoFit/>
          </a:bodyPr>
          <a:lstStyle/>
          <a:p>
            <a:pPr>
              <a:lnSpc>
                <a:spcPct val="150000"/>
              </a:lnSpc>
            </a:pP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整体区分力（</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AUROC</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lang="en-GB" altLang="zh-CN"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SMOTE+ENN</a:t>
            </a:r>
            <a:r>
              <a:rPr lang="zh-CN" altLang="en-US" sz="1600" dirty="0">
                <a:solidFill>
                  <a:srgbClr val="333333"/>
                </a:solidFill>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为</a:t>
            </a:r>
            <a:r>
              <a:rPr lang="zh-CN" altLang="en-US"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最佳重采样策略</a:t>
            </a:r>
            <a:endParaRPr lang="en-US" altLang="zh-CN"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lang="zh-CN" altLang="en-US"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基于聚类的欠采样与</a:t>
            </a:r>
            <a:r>
              <a:rPr lang="en-GB" altLang="zh-CN"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SMOTE</a:t>
            </a:r>
            <a:r>
              <a:rPr lang="zh-CN" altLang="en-US" sz="1600" b="0"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均使模型整体区分力下降  </a:t>
            </a:r>
          </a:p>
        </p:txBody>
      </p:sp>
      <p:grpSp>
        <p:nvGrpSpPr>
          <p:cNvPr id="37" name="组合 36"/>
          <p:cNvGrpSpPr/>
          <p:nvPr/>
        </p:nvGrpSpPr>
        <p:grpSpPr>
          <a:xfrm>
            <a:off x="1518901" y="1057212"/>
            <a:ext cx="9209860" cy="3906970"/>
            <a:chOff x="1649869" y="1056641"/>
            <a:chExt cx="9209860" cy="3906970"/>
          </a:xfrm>
        </p:grpSpPr>
        <p:grpSp>
          <p:nvGrpSpPr>
            <p:cNvPr id="13" name="组合 12"/>
            <p:cNvGrpSpPr/>
            <p:nvPr/>
          </p:nvGrpSpPr>
          <p:grpSpPr>
            <a:xfrm>
              <a:off x="1649869" y="1056641"/>
              <a:ext cx="9209860" cy="3906970"/>
              <a:chOff x="2089571" y="2656794"/>
              <a:chExt cx="9209860" cy="3906970"/>
            </a:xfrm>
          </p:grpSpPr>
          <p:pic>
            <p:nvPicPr>
              <p:cNvPr id="11" name="图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89579" y="2656794"/>
                <a:ext cx="9209852" cy="3558171"/>
              </a:xfrm>
              <a:prstGeom prst="rect">
                <a:avLst/>
              </a:prstGeom>
            </p:spPr>
          </p:pic>
          <p:sp>
            <p:nvSpPr>
              <p:cNvPr id="10" name="文本框 9"/>
              <p:cNvSpPr txBox="1"/>
              <p:nvPr/>
            </p:nvSpPr>
            <p:spPr>
              <a:xfrm>
                <a:off x="2089571" y="6255987"/>
                <a:ext cx="9209854"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3-5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不同数据增强策略、特征类型和机器学习算法组合下的综合评价指标        注：</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：随机森林；</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B</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Catboost</a:t>
                </a:r>
                <a:endPar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7" name="上箭头 6"/>
            <p:cNvSpPr/>
            <p:nvPr/>
          </p:nvSpPr>
          <p:spPr>
            <a:xfrm>
              <a:off x="2962576" y="2764619"/>
              <a:ext cx="72000" cy="14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9" name="文本框 8"/>
            <p:cNvSpPr txBox="1"/>
            <p:nvPr/>
          </p:nvSpPr>
          <p:spPr>
            <a:xfrm>
              <a:off x="3731063" y="2563605"/>
              <a:ext cx="548548" cy="246221"/>
            </a:xfrm>
            <a:prstGeom prst="rect">
              <a:avLst/>
            </a:prstGeom>
            <a:noFill/>
            <a:ln w="19050">
              <a:noFill/>
            </a:ln>
          </p:spPr>
          <p:txBody>
            <a:bodyPr wrap="none" rtlCol="0">
              <a:spAutoFit/>
            </a:bodyPr>
            <a:lstStyle/>
            <a:p>
              <a:pPr algn="l"/>
              <a:r>
                <a:rPr lang="en-US" altLang="zh-CN" sz="1000" kern="100" dirty="0">
                  <a:solidFill>
                    <a:schemeClr val="bg1">
                      <a:lumMod val="9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4.91%</a:t>
              </a:r>
              <a:r>
                <a:rPr lang="zh-CN" altLang="zh-CN" sz="1000" dirty="0">
                  <a:solidFill>
                    <a:schemeClr val="bg1">
                      <a:lumMod val="9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zh-CN" altLang="en-US" sz="1000" b="0" i="0" u="none" strike="noStrike" kern="1200" cap="none" spc="0" normalizeH="0" baseline="0" noProof="0" dirty="0">
                <a:ln>
                  <a:noFill/>
                </a:ln>
                <a:solidFill>
                  <a:schemeClr val="bg1">
                    <a:lumMod val="9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2" name="减 11"/>
            <p:cNvSpPr/>
            <p:nvPr/>
          </p:nvSpPr>
          <p:spPr>
            <a:xfrm>
              <a:off x="3217103" y="2899184"/>
              <a:ext cx="141195" cy="84635"/>
            </a:xfrm>
            <a:prstGeom prst="mathMinus">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5" name="上箭头 14"/>
            <p:cNvSpPr/>
            <p:nvPr/>
          </p:nvSpPr>
          <p:spPr>
            <a:xfrm>
              <a:off x="3514330" y="2669484"/>
              <a:ext cx="72000" cy="14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6" name="文本框 15"/>
            <p:cNvSpPr txBox="1"/>
            <p:nvPr/>
          </p:nvSpPr>
          <p:spPr>
            <a:xfrm>
              <a:off x="4302279" y="2440315"/>
              <a:ext cx="612668" cy="246221"/>
            </a:xfrm>
            <a:prstGeom prst="rect">
              <a:avLst/>
            </a:prstGeom>
            <a:noFill/>
            <a:ln w="19050">
              <a:noFill/>
            </a:ln>
          </p:spPr>
          <p:txBody>
            <a:bodyPr wrap="none" rtlCol="0">
              <a:spAutoFit/>
            </a:bodyPr>
            <a:lstStyle/>
            <a:p>
              <a:pPr algn="l"/>
              <a:r>
                <a:rPr lang="en-US" altLang="zh-CN" sz="1000" kern="100" dirty="0">
                  <a:solidFill>
                    <a:schemeClr val="bg1">
                      <a:lumMod val="9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13.42%</a:t>
              </a:r>
              <a:r>
                <a:rPr lang="zh-CN" altLang="zh-CN" sz="1000" dirty="0">
                  <a:solidFill>
                    <a:schemeClr val="bg1">
                      <a:lumMod val="9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zh-CN" altLang="en-US" sz="1000" b="0" i="0" u="none" strike="noStrike" kern="1200" cap="none" spc="0" normalizeH="0" baseline="0" noProof="0" dirty="0">
                <a:ln>
                  <a:noFill/>
                </a:ln>
                <a:solidFill>
                  <a:schemeClr val="bg1">
                    <a:lumMod val="9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7" name="上箭头 16"/>
            <p:cNvSpPr/>
            <p:nvPr/>
          </p:nvSpPr>
          <p:spPr>
            <a:xfrm>
              <a:off x="7798265" y="2711643"/>
              <a:ext cx="72000" cy="14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9" name="文本框 18"/>
            <p:cNvSpPr txBox="1"/>
            <p:nvPr/>
          </p:nvSpPr>
          <p:spPr>
            <a:xfrm>
              <a:off x="8549595" y="2436380"/>
              <a:ext cx="548548" cy="246221"/>
            </a:xfrm>
            <a:prstGeom prst="rect">
              <a:avLst/>
            </a:prstGeom>
            <a:noFill/>
            <a:ln w="19050">
              <a:noFill/>
            </a:ln>
          </p:spPr>
          <p:txBody>
            <a:bodyPr wrap="none" rtlCol="0">
              <a:spAutoFit/>
            </a:bodyPr>
            <a:lstStyle/>
            <a:p>
              <a:pPr algn="l"/>
              <a:r>
                <a:rPr lang="en-US" altLang="zh-CN" sz="1000" kern="100" dirty="0">
                  <a:solidFill>
                    <a:schemeClr val="bg1">
                      <a:lumMod val="9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3.14%</a:t>
              </a:r>
              <a:r>
                <a:rPr lang="zh-CN" altLang="zh-CN" sz="1000" dirty="0">
                  <a:solidFill>
                    <a:schemeClr val="bg1">
                      <a:lumMod val="9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zh-CN" altLang="en-US" sz="1000" b="0" i="0" u="none" strike="noStrike" kern="1200" cap="none" spc="0" normalizeH="0" baseline="0" noProof="0" dirty="0">
                <a:ln>
                  <a:noFill/>
                </a:ln>
                <a:solidFill>
                  <a:schemeClr val="bg1">
                    <a:lumMod val="9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2" name="上箭头 21"/>
            <p:cNvSpPr/>
            <p:nvPr/>
          </p:nvSpPr>
          <p:spPr>
            <a:xfrm>
              <a:off x="8082568" y="2616508"/>
              <a:ext cx="72000" cy="14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3" name="文本框 22"/>
            <p:cNvSpPr txBox="1"/>
            <p:nvPr/>
          </p:nvSpPr>
          <p:spPr>
            <a:xfrm>
              <a:off x="8878761" y="2353434"/>
              <a:ext cx="607923" cy="246221"/>
            </a:xfrm>
            <a:prstGeom prst="rect">
              <a:avLst/>
            </a:prstGeom>
            <a:noFill/>
            <a:ln w="19050">
              <a:noFill/>
            </a:ln>
          </p:spPr>
          <p:txBody>
            <a:bodyPr wrap="none" rtlCol="0">
              <a:spAutoFit/>
            </a:bodyPr>
            <a:lstStyle/>
            <a:p>
              <a:pPr algn="l"/>
              <a:r>
                <a:rPr lang="en-US" altLang="zh-CN" sz="1000" kern="100" dirty="0">
                  <a:solidFill>
                    <a:schemeClr val="bg1">
                      <a:lumMod val="9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11.42%</a:t>
              </a:r>
              <a:r>
                <a:rPr lang="zh-CN" altLang="zh-CN" sz="1000" dirty="0">
                  <a:solidFill>
                    <a:schemeClr val="bg1">
                      <a:lumMod val="95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kumimoji="0" lang="zh-CN" altLang="en-US" sz="1000" b="0" i="0" u="none" strike="noStrike" kern="1200" cap="none" spc="0" normalizeH="0" baseline="0" noProof="0" dirty="0">
                <a:ln>
                  <a:noFill/>
                </a:ln>
                <a:solidFill>
                  <a:schemeClr val="bg1">
                    <a:lumMod val="9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4" name="上箭头 23"/>
            <p:cNvSpPr/>
            <p:nvPr/>
          </p:nvSpPr>
          <p:spPr>
            <a:xfrm flipV="1">
              <a:off x="7535160" y="2798524"/>
              <a:ext cx="72000" cy="144000"/>
            </a:xfrm>
            <a:prstGeom prst="up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0" name="上箭头 29"/>
            <p:cNvSpPr/>
            <p:nvPr/>
          </p:nvSpPr>
          <p:spPr>
            <a:xfrm flipV="1">
              <a:off x="5319206" y="1662422"/>
              <a:ext cx="72000" cy="144000"/>
            </a:xfrm>
            <a:prstGeom prst="up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1" name="上箭头 30"/>
            <p:cNvSpPr/>
            <p:nvPr/>
          </p:nvSpPr>
          <p:spPr>
            <a:xfrm flipV="1">
              <a:off x="5064585" y="1697731"/>
              <a:ext cx="72000" cy="144000"/>
            </a:xfrm>
            <a:prstGeom prst="up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2" name="上箭头 31"/>
            <p:cNvSpPr/>
            <p:nvPr/>
          </p:nvSpPr>
          <p:spPr>
            <a:xfrm>
              <a:off x="5597232" y="1567280"/>
              <a:ext cx="72000" cy="14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36" name="组合 35"/>
            <p:cNvGrpSpPr/>
            <p:nvPr/>
          </p:nvGrpSpPr>
          <p:grpSpPr>
            <a:xfrm>
              <a:off x="9638741" y="1573520"/>
              <a:ext cx="604647" cy="291385"/>
              <a:chOff x="5218437" y="1722324"/>
              <a:chExt cx="604647" cy="291385"/>
            </a:xfrm>
          </p:grpSpPr>
          <p:sp>
            <p:nvSpPr>
              <p:cNvPr id="33" name="上箭头 32"/>
              <p:cNvSpPr/>
              <p:nvPr/>
            </p:nvSpPr>
            <p:spPr>
              <a:xfrm flipV="1">
                <a:off x="5464591" y="1834400"/>
                <a:ext cx="72000" cy="144000"/>
              </a:xfrm>
              <a:prstGeom prst="up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4" name="上箭头 33"/>
              <p:cNvSpPr/>
              <p:nvPr/>
            </p:nvSpPr>
            <p:spPr>
              <a:xfrm flipV="1">
                <a:off x="5218437" y="1869709"/>
                <a:ext cx="72000" cy="144000"/>
              </a:xfrm>
              <a:prstGeom prst="upArrow">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5" name="上箭头 34"/>
              <p:cNvSpPr/>
              <p:nvPr/>
            </p:nvSpPr>
            <p:spPr>
              <a:xfrm>
                <a:off x="5751084" y="1722324"/>
                <a:ext cx="72000" cy="144000"/>
              </a:xfrm>
              <a:prstGeom prst="up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sp>
        <p:nvSpPr>
          <p:cNvPr id="3" name="TextBox 9"/>
          <p:cNvSpPr txBox="1"/>
          <p:nvPr/>
        </p:nvSpPr>
        <p:spPr>
          <a:xfrm>
            <a:off x="135053" y="619246"/>
            <a:ext cx="5572138" cy="525886"/>
          </a:xfrm>
          <a:prstGeom prst="rect">
            <a:avLst/>
          </a:prstGeom>
          <a:solidFill>
            <a:srgbClr val="014924"/>
          </a:solidFill>
        </p:spPr>
        <p:txBody>
          <a:bodyPr wrap="square" lIns="108000" tIns="108000" rIns="108000" bIns="108000" rtlCol="0" anchor="ctr" anchorCtr="0">
            <a:spAutoFit/>
          </a:bodyPr>
          <a:lstStyle/>
          <a:p>
            <a:pPr algn="ct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不同数据增强策略与算法组合对模型性能的影响</a:t>
            </a:r>
          </a:p>
        </p:txBody>
      </p:sp>
      <p:cxnSp>
        <p:nvCxnSpPr>
          <p:cNvPr id="39" name="直线连接符 38"/>
          <p:cNvCxnSpPr/>
          <p:nvPr/>
        </p:nvCxnSpPr>
        <p:spPr>
          <a:xfrm flipH="1">
            <a:off x="3348000" y="5120127"/>
            <a:ext cx="16290" cy="1749954"/>
          </a:xfrm>
          <a:prstGeom prst="line">
            <a:avLst/>
          </a:prstGeom>
          <a:ln w="19050">
            <a:solidFill>
              <a:srgbClr val="014924"/>
            </a:solidFill>
            <a:prstDash val="dash"/>
          </a:ln>
        </p:spPr>
        <p:style>
          <a:lnRef idx="1">
            <a:schemeClr val="accent1"/>
          </a:lnRef>
          <a:fillRef idx="0">
            <a:schemeClr val="accent1"/>
          </a:fillRef>
          <a:effectRef idx="0">
            <a:schemeClr val="accent1"/>
          </a:effectRef>
          <a:fontRef idx="minor">
            <a:schemeClr val="tx1"/>
          </a:fontRef>
        </p:style>
      </p:cxnSp>
      <p:sp>
        <p:nvSpPr>
          <p:cNvPr id="40" name="文本框 39"/>
          <p:cNvSpPr txBox="1"/>
          <p:nvPr/>
        </p:nvSpPr>
        <p:spPr>
          <a:xfrm>
            <a:off x="156430" y="5053349"/>
            <a:ext cx="3443665" cy="1418915"/>
          </a:xfrm>
          <a:prstGeom prst="rect">
            <a:avLst/>
          </a:prstGeom>
          <a:noFill/>
          <a:ln w="19050">
            <a:noFill/>
          </a:ln>
        </p:spPr>
        <p:txBody>
          <a:bodyPr wrap="square" rtlCol="0">
            <a:spAutoFit/>
          </a:bodyPr>
          <a:lstStyle/>
          <a:p>
            <a:pPr algn="l">
              <a:lnSpc>
                <a:spcPct val="150000"/>
              </a:lnSpc>
            </a:pP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模型算法：</a:t>
            </a: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gn="l">
              <a:lnSpc>
                <a:spcPct val="200000"/>
              </a:lnSpc>
              <a:buFont typeface="Wingdings" panose="05000000000000000000" pitchFamily="2" charset="2"/>
              <a:buChar char="Ø"/>
            </a:pP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仅</a:t>
            </a:r>
            <a:r>
              <a:rPr lang="en-US" altLang="zh-CN" sz="1600" dirty="0" err="1">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Kmeans</a:t>
            </a: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RF&gt;</a:t>
            </a:r>
            <a:r>
              <a:rPr lang="en-US" altLang="zh-CN" sz="1600" dirty="0" err="1">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Catboost</a:t>
            </a:r>
            <a:endParaRPr lang="en-US" altLang="zh-CN"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gn="l">
              <a:lnSpc>
                <a:spcPct val="200000"/>
              </a:lnSpc>
              <a:buFont typeface="Wingdings" panose="05000000000000000000" pitchFamily="2" charset="2"/>
              <a:buChar char="Ø"/>
            </a:pP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其余数据集上</a:t>
            </a:r>
            <a:r>
              <a:rPr lang="en-US" altLang="zh-CN" sz="1600" dirty="0" err="1">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Catboost</a:t>
            </a:r>
            <a:r>
              <a:rPr lang="en-US" altLang="zh-CN"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&gt;RF</a:t>
            </a:r>
          </a:p>
        </p:txBody>
      </p:sp>
      <p:grpSp>
        <p:nvGrpSpPr>
          <p:cNvPr id="4" name="组合 3"/>
          <p:cNvGrpSpPr/>
          <p:nvPr/>
        </p:nvGrpSpPr>
        <p:grpSpPr>
          <a:xfrm>
            <a:off x="-80276" y="-309462"/>
            <a:ext cx="12272277" cy="991435"/>
            <a:chOff x="-80276" y="-309462"/>
            <a:chExt cx="12272277" cy="991435"/>
          </a:xfrm>
        </p:grpSpPr>
        <p:sp>
          <p:nvSpPr>
            <p:cNvPr id="25"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41" name="组合 40"/>
            <p:cNvGrpSpPr/>
            <p:nvPr/>
          </p:nvGrpSpPr>
          <p:grpSpPr>
            <a:xfrm>
              <a:off x="6743677" y="-30118"/>
              <a:ext cx="2576999" cy="581449"/>
              <a:chOff x="4826291" y="-31583"/>
              <a:chExt cx="2576999" cy="581449"/>
            </a:xfrm>
          </p:grpSpPr>
          <p:sp>
            <p:nvSpPr>
              <p:cNvPr id="46"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7"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研究结果</a:t>
                </a:r>
              </a:p>
            </p:txBody>
          </p:sp>
        </p:grpSp>
        <p:sp>
          <p:nvSpPr>
            <p:cNvPr id="42"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43"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44"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45"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2" name="五角星 1"/>
          <p:cNvSpPr>
            <a:spLocks noChangeAspect="1"/>
          </p:cNvSpPr>
          <p:nvPr/>
        </p:nvSpPr>
        <p:spPr>
          <a:xfrm>
            <a:off x="9883648" y="1788468"/>
            <a:ext cx="360000" cy="337965"/>
          </a:xfrm>
          <a:prstGeom prst="star5">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448410" y="653950"/>
            <a:ext cx="5907147" cy="6045081"/>
            <a:chOff x="6149799" y="447574"/>
            <a:chExt cx="5907147" cy="6045081"/>
          </a:xfrm>
        </p:grpSpPr>
        <p:pic>
          <p:nvPicPr>
            <p:cNvPr id="2" name="图片 1"/>
            <p:cNvPicPr>
              <a:picLocks noChangeAspect="1"/>
            </p:cNvPicPr>
            <p:nvPr/>
          </p:nvPicPr>
          <p:blipFill rotWithShape="1">
            <a:blip r:embed="rId3" cstate="hqprint">
              <a:extLst>
                <a:ext uri="{28A0092B-C50C-407E-A947-70E740481C1C}">
                  <a14:useLocalDpi xmlns:a14="http://schemas.microsoft.com/office/drawing/2010/main" val="0"/>
                </a:ext>
              </a:extLst>
            </a:blip>
            <a:srcRect r="4718"/>
            <a:stretch>
              <a:fillRect/>
            </a:stretch>
          </p:blipFill>
          <p:spPr bwMode="auto">
            <a:xfrm>
              <a:off x="6149799" y="447574"/>
              <a:ext cx="5905276" cy="5809765"/>
            </a:xfrm>
            <a:prstGeom prst="rect">
              <a:avLst/>
            </a:prstGeom>
            <a:ln>
              <a:noFill/>
            </a:ln>
          </p:spPr>
        </p:pic>
        <p:sp>
          <p:nvSpPr>
            <p:cNvPr id="5" name="文本框 4"/>
            <p:cNvSpPr txBox="1"/>
            <p:nvPr/>
          </p:nvSpPr>
          <p:spPr>
            <a:xfrm>
              <a:off x="6972300" y="6184878"/>
              <a:ext cx="5084646"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3-7</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基于</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SHAP</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值的特征蜂窝图</a:t>
              </a:r>
            </a:p>
          </p:txBody>
        </p:sp>
      </p:grpSp>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29</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 name="TextBox 9"/>
          <p:cNvSpPr txBox="1"/>
          <p:nvPr/>
        </p:nvSpPr>
        <p:spPr>
          <a:xfrm>
            <a:off x="285736" y="1073746"/>
            <a:ext cx="2550997" cy="525886"/>
          </a:xfrm>
          <a:prstGeom prst="rect">
            <a:avLst/>
          </a:prstGeom>
          <a:solidFill>
            <a:srgbClr val="014924"/>
          </a:solidFill>
        </p:spPr>
        <p:txBody>
          <a:bodyPr wrap="square" lIns="108000" tIns="108000" rIns="108000" bIns="108000" rtlCol="0" anchor="ctr" anchorCtr="0">
            <a:spAutoFit/>
          </a:bodyPr>
          <a:lstStyle/>
          <a:p>
            <a:pPr algn="ctr"/>
            <a:r>
              <a:rPr lang="en-US" altLang="zh-CN"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SHAP</a:t>
            </a: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可解释性分析</a:t>
            </a:r>
          </a:p>
        </p:txBody>
      </p:sp>
      <p:sp>
        <p:nvSpPr>
          <p:cNvPr id="9" name="文本框 8"/>
          <p:cNvSpPr txBox="1"/>
          <p:nvPr/>
        </p:nvSpPr>
        <p:spPr>
          <a:xfrm>
            <a:off x="480980" y="2160672"/>
            <a:ext cx="4711506" cy="2584450"/>
          </a:xfrm>
          <a:prstGeom prst="rect">
            <a:avLst/>
          </a:prstGeom>
          <a:noFill/>
          <a:ln w="19050">
            <a:noFill/>
          </a:ln>
        </p:spPr>
        <p:txBody>
          <a:bodyPr wrap="square" rtlCol="0">
            <a:spAutoFit/>
          </a:bodyPr>
          <a:lstStyle/>
          <a:p>
            <a:pPr algn="l">
              <a:lnSpc>
                <a:spcPct val="150000"/>
              </a:lnSpc>
            </a:pP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r>
              <a:rPr kumimoji="0" lang="zh-CN" altLang="en-US" b="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炎症指标重要性高于大多数临床特征</a:t>
            </a:r>
            <a:endParaRPr kumimoji="0" lang="en-US" altLang="zh-CN" b="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不良预后风险随年龄</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dNLR</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CAR</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NLR</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CLR</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SIRI</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升高而升高，随</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ENR</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EMR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升高</a:t>
            </a:r>
            <a:r>
              <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而降低</a:t>
            </a:r>
            <a:endParaRPr kumimoji="0" lang="en-US" altLang="zh-CN"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3.</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年龄、药敏结果、病原学结果、治疗分类、空洞、贫血、胸膜病变是重要的临床特征</a:t>
            </a:r>
            <a:endParaRPr kumimoji="0" lang="zh-CN" altLang="en-US"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8" name="组合 17"/>
          <p:cNvGrpSpPr/>
          <p:nvPr/>
        </p:nvGrpSpPr>
        <p:grpSpPr>
          <a:xfrm>
            <a:off x="-80276" y="-309462"/>
            <a:ext cx="12272277" cy="991435"/>
            <a:chOff x="-80276" y="-309462"/>
            <a:chExt cx="12272277" cy="991435"/>
          </a:xfrm>
        </p:grpSpPr>
        <p:sp>
          <p:nvSpPr>
            <p:cNvPr id="1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0" name="组合 19"/>
            <p:cNvGrpSpPr/>
            <p:nvPr/>
          </p:nvGrpSpPr>
          <p:grpSpPr>
            <a:xfrm>
              <a:off x="6743677" y="-30118"/>
              <a:ext cx="2576999" cy="581449"/>
              <a:chOff x="4826291" y="-31583"/>
              <a:chExt cx="2576999" cy="581449"/>
            </a:xfrm>
          </p:grpSpPr>
          <p:sp>
            <p:nvSpPr>
              <p:cNvPr id="25"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6"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研究结果</a:t>
                </a:r>
              </a:p>
            </p:txBody>
          </p:sp>
        </p:grpSp>
        <p:sp>
          <p:nvSpPr>
            <p:cNvPr id="21"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22"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23"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24"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30</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 name="TextBox 9"/>
          <p:cNvSpPr txBox="1"/>
          <p:nvPr/>
        </p:nvSpPr>
        <p:spPr>
          <a:xfrm>
            <a:off x="149340" y="1152765"/>
            <a:ext cx="2550997" cy="525886"/>
          </a:xfrm>
          <a:prstGeom prst="rect">
            <a:avLst/>
          </a:prstGeom>
          <a:solidFill>
            <a:srgbClr val="014924"/>
          </a:solidFill>
        </p:spPr>
        <p:txBody>
          <a:bodyPr wrap="square" lIns="108000" tIns="108000" rIns="108000" bIns="108000" rtlCol="0" anchor="ctr" anchorCtr="0">
            <a:spAutoFit/>
          </a:bodyPr>
          <a:lstStyle/>
          <a:p>
            <a:pPr algn="ctr"/>
            <a:r>
              <a:rPr lang="en-US" altLang="zh-CN"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SHAP</a:t>
            </a: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可解释性分析</a:t>
            </a:r>
          </a:p>
        </p:txBody>
      </p:sp>
      <p:grpSp>
        <p:nvGrpSpPr>
          <p:cNvPr id="11" name="组合 10"/>
          <p:cNvGrpSpPr/>
          <p:nvPr/>
        </p:nvGrpSpPr>
        <p:grpSpPr>
          <a:xfrm>
            <a:off x="5504458" y="882189"/>
            <a:ext cx="6380368" cy="5712748"/>
            <a:chOff x="5465269" y="882189"/>
            <a:chExt cx="6380368" cy="5712748"/>
          </a:xfrm>
        </p:grpSpPr>
        <p:pic>
          <p:nvPicPr>
            <p:cNvPr id="9" name="图片 8"/>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5465269" y="882189"/>
              <a:ext cx="6380368" cy="5111977"/>
            </a:xfrm>
            <a:prstGeom prst="rect">
              <a:avLst/>
            </a:prstGeom>
          </p:spPr>
        </p:pic>
        <p:sp>
          <p:nvSpPr>
            <p:cNvPr id="10" name="文本框 9"/>
            <p:cNvSpPr txBox="1"/>
            <p:nvPr/>
          </p:nvSpPr>
          <p:spPr>
            <a:xfrm>
              <a:off x="5465269" y="6001826"/>
              <a:ext cx="6380368" cy="593111"/>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3-8 </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SHAP</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分析单一特征依赖图</a:t>
              </a:r>
              <a:endPar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endParaRPr>
            </a:p>
            <a:p>
              <a:pPr algn="ctr">
                <a:lnSpc>
                  <a:spcPct val="150000"/>
                </a:lnSpc>
              </a:pP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注：</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x</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轴为各特征的归一化值，</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y</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轴为特征的</a:t>
              </a:r>
              <a:r>
                <a:rPr lang="en-GB"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SHAP</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值。</a:t>
              </a:r>
            </a:p>
          </p:txBody>
        </p:sp>
      </p:grpSp>
      <p:sp>
        <p:nvSpPr>
          <p:cNvPr id="14" name="文本框 13"/>
          <p:cNvSpPr txBox="1"/>
          <p:nvPr/>
        </p:nvSpPr>
        <p:spPr>
          <a:xfrm>
            <a:off x="259918" y="2113266"/>
            <a:ext cx="5244540" cy="2947025"/>
          </a:xfrm>
          <a:prstGeom prst="rect">
            <a:avLst/>
          </a:prstGeom>
          <a:noFill/>
          <a:ln w="19050">
            <a:noFill/>
          </a:ln>
        </p:spPr>
        <p:txBody>
          <a:bodyPr wrap="square">
            <a:spAutoFit/>
          </a:bodyPr>
          <a:lstStyle/>
          <a:p>
            <a:pPr>
              <a:lnSpc>
                <a:spcPct val="150000"/>
              </a:lnSpc>
            </a:pP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危险效应：年龄、</a:t>
            </a:r>
            <a:r>
              <a:rPr lang="en-GB" altLang="zh-CN" b="1" dirty="0" err="1">
                <a:latin typeface="Times New Roman" panose="02020503050405090304" pitchFamily="18" charset="0"/>
                <a:ea typeface="Microsoft YaHei UI" panose="020B0503020204020204" pitchFamily="34" charset="-122"/>
                <a:cs typeface="Times New Roman" panose="02020503050405090304" pitchFamily="18" charset="0"/>
              </a:rPr>
              <a:t>dNLR</a:t>
            </a:r>
            <a:r>
              <a:rPr lang="zh-CN" altLang="en-GB"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CAR</a:t>
            </a:r>
            <a:r>
              <a:rPr lang="zh-CN" altLang="en-GB" b="1"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CLR</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和</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SIRI</a:t>
            </a:r>
            <a:endParaRPr lang="en-US" altLang="zh-CN" b="1" dirty="0">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不良预后风险随年龄增大呈现持续性升高</a:t>
            </a:r>
            <a:endParaRPr lang="en-US" altLang="zh-CN" dirty="0">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lang="en-GB" altLang="zh-CN" dirty="0" err="1">
                <a:latin typeface="Times New Roman" panose="02020503050405090304" pitchFamily="18" charset="0"/>
                <a:ea typeface="Microsoft YaHei UI" panose="020B0503020204020204" pitchFamily="34" charset="-122"/>
                <a:cs typeface="Times New Roman" panose="02020503050405090304" pitchFamily="18" charset="0"/>
              </a:rPr>
              <a:t>dNLR</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与</a:t>
            </a:r>
            <a:r>
              <a:rPr lang="en-GB" altLang="zh-CN" dirty="0">
                <a:latin typeface="Times New Roman" panose="02020503050405090304" pitchFamily="18" charset="0"/>
                <a:ea typeface="Microsoft YaHei UI" panose="020B0503020204020204" pitchFamily="34" charset="-122"/>
                <a:cs typeface="Times New Roman" panose="02020503050405090304" pitchFamily="18" charset="0"/>
              </a:rPr>
              <a:t>SIRI</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引起的危险效应呈阶梯式升高</a:t>
            </a:r>
            <a:endParaRPr lang="en-US" altLang="zh-CN" dirty="0">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lnSpc>
                <a:spcPct val="150000"/>
              </a:lnSpc>
              <a:buFont typeface="Wingdings" panose="05000000000000000000" pitchFamily="2" charset="2"/>
              <a:buChar char="Ø"/>
            </a:pPr>
            <a:r>
              <a:rPr lang="en-GB" altLang="zh-CN" dirty="0">
                <a:latin typeface="Times New Roman" panose="02020503050405090304" pitchFamily="18" charset="0"/>
                <a:ea typeface="Microsoft YaHei UI" panose="020B0503020204020204" pitchFamily="34" charset="-122"/>
                <a:cs typeface="Times New Roman" panose="02020503050405090304" pitchFamily="18" charset="0"/>
              </a:rPr>
              <a:t>CAR</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和</a:t>
            </a:r>
            <a:r>
              <a:rPr lang="en-GB" altLang="zh-CN" dirty="0">
                <a:latin typeface="Times New Roman" panose="02020503050405090304" pitchFamily="18" charset="0"/>
                <a:ea typeface="Microsoft YaHei UI" panose="020B0503020204020204" pitchFamily="34" charset="-122"/>
                <a:cs typeface="Times New Roman" panose="02020503050405090304" pitchFamily="18" charset="0"/>
              </a:rPr>
              <a:t>CLR</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的危险效应则在一定范围内快速升高并达到最大效应，但随后影响出现两极分化</a:t>
            </a:r>
            <a:endParaRPr lang="en-US" altLang="zh-CN" dirty="0">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保护效应：</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ENR</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和</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EMR</a:t>
            </a:r>
          </a:p>
          <a:p>
            <a:pPr>
              <a:lnSpc>
                <a:spcPct val="150000"/>
              </a:lnSpc>
            </a:pPr>
            <a:r>
              <a:rPr lang="en-US" altLang="zh-CN" b="1" dirty="0">
                <a:latin typeface="Times New Roman" panose="02020503050405090304" pitchFamily="18" charset="0"/>
                <a:ea typeface="Microsoft YaHei UI" panose="020B0503020204020204" pitchFamily="34" charset="-122"/>
                <a:cs typeface="Times New Roman" panose="02020503050405090304" pitchFamily="18" charset="0"/>
              </a:rPr>
              <a:t>3.</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双向效应：</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NLR</a:t>
            </a:r>
            <a:r>
              <a:rPr lang="zh-CN" altLang="en-US" b="1" dirty="0">
                <a:latin typeface="Times New Roman" panose="02020503050405090304" pitchFamily="18" charset="0"/>
                <a:ea typeface="Microsoft YaHei UI" panose="020B0503020204020204" pitchFamily="34" charset="-122"/>
                <a:cs typeface="Times New Roman" panose="02020503050405090304" pitchFamily="18" charset="0"/>
              </a:rPr>
              <a:t>和</a:t>
            </a:r>
            <a:r>
              <a:rPr lang="en-GB" altLang="zh-CN" b="1" dirty="0">
                <a:latin typeface="Times New Roman" panose="02020503050405090304" pitchFamily="18" charset="0"/>
                <a:ea typeface="Microsoft YaHei UI" panose="020B0503020204020204" pitchFamily="34" charset="-122"/>
                <a:cs typeface="Times New Roman" panose="02020503050405090304" pitchFamily="18" charset="0"/>
              </a:rPr>
              <a:t>PNI</a:t>
            </a:r>
            <a:endParaRPr lang="zh-CN" altLang="en-US" b="1"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4" name="组合 3"/>
          <p:cNvGrpSpPr/>
          <p:nvPr/>
        </p:nvGrpSpPr>
        <p:grpSpPr>
          <a:xfrm>
            <a:off x="-80276" y="-309462"/>
            <a:ext cx="12272277" cy="991435"/>
            <a:chOff x="-80276" y="-309462"/>
            <a:chExt cx="12272277" cy="991435"/>
          </a:xfrm>
        </p:grpSpPr>
        <p:sp>
          <p:nvSpPr>
            <p:cNvPr id="18"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9" name="组合 18"/>
            <p:cNvGrpSpPr/>
            <p:nvPr/>
          </p:nvGrpSpPr>
          <p:grpSpPr>
            <a:xfrm>
              <a:off x="6743677" y="-30118"/>
              <a:ext cx="2576999" cy="581449"/>
              <a:chOff x="4826291" y="-31583"/>
              <a:chExt cx="2576999" cy="581449"/>
            </a:xfrm>
          </p:grpSpPr>
          <p:sp>
            <p:nvSpPr>
              <p:cNvPr id="24"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5"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研究结果</a:t>
                </a:r>
              </a:p>
            </p:txBody>
          </p:sp>
        </p:grpSp>
        <p:sp>
          <p:nvSpPr>
            <p:cNvPr id="20"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21"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22"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23"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31</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 name="TextBox 9"/>
          <p:cNvSpPr txBox="1"/>
          <p:nvPr/>
        </p:nvSpPr>
        <p:spPr>
          <a:xfrm>
            <a:off x="201288" y="592030"/>
            <a:ext cx="2550997" cy="525886"/>
          </a:xfrm>
          <a:prstGeom prst="rect">
            <a:avLst/>
          </a:prstGeom>
          <a:solidFill>
            <a:srgbClr val="014924"/>
          </a:solidFill>
        </p:spPr>
        <p:txBody>
          <a:bodyPr wrap="square" lIns="108000" tIns="108000" rIns="108000" bIns="108000" rtlCol="0" anchor="ctr" anchorCtr="0">
            <a:spAutoFit/>
          </a:bodyPr>
          <a:lstStyle/>
          <a:p>
            <a:pPr algn="ctr"/>
            <a:r>
              <a:rPr lang="en-US" altLang="zh-CN"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SHAP</a:t>
            </a:r>
            <a:r>
              <a:rPr lang="zh-CN" altLang="en-US" sz="20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可解释性分析</a:t>
            </a:r>
          </a:p>
        </p:txBody>
      </p:sp>
      <p:sp>
        <p:nvSpPr>
          <p:cNvPr id="10" name="文本框 9"/>
          <p:cNvSpPr txBox="1"/>
          <p:nvPr/>
        </p:nvSpPr>
        <p:spPr>
          <a:xfrm>
            <a:off x="6429031" y="4636373"/>
            <a:ext cx="5762969"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3-10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年龄与其他特征间的交互作用依赖图</a:t>
            </a:r>
          </a:p>
        </p:txBody>
      </p:sp>
      <p:pic>
        <p:nvPicPr>
          <p:cNvPr id="2" name="图片 1"/>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8606" y="1105226"/>
            <a:ext cx="6208647" cy="3498998"/>
          </a:xfrm>
          <a:prstGeom prst="rect">
            <a:avLst/>
          </a:prstGeom>
        </p:spPr>
      </p:pic>
      <p:pic>
        <p:nvPicPr>
          <p:cNvPr id="5" name="图片 4"/>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195582" y="1042380"/>
            <a:ext cx="5976000" cy="3546317"/>
          </a:xfrm>
          <a:prstGeom prst="rect">
            <a:avLst/>
          </a:prstGeom>
        </p:spPr>
      </p:pic>
      <p:sp>
        <p:nvSpPr>
          <p:cNvPr id="6" name="文本框 5"/>
          <p:cNvSpPr txBox="1"/>
          <p:nvPr/>
        </p:nvSpPr>
        <p:spPr>
          <a:xfrm>
            <a:off x="201288" y="4627881"/>
            <a:ext cx="6053516" cy="307777"/>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图</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3-9 </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前</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15</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个重要特征间的交互</a:t>
            </a:r>
            <a:r>
              <a:rPr lang="zh-CN" altLang="en-US"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作用</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摘要图</a:t>
            </a:r>
          </a:p>
        </p:txBody>
      </p:sp>
      <p:sp>
        <p:nvSpPr>
          <p:cNvPr id="7" name="文本框 6"/>
          <p:cNvSpPr txBox="1"/>
          <p:nvPr/>
        </p:nvSpPr>
        <p:spPr>
          <a:xfrm>
            <a:off x="996456" y="4991826"/>
            <a:ext cx="10615407" cy="1290418"/>
          </a:xfrm>
          <a:prstGeom prst="rect">
            <a:avLst/>
          </a:prstGeom>
          <a:noFill/>
          <a:ln w="19050">
            <a:noFill/>
          </a:ln>
        </p:spPr>
        <p:txBody>
          <a:bodyPr wrap="none" rtlCol="0">
            <a:spAutoFit/>
          </a:bodyPr>
          <a:lstStyle/>
          <a:p>
            <a:pPr>
              <a:lnSpc>
                <a:spcPct val="150000"/>
              </a:lnSpc>
            </a:pP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年龄增大导致的不良预后风险升高受到</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ENR</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dNLR</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CAR</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NLR</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PNI</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CLR</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的调节作用（图</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3-10</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2. </a:t>
            </a:r>
            <a:r>
              <a:rPr lang="en-US" altLang="zh-CN" dirty="0" err="1">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dNLR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CLR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和</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NLR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升高削弱了</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ENR</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的保护效应（附图</a:t>
            </a:r>
            <a:r>
              <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9</a:t>
            </a:r>
            <a:r>
              <a:rPr lang="zh-CN" altLang="en-US"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 </a:t>
            </a:r>
            <a:endParaRPr lang="en-US" altLang="zh-CN"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pP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 EMR</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ENR</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PNI</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的高值则相互补偿，减弱了低值时保护效应不足的影响（附图</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8</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9</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和</a:t>
            </a:r>
            <a:r>
              <a:rPr kumimoji="0" lang="en-US" altLang="zh-CN"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11</a:t>
            </a:r>
            <a:r>
              <a:rPr kumimoji="0" lang="zh-CN" altLang="en-US" sz="18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p>
        </p:txBody>
      </p:sp>
      <p:grpSp>
        <p:nvGrpSpPr>
          <p:cNvPr id="4" name="组合 3"/>
          <p:cNvGrpSpPr/>
          <p:nvPr/>
        </p:nvGrpSpPr>
        <p:grpSpPr>
          <a:xfrm>
            <a:off x="-80276" y="-309462"/>
            <a:ext cx="12272277" cy="991435"/>
            <a:chOff x="-80276" y="-309462"/>
            <a:chExt cx="12272277" cy="991435"/>
          </a:xfrm>
        </p:grpSpPr>
        <p:sp>
          <p:nvSpPr>
            <p:cNvPr id="18"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9" name="组合 18"/>
            <p:cNvGrpSpPr/>
            <p:nvPr/>
          </p:nvGrpSpPr>
          <p:grpSpPr>
            <a:xfrm>
              <a:off x="6743677" y="-30118"/>
              <a:ext cx="2576999" cy="581449"/>
              <a:chOff x="4826291" y="-31583"/>
              <a:chExt cx="2576999" cy="581449"/>
            </a:xfrm>
          </p:grpSpPr>
          <p:sp>
            <p:nvSpPr>
              <p:cNvPr id="24"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5"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研究结果</a:t>
                </a:r>
              </a:p>
            </p:txBody>
          </p:sp>
        </p:grpSp>
        <p:sp>
          <p:nvSpPr>
            <p:cNvPr id="20"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21" name="图片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22"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23"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8" name="矩形 7"/>
          <p:cNvSpPr/>
          <p:nvPr/>
        </p:nvSpPr>
        <p:spPr>
          <a:xfrm>
            <a:off x="6195581" y="967692"/>
            <a:ext cx="2393247" cy="1242108"/>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p:cNvSpPr/>
          <p:nvPr/>
        </p:nvSpPr>
        <p:spPr>
          <a:xfrm>
            <a:off x="9781919" y="969027"/>
            <a:ext cx="2393247" cy="1242108"/>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6191997" y="2209800"/>
            <a:ext cx="2393247" cy="1188000"/>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32</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34" name="组合 33"/>
          <p:cNvGrpSpPr/>
          <p:nvPr/>
        </p:nvGrpSpPr>
        <p:grpSpPr>
          <a:xfrm>
            <a:off x="296720" y="514594"/>
            <a:ext cx="4830719" cy="6343406"/>
            <a:chOff x="296720" y="514594"/>
            <a:chExt cx="4830719" cy="6343406"/>
          </a:xfrm>
        </p:grpSpPr>
        <p:grpSp>
          <p:nvGrpSpPr>
            <p:cNvPr id="4" name="组合 3"/>
            <p:cNvGrpSpPr>
              <a:grpSpLocks noChangeAspect="1"/>
            </p:cNvGrpSpPr>
            <p:nvPr/>
          </p:nvGrpSpPr>
          <p:grpSpPr>
            <a:xfrm>
              <a:off x="378607" y="1000661"/>
              <a:ext cx="4481537" cy="2358076"/>
              <a:chOff x="388072" y="719711"/>
              <a:chExt cx="6335815" cy="3333753"/>
            </a:xfrm>
          </p:grpSpPr>
          <p:pic>
            <p:nvPicPr>
              <p:cNvPr id="12" name="Picture 2" descr="Fig. 4"/>
              <p:cNvPicPr>
                <a:picLocks noChangeAspect="1" noChangeArrowheads="1"/>
              </p:cNvPicPr>
              <p:nvPr/>
            </p:nvPicPr>
            <p:blipFill rotWithShape="1">
              <a:blip r:embed="rId3">
                <a:extLst>
                  <a:ext uri="{28A0092B-C50C-407E-A947-70E740481C1C}">
                    <a14:useLocalDpi xmlns:a14="http://schemas.microsoft.com/office/drawing/2010/main" val="0"/>
                  </a:ext>
                </a:extLst>
              </a:blip>
              <a:srcRect l="50011" b="53450"/>
              <a:stretch>
                <a:fillRect/>
              </a:stretch>
            </p:blipFill>
            <p:spPr bwMode="auto">
              <a:xfrm>
                <a:off x="388072" y="810885"/>
                <a:ext cx="2988000" cy="280386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Fig. 4"/>
              <p:cNvPicPr>
                <a:picLocks noChangeAspect="1" noChangeArrowheads="1"/>
              </p:cNvPicPr>
              <p:nvPr/>
            </p:nvPicPr>
            <p:blipFill rotWithShape="1">
              <a:blip r:embed="rId3">
                <a:extLst>
                  <a:ext uri="{28A0092B-C50C-407E-A947-70E740481C1C}">
                    <a14:useLocalDpi xmlns:a14="http://schemas.microsoft.com/office/drawing/2010/main" val="0"/>
                  </a:ext>
                </a:extLst>
              </a:blip>
              <a:srcRect l="50000" t="50107" r="11" b="2303"/>
              <a:stretch>
                <a:fillRect/>
              </a:stretch>
            </p:blipFill>
            <p:spPr bwMode="auto">
              <a:xfrm>
                <a:off x="3503204" y="719711"/>
                <a:ext cx="2988000" cy="2866531"/>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p:cNvSpPr txBox="1"/>
              <p:nvPr/>
            </p:nvSpPr>
            <p:spPr>
              <a:xfrm>
                <a:off x="388072" y="3618341"/>
                <a:ext cx="6335815" cy="435123"/>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Cheng</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et al. 2023. Figure 4</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p:txBody>
          </p:sp>
        </p:grpSp>
        <p:grpSp>
          <p:nvGrpSpPr>
            <p:cNvPr id="15" name="组合 14"/>
            <p:cNvGrpSpPr>
              <a:grpSpLocks noChangeAspect="1"/>
            </p:cNvGrpSpPr>
            <p:nvPr/>
          </p:nvGrpSpPr>
          <p:grpSpPr>
            <a:xfrm>
              <a:off x="296720" y="3756039"/>
              <a:ext cx="4438885" cy="2180389"/>
              <a:chOff x="4997204" y="3871568"/>
              <a:chExt cx="6342923" cy="3115653"/>
            </a:xfrm>
          </p:grpSpPr>
          <p:pic>
            <p:nvPicPr>
              <p:cNvPr id="16" name="Picture 4" descr="Figure 3"/>
              <p:cNvPicPr>
                <a:picLocks noChangeAspect="1" noChangeArrowheads="1"/>
              </p:cNvPicPr>
              <p:nvPr/>
            </p:nvPicPr>
            <p:blipFill rotWithShape="1">
              <a:blip r:embed="rId4">
                <a:extLst>
                  <a:ext uri="{28A0092B-C50C-407E-A947-70E740481C1C}">
                    <a14:useLocalDpi xmlns:a14="http://schemas.microsoft.com/office/drawing/2010/main" val="0"/>
                  </a:ext>
                </a:extLst>
              </a:blip>
              <a:srcRect t="52582"/>
              <a:stretch>
                <a:fillRect/>
              </a:stretch>
            </p:blipFill>
            <p:spPr bwMode="auto">
              <a:xfrm>
                <a:off x="4997204" y="3871568"/>
                <a:ext cx="6342922" cy="2803869"/>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p:cNvSpPr txBox="1"/>
              <p:nvPr/>
            </p:nvSpPr>
            <p:spPr>
              <a:xfrm>
                <a:off x="4997205" y="6547425"/>
                <a:ext cx="6342922" cy="439796"/>
              </a:xfrm>
              <a:prstGeom prst="rect">
                <a:avLst/>
              </a:prstGeom>
              <a:noFill/>
              <a:ln w="19050">
                <a:noFill/>
              </a:ln>
            </p:spPr>
            <p:txBody>
              <a:bodyPr wrap="square" rtlCol="0">
                <a:spAutoFit/>
              </a:bodyPr>
              <a:lstStyle/>
              <a:p>
                <a:pPr algn="ct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a:t>
                </a:r>
                <a:r>
                  <a:rPr lang="en-US" altLang="zh-CN" sz="14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Qi, et al. 2023. Figure 3</a:t>
                </a:r>
                <a:r>
                  <a:rPr lang="zh-CN" altLang="en-US" sz="1400" kern="100" dirty="0">
                    <a:solidFill>
                      <a:schemeClr val="bg1">
                        <a:lumMod val="50000"/>
                      </a:schemeClr>
                    </a:solidFill>
                    <a:effectLst/>
                    <a:latin typeface="Times New Roman" panose="02020503050405090304" pitchFamily="18" charset="0"/>
                    <a:ea typeface="Microsoft YaHei UI" panose="020B0503020204020204" pitchFamily="34" charset="-122"/>
                    <a:cs typeface="Times New Roman" panose="02020503050405090304" pitchFamily="18" charset="0"/>
                  </a:rPr>
                  <a:t>）</a:t>
                </a:r>
              </a:p>
            </p:txBody>
          </p:sp>
        </p:grpSp>
        <p:sp>
          <p:nvSpPr>
            <p:cNvPr id="18" name="文本框 17"/>
            <p:cNvSpPr txBox="1"/>
            <p:nvPr/>
          </p:nvSpPr>
          <p:spPr>
            <a:xfrm>
              <a:off x="413944" y="3287252"/>
              <a:ext cx="4308012" cy="523220"/>
            </a:xfrm>
            <a:prstGeom prst="rect">
              <a:avLst/>
            </a:prstGeom>
            <a:noFill/>
            <a:ln w="19050">
              <a:noFill/>
            </a:ln>
          </p:spPr>
          <p:txBody>
            <a:bodyPr wrap="square">
              <a:spAutoFit/>
            </a:bodyPr>
            <a:lstStyle/>
            <a:p>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预测特发性肺纤维化</a:t>
              </a:r>
              <a:r>
                <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年、</a:t>
              </a:r>
              <a:r>
                <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年和</a:t>
              </a:r>
              <a:r>
                <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rPr>
                <a:t>3</a:t>
              </a: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年死亡率：</a:t>
              </a:r>
              <a:endPar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endParaRPr>
            </a:p>
            <a:p>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临床特征预后模型</a:t>
              </a:r>
              <a:r>
                <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1400" dirty="0">
                  <a:solidFill>
                    <a:srgbClr val="FF0000"/>
                  </a:solidFill>
                  <a:latin typeface="Times New Roman" panose="02020503050405090304" pitchFamily="18" charset="0"/>
                  <a:ea typeface="Microsoft YaHei UI" panose="020B0503020204020204" pitchFamily="34" charset="-122"/>
                  <a:cs typeface="Times New Roman" panose="02020503050405090304" pitchFamily="18" charset="0"/>
                </a:rPr>
                <a:t>炎症指标</a:t>
              </a:r>
              <a:r>
                <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rPr>
                <a:t>=AUC</a:t>
              </a: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提升</a:t>
              </a:r>
              <a:r>
                <a:rPr lang="en-US" altLang="zh-CN" sz="1400" dirty="0">
                  <a:effectLst/>
                  <a:latin typeface="Times New Roman" panose="02020503050405090304" pitchFamily="18" charset="0"/>
                  <a:ea typeface="Microsoft YaHei UI" panose="020B0503020204020204" pitchFamily="34" charset="-122"/>
                  <a:cs typeface="Times New Roman" panose="02020503050405090304" pitchFamily="18" charset="0"/>
                </a:rPr>
                <a:t>14.86-22.30%</a:t>
              </a:r>
              <a:r>
                <a:rPr lang="zh-CN" altLang="zh-CN" sz="1400" dirty="0">
                  <a:effectLst/>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9" name="文本框 18"/>
            <p:cNvSpPr txBox="1"/>
            <p:nvPr/>
          </p:nvSpPr>
          <p:spPr>
            <a:xfrm>
              <a:off x="378607" y="5903893"/>
              <a:ext cx="3923550" cy="954107"/>
            </a:xfrm>
            <a:prstGeom prst="rect">
              <a:avLst/>
            </a:prstGeom>
            <a:noFill/>
            <a:ln w="19050">
              <a:noFill/>
            </a:ln>
          </p:spPr>
          <p:txBody>
            <a:bodyPr wrap="square">
              <a:spAutoFit/>
            </a:bodyPr>
            <a:lstStyle/>
            <a:p>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预测利福平</a:t>
              </a:r>
              <a:r>
                <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耐多药结核病患者死亡率：</a:t>
              </a:r>
              <a:endPar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buFont typeface="Wingdings" panose="05000000000000000000" pitchFamily="2" charset="2"/>
                <a:buChar char="Ø"/>
              </a:pPr>
              <a:r>
                <a:rPr lang="zh-CN" altLang="en-US" sz="1400"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炎症指标的预测性能普遍高于临床指标</a:t>
              </a:r>
              <a:r>
                <a:rPr lang="zh-CN" altLang="en-US" sz="1400" dirty="0">
                  <a:effectLst/>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sz="1400" dirty="0">
                  <a:effectLst/>
                  <a:latin typeface="Times New Roman" panose="02020503050405090304" pitchFamily="18" charset="0"/>
                  <a:ea typeface="Microsoft YaHei UI" panose="020B0503020204020204" pitchFamily="34" charset="-122"/>
                  <a:cs typeface="Times New Roman" panose="02020503050405090304" pitchFamily="18" charset="0"/>
                </a:rPr>
                <a:t>AUC</a:t>
              </a:r>
              <a:r>
                <a:rPr lang="zh-CN" altLang="en-GB" sz="1400" dirty="0">
                  <a:effectLst/>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sz="1400" dirty="0">
                  <a:effectLst/>
                  <a:latin typeface="Times New Roman" panose="02020503050405090304" pitchFamily="18" charset="0"/>
                  <a:ea typeface="Microsoft YaHei UI" panose="020B0503020204020204" pitchFamily="34" charset="-122"/>
                  <a:cs typeface="Times New Roman" panose="02020503050405090304" pitchFamily="18" charset="0"/>
                </a:rPr>
                <a:t>0.667-0.760 vs. 0.588-0.668</a:t>
              </a:r>
              <a:r>
                <a:rPr lang="zh-CN" altLang="en-GB" sz="1400" dirty="0">
                  <a:effectLst/>
                  <a:latin typeface="Times New Roman" panose="02020503050405090304" pitchFamily="18" charset="0"/>
                  <a:ea typeface="Microsoft YaHei UI" panose="020B0503020204020204" pitchFamily="34" charset="-122"/>
                  <a:cs typeface="Times New Roman" panose="02020503050405090304" pitchFamily="18" charset="0"/>
                </a:rPr>
                <a:t>）</a:t>
              </a:r>
              <a:endParaRPr lang="en-US" altLang="zh-CN" sz="14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marL="285750" indent="-285750">
                <a:buFont typeface="Wingdings" panose="05000000000000000000" pitchFamily="2" charset="2"/>
                <a:buChar char="Ø"/>
              </a:pPr>
              <a:r>
                <a:rPr lang="zh-CN" altLang="en-US" sz="1400" dirty="0">
                  <a:solidFill>
                    <a:srgbClr val="FF0000"/>
                  </a:solidFill>
                  <a:effectLst/>
                  <a:latin typeface="Times New Roman" panose="02020503050405090304" pitchFamily="18" charset="0"/>
                  <a:ea typeface="Microsoft YaHei UI" panose="020B0503020204020204" pitchFamily="34" charset="-122"/>
                  <a:cs typeface="Times New Roman" panose="02020503050405090304" pitchFamily="18" charset="0"/>
                </a:rPr>
                <a:t>组合模型</a:t>
              </a:r>
              <a:r>
                <a:rPr lang="zh-CN" altLang="en-US" sz="1400" dirty="0">
                  <a:effectLst/>
                  <a:latin typeface="Times New Roman" panose="02020503050405090304" pitchFamily="18" charset="0"/>
                  <a:ea typeface="Microsoft YaHei UI" panose="020B0503020204020204" pitchFamily="34" charset="-122"/>
                  <a:cs typeface="Times New Roman" panose="02020503050405090304" pitchFamily="18" charset="0"/>
                </a:rPr>
                <a:t>的</a:t>
              </a:r>
              <a:r>
                <a:rPr lang="en-GB" altLang="zh-CN" sz="1400" dirty="0">
                  <a:effectLst/>
                  <a:latin typeface="Times New Roman" panose="02020503050405090304" pitchFamily="18" charset="0"/>
                  <a:ea typeface="Microsoft YaHei UI" panose="020B0503020204020204" pitchFamily="34" charset="-122"/>
                  <a:cs typeface="Times New Roman" panose="02020503050405090304" pitchFamily="18" charset="0"/>
                </a:rPr>
                <a:t>AUC</a:t>
              </a:r>
              <a:r>
                <a:rPr lang="zh-CN" altLang="en-US" sz="1400" dirty="0">
                  <a:effectLst/>
                  <a:latin typeface="Times New Roman" panose="02020503050405090304" pitchFamily="18" charset="0"/>
                  <a:ea typeface="Microsoft YaHei UI" panose="020B0503020204020204" pitchFamily="34" charset="-122"/>
                  <a:cs typeface="Times New Roman" panose="02020503050405090304" pitchFamily="18" charset="0"/>
                </a:rPr>
                <a:t>提高至</a:t>
              </a:r>
              <a:r>
                <a:rPr lang="en-US" altLang="zh-CN" sz="1400" dirty="0">
                  <a:effectLst/>
                  <a:latin typeface="Times New Roman" panose="02020503050405090304" pitchFamily="18" charset="0"/>
                  <a:ea typeface="Microsoft YaHei UI" panose="020B0503020204020204" pitchFamily="34" charset="-122"/>
                  <a:cs typeface="Times New Roman" panose="02020503050405090304" pitchFamily="18" charset="0"/>
                </a:rPr>
                <a:t>0.771 </a:t>
              </a:r>
              <a:endPar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0" name="文本框 19"/>
            <p:cNvSpPr txBox="1"/>
            <p:nvPr/>
          </p:nvSpPr>
          <p:spPr>
            <a:xfrm>
              <a:off x="383833" y="514594"/>
              <a:ext cx="4743606" cy="504625"/>
            </a:xfrm>
            <a:prstGeom prst="rect">
              <a:avLst/>
            </a:prstGeom>
            <a:noFill/>
            <a:ln w="19050">
              <a:noFill/>
            </a:ln>
          </p:spPr>
          <p:txBody>
            <a:bodyPr wrap="none"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1.</a:t>
              </a:r>
              <a:r>
                <a:rPr kumimoji="0" lang="zh-CN" altLang="en-US"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炎症特征可提升临床特征预后模型性能</a:t>
              </a:r>
              <a:endPar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p:txBody>
        </p:sp>
      </p:grpSp>
      <p:sp>
        <p:nvSpPr>
          <p:cNvPr id="21" name="文本框 20"/>
          <p:cNvSpPr txBox="1"/>
          <p:nvPr/>
        </p:nvSpPr>
        <p:spPr>
          <a:xfrm>
            <a:off x="5473844" y="553951"/>
            <a:ext cx="4985660" cy="500202"/>
          </a:xfrm>
          <a:prstGeom prst="rect">
            <a:avLst/>
          </a:prstGeom>
          <a:noFill/>
          <a:ln w="19050">
            <a:noFill/>
          </a:ln>
        </p:spPr>
        <p:txBody>
          <a:bodyPr wrap="none" rtlCol="0">
            <a:spAutoFit/>
          </a:bodyPr>
          <a:lstStyle/>
          <a:p>
            <a:pPr defTabSz="914400">
              <a:lnSpc>
                <a:spcPct val="150000"/>
              </a:lnSpc>
              <a:defRPr/>
            </a:pPr>
            <a:r>
              <a:rPr lang="en-US" altLang="zh-CN" sz="2000" b="1" kern="0" dirty="0">
                <a:solidFill>
                  <a:prstClr val="black">
                    <a:lumMod val="75000"/>
                    <a:lumOff val="25000"/>
                  </a:prstClr>
                </a:solidFill>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2</a:t>
            </a:r>
            <a:r>
              <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zh-CN" altLang="en-US"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 算法 </a:t>
            </a:r>
            <a:r>
              <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&amp; </a:t>
            </a:r>
            <a:r>
              <a:rPr kumimoji="0" lang="zh-CN" altLang="en-US"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数据增强策略共同影响模型性能</a:t>
            </a:r>
          </a:p>
        </p:txBody>
      </p:sp>
      <p:grpSp>
        <p:nvGrpSpPr>
          <p:cNvPr id="35" name="组合 34"/>
          <p:cNvGrpSpPr/>
          <p:nvPr/>
        </p:nvGrpSpPr>
        <p:grpSpPr>
          <a:xfrm>
            <a:off x="5512316" y="1751607"/>
            <a:ext cx="6734354" cy="846676"/>
            <a:chOff x="5619097" y="1165802"/>
            <a:chExt cx="6734354" cy="846676"/>
          </a:xfrm>
        </p:grpSpPr>
        <p:sp>
          <p:nvSpPr>
            <p:cNvPr id="22" name="文本框 21"/>
            <p:cNvSpPr txBox="1"/>
            <p:nvPr/>
          </p:nvSpPr>
          <p:spPr>
            <a:xfrm>
              <a:off x="5619097" y="1165802"/>
              <a:ext cx="971741" cy="830997"/>
            </a:xfrm>
            <a:prstGeom prst="rect">
              <a:avLst/>
            </a:prstGeom>
            <a:noFill/>
            <a:ln w="19050">
              <a:noFill/>
            </a:ln>
          </p:spPr>
          <p:txBody>
            <a:bodyPr wrap="none" rtlCol="0">
              <a:spAutoFit/>
            </a:bodyPr>
            <a:lstStyle/>
            <a:p>
              <a:pPr algn="ctr"/>
              <a:r>
                <a:rPr kumimoji="0" lang="en-US" altLang="zh-CN"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RF</a:t>
              </a:r>
            </a:p>
            <a:p>
              <a:pPr algn="ct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vs.</a:t>
              </a:r>
            </a:p>
            <a:p>
              <a:pPr algn="ctr"/>
              <a:r>
                <a:rPr kumimoji="0" lang="en-US" altLang="zh-CN" sz="1600" b="1"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Catboost</a:t>
              </a:r>
              <a:endParaRPr kumimoji="0" lang="zh-CN" altLang="en-US"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6" name="左大括号 25"/>
            <p:cNvSpPr/>
            <p:nvPr/>
          </p:nvSpPr>
          <p:spPr>
            <a:xfrm>
              <a:off x="6573774" y="1234510"/>
              <a:ext cx="180000" cy="720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8" name="文本框 27"/>
            <p:cNvSpPr txBox="1"/>
            <p:nvPr/>
          </p:nvSpPr>
          <p:spPr>
            <a:xfrm>
              <a:off x="6661179" y="1200748"/>
              <a:ext cx="5692272" cy="338554"/>
            </a:xfrm>
            <a:prstGeom prst="rect">
              <a:avLst/>
            </a:prstGeom>
            <a:noFill/>
            <a:ln w="19050">
              <a:noFill/>
            </a:ln>
          </p:spPr>
          <p:txBody>
            <a:bodyPr wrap="square">
              <a:spAutoFit/>
            </a:bodyPr>
            <a:lstStyle/>
            <a:p>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Hu</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等人</a:t>
              </a:r>
              <a:r>
                <a:rPr lang="en-US" altLang="zh-CN" sz="160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：随机森林的</a:t>
              </a:r>
              <a:r>
                <a:rPr lang="en-GB" altLang="zh-CN" sz="1600" dirty="0">
                  <a:latin typeface="Times New Roman" panose="02020503050405090304" pitchFamily="18" charset="0"/>
                  <a:ea typeface="Microsoft YaHei UI" panose="020B0503020204020204" pitchFamily="34" charset="-122"/>
                  <a:cs typeface="Times New Roman" panose="02020503050405090304" pitchFamily="18" charset="0"/>
                </a:rPr>
                <a:t>AUC</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略高于</a:t>
              </a:r>
              <a:r>
                <a:rPr lang="en-GB" altLang="zh-CN" sz="1600" dirty="0" err="1">
                  <a:latin typeface="Times New Roman" panose="02020503050405090304" pitchFamily="18" charset="0"/>
                  <a:ea typeface="Microsoft YaHei UI" panose="020B0503020204020204" pitchFamily="34" charset="-122"/>
                  <a:cs typeface="Times New Roman" panose="02020503050405090304" pitchFamily="18" charset="0"/>
                </a:rPr>
                <a:t>CatBoost</a:t>
              </a:r>
              <a:r>
                <a:rPr lang="zh-CN" altLang="en-GB" sz="1600" dirty="0">
                  <a:latin typeface="Times New Roman" panose="02020503050405090304" pitchFamily="18" charset="0"/>
                  <a:ea typeface="Microsoft YaHei UI" panose="020B0503020204020204" pitchFamily="34" charset="-122"/>
                  <a:cs typeface="Times New Roman" panose="02020503050405090304" pitchFamily="18" charset="0"/>
                </a:rPr>
                <a:t>（</a:t>
              </a:r>
              <a:r>
                <a:rPr lang="en-GB" altLang="zh-CN" sz="1600" dirty="0">
                  <a:latin typeface="Times New Roman" panose="02020503050405090304" pitchFamily="18" charset="0"/>
                  <a:ea typeface="Microsoft YaHei UI" panose="020B0503020204020204" pitchFamily="34" charset="-122"/>
                  <a:cs typeface="Times New Roman" panose="02020503050405090304" pitchFamily="18" charset="0"/>
                </a:rPr>
                <a:t>0.91 vs. 0.88</a:t>
              </a:r>
              <a:r>
                <a:rPr lang="zh-CN" altLang="en-GB" sz="1600" dirty="0">
                  <a:latin typeface="Times New Roman" panose="02020503050405090304" pitchFamily="18" charset="0"/>
                  <a:ea typeface="Microsoft YaHei UI" panose="020B0503020204020204" pitchFamily="34" charset="-122"/>
                  <a:cs typeface="Times New Roman" panose="02020503050405090304" pitchFamily="18" charset="0"/>
                </a:rPr>
                <a:t>）</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9" name="文本框 28"/>
            <p:cNvSpPr txBox="1"/>
            <p:nvPr/>
          </p:nvSpPr>
          <p:spPr>
            <a:xfrm>
              <a:off x="6723887" y="1673924"/>
              <a:ext cx="5274201" cy="338554"/>
            </a:xfrm>
            <a:prstGeom prst="rect">
              <a:avLst/>
            </a:prstGeom>
            <a:noFill/>
            <a:ln w="19050">
              <a:noFill/>
            </a:ln>
          </p:spPr>
          <p:txBody>
            <a:bodyPr wrap="none" rtlCol="0">
              <a:spAutoFit/>
            </a:bodyPr>
            <a:lstStyle/>
            <a:p>
              <a:r>
                <a:rPr kumimoji="0" lang="en-GB" altLang="zh-CN" sz="16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Razavi</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等人</a:t>
              </a:r>
              <a:r>
                <a:rPr kumimoji="0" lang="en-US" altLang="zh-CN" sz="16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0" u="none" strike="noStrike" kern="1200" cap="none" spc="0" normalizeH="0" baseline="0" noProof="0" dirty="0" err="1">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CatBoost</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优于随机森林（</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AUC</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GB" altLang="zh-CN" sz="1600" b="0" i="1"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P</a:t>
              </a:r>
              <a:r>
                <a:rPr kumimoji="0" lang="en-GB"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&lt;0.001</a:t>
              </a:r>
              <a:r>
                <a:rPr kumimoji="0" lang="zh-CN" altLang="en-GB"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endPar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36" name="文本框 35"/>
          <p:cNvSpPr txBox="1"/>
          <p:nvPr/>
        </p:nvSpPr>
        <p:spPr>
          <a:xfrm>
            <a:off x="5302186" y="1203424"/>
            <a:ext cx="4641014" cy="369332"/>
          </a:xfrm>
          <a:prstGeom prst="rect">
            <a:avLst/>
          </a:prstGeom>
          <a:noFill/>
          <a:ln w="19050">
            <a:noFill/>
          </a:ln>
        </p:spPr>
        <p:txBody>
          <a:bodyPr wrap="none" rtlCol="0">
            <a:spAutoFit/>
          </a:bodyPr>
          <a:lstStyle/>
          <a:p>
            <a:pPr algn="l"/>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a:t>
            </a:r>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）算法比较：</a:t>
            </a:r>
            <a:r>
              <a:rPr kumimoji="0" lang="en-US" altLang="zh-CN" sz="180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r>
              <a:rPr kumimoji="0" lang="en-US" altLang="zh-CN" sz="1800" i="0" u="none" strike="noStrike" kern="1200" cap="none" spc="0" normalizeH="0" baseline="0" noProof="0" dirty="0" err="1">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Catboost</a:t>
            </a:r>
            <a:r>
              <a:rPr kumimoji="0" lang="zh-CN" altLang="en-US" sz="180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普遍优于随机森林</a:t>
            </a:r>
            <a:endPar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7" name="文本框 36"/>
          <p:cNvSpPr txBox="1"/>
          <p:nvPr/>
        </p:nvSpPr>
        <p:spPr>
          <a:xfrm>
            <a:off x="5302186" y="2905920"/>
            <a:ext cx="6928500" cy="369332"/>
          </a:xfrm>
          <a:prstGeom prst="rect">
            <a:avLst/>
          </a:prstGeom>
          <a:noFill/>
          <a:ln w="19050">
            <a:noFill/>
          </a:ln>
        </p:spPr>
        <p:txBody>
          <a:bodyPr wrap="none" rtlCol="0">
            <a:spAutoFit/>
          </a:bodyPr>
          <a:lstStyle/>
          <a:p>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a:t>
            </a:r>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）数据增强策略比较：</a:t>
            </a:r>
            <a:r>
              <a:rPr kumimoji="0" lang="en-US" altLang="zh-CN" sz="1800" i="0" u="none" strike="noStrike" kern="1200" cap="none" spc="0" normalizeH="0" baseline="0" noProof="0" dirty="0">
                <a:ln>
                  <a:noFill/>
                </a:ln>
                <a:solidFill>
                  <a:srgbClr val="FF0000"/>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SMOTE+ENN </a:t>
            </a:r>
            <a:r>
              <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&gt; </a:t>
            </a:r>
            <a:r>
              <a:rPr kumimoji="0" lang="en-US" altLang="zh-CN" sz="18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Raw </a:t>
            </a:r>
            <a:r>
              <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&gt;</a:t>
            </a:r>
            <a:r>
              <a:rPr kumimoji="0" lang="en-US" altLang="zh-CN" sz="18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SMOTE</a:t>
            </a:r>
            <a:r>
              <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&gt; </a:t>
            </a:r>
            <a:r>
              <a:rPr lang="en-US" altLang="zh-CN" dirty="0" err="1">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Kmeans</a:t>
            </a:r>
            <a:endParaRPr kumimoji="0" lang="en-US" altLang="zh-CN" sz="18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50" name="组合 49"/>
          <p:cNvGrpSpPr/>
          <p:nvPr/>
        </p:nvGrpSpPr>
        <p:grpSpPr>
          <a:xfrm>
            <a:off x="5512316" y="3503468"/>
            <a:ext cx="6679684" cy="882942"/>
            <a:chOff x="5512316" y="3128729"/>
            <a:chExt cx="6679684" cy="882942"/>
          </a:xfrm>
        </p:grpSpPr>
        <p:grpSp>
          <p:nvGrpSpPr>
            <p:cNvPr id="41" name="组合 40"/>
            <p:cNvGrpSpPr/>
            <p:nvPr/>
          </p:nvGrpSpPr>
          <p:grpSpPr>
            <a:xfrm>
              <a:off x="5512316" y="3128729"/>
              <a:ext cx="6648593" cy="830997"/>
              <a:chOff x="5704858" y="1165802"/>
              <a:chExt cx="6648593" cy="830997"/>
            </a:xfrm>
          </p:grpSpPr>
          <p:sp>
            <p:nvSpPr>
              <p:cNvPr id="42" name="文本框 41"/>
              <p:cNvSpPr txBox="1"/>
              <p:nvPr/>
            </p:nvSpPr>
            <p:spPr>
              <a:xfrm>
                <a:off x="5704858" y="1165802"/>
                <a:ext cx="800219" cy="830997"/>
              </a:xfrm>
              <a:prstGeom prst="rect">
                <a:avLst/>
              </a:prstGeom>
              <a:noFill/>
              <a:ln w="19050">
                <a:noFill/>
              </a:ln>
            </p:spPr>
            <p:txBody>
              <a:bodyPr wrap="none" rtlCol="0">
                <a:spAutoFit/>
              </a:bodyPr>
              <a:lstStyle/>
              <a:p>
                <a:pPr algn="ctr"/>
                <a:r>
                  <a:rPr kumimoji="0" lang="zh-CN" altLang="en-US"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过采样</a:t>
                </a:r>
                <a:endParaRPr kumimoji="0" lang="en-US" altLang="zh-CN"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algn="ctr"/>
                <a:r>
                  <a:rPr lang="zh-CN" altLang="en-US" sz="1600" b="1"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优于</a:t>
                </a:r>
                <a:endParaRPr kumimoji="0" lang="en-US" altLang="zh-CN"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a:p>
                <a:pPr algn="ctr"/>
                <a:r>
                  <a:rPr kumimoji="0" lang="zh-CN" altLang="en-US"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欠采样</a:t>
                </a:r>
              </a:p>
            </p:txBody>
          </p:sp>
          <p:sp>
            <p:nvSpPr>
              <p:cNvPr id="43" name="左大括号 42"/>
              <p:cNvSpPr/>
              <p:nvPr/>
            </p:nvSpPr>
            <p:spPr>
              <a:xfrm>
                <a:off x="6573774" y="1234510"/>
                <a:ext cx="180000" cy="720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4" name="文本框 43"/>
              <p:cNvSpPr txBox="1"/>
              <p:nvPr/>
            </p:nvSpPr>
            <p:spPr>
              <a:xfrm>
                <a:off x="6661179" y="1200747"/>
                <a:ext cx="5692272" cy="338554"/>
              </a:xfrm>
              <a:prstGeom prst="rect">
                <a:avLst/>
              </a:prstGeom>
              <a:noFill/>
              <a:ln w="19050">
                <a:noFill/>
              </a:ln>
            </p:spPr>
            <p:txBody>
              <a:bodyPr wrap="square">
                <a:spAutoFit/>
              </a:bodyPr>
              <a:lstStyle/>
              <a:p>
                <a:r>
                  <a:rPr lang="en-US" altLang="zh-CN" sz="1600" kern="100" dirty="0" err="1">
                    <a:effectLst/>
                    <a:latin typeface="Times New Roman" panose="02020503050405090304" pitchFamily="18" charset="0"/>
                    <a:ea typeface="Microsoft YaHei UI" panose="020B0503020204020204" pitchFamily="34" charset="-122"/>
                    <a:cs typeface="Times New Roman" panose="02020503050405090304" pitchFamily="18" charset="0"/>
                  </a:rPr>
                  <a:t>Fotouhi</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等人</a:t>
                </a:r>
                <a:r>
                  <a:rPr lang="en-US" altLang="zh-CN" sz="160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[3]</a:t>
                </a:r>
                <a:r>
                  <a:rPr lang="zh-CN" altLang="zh-CN" sz="1600" dirty="0">
                    <a:effectLst/>
                    <a:latin typeface="Times New Roman" panose="02020503050405090304" pitchFamily="18" charset="0"/>
                    <a:ea typeface="Microsoft YaHei UI" panose="020B0503020204020204" pitchFamily="34" charset="-122"/>
                    <a:cs typeface="Times New Roman" panose="02020503050405090304" pitchFamily="18" charset="0"/>
                  </a:rPr>
                  <a:t> </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：数据不平衡度</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rPr>
                  <a:t>IR</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越高，过采样提升效果越佳 </a:t>
                </a:r>
              </a:p>
            </p:txBody>
          </p:sp>
        </p:grpSp>
        <p:sp>
          <p:nvSpPr>
            <p:cNvPr id="49" name="文本框 48"/>
            <p:cNvSpPr txBox="1"/>
            <p:nvPr/>
          </p:nvSpPr>
          <p:spPr>
            <a:xfrm>
              <a:off x="6499728" y="3673117"/>
              <a:ext cx="5692272" cy="338554"/>
            </a:xfrm>
            <a:prstGeom prst="rect">
              <a:avLst/>
            </a:prstGeom>
            <a:noFill/>
            <a:ln w="19050">
              <a:noFill/>
            </a:ln>
          </p:spPr>
          <p:txBody>
            <a:bodyPr wrap="square">
              <a:spAutoFit/>
            </a:bodyPr>
            <a:lstStyle/>
            <a:p>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本研究</a:t>
              </a: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IR=16.9</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，欠采样</a:t>
              </a:r>
              <a:r>
                <a:rPr lang="zh-CN" altLang="en-US" sz="1600" b="1"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过小的平衡数据集</a:t>
              </a:r>
              <a:r>
                <a:rPr lang="zh-CN" altLang="en-US" sz="1600" b="1" i="0" dirty="0">
                  <a:solidFill>
                    <a:srgbClr val="333333"/>
                  </a:solidFill>
                  <a:effectLst/>
                  <a:highlight>
                    <a:srgbClr val="FFFFFF"/>
                  </a:highlight>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限制模型性能</a:t>
              </a:r>
              <a:r>
                <a:rPr lang="en-US" altLang="zh-CN" sz="160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[4]</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75" name="组合 74"/>
          <p:cNvGrpSpPr/>
          <p:nvPr/>
        </p:nvGrpSpPr>
        <p:grpSpPr>
          <a:xfrm>
            <a:off x="5315845" y="4638460"/>
            <a:ext cx="6936202" cy="1058703"/>
            <a:chOff x="5284667" y="4452173"/>
            <a:chExt cx="6936202" cy="1058703"/>
          </a:xfrm>
        </p:grpSpPr>
        <p:grpSp>
          <p:nvGrpSpPr>
            <p:cNvPr id="51" name="组合 50"/>
            <p:cNvGrpSpPr/>
            <p:nvPr/>
          </p:nvGrpSpPr>
          <p:grpSpPr>
            <a:xfrm>
              <a:off x="5284667" y="4472248"/>
              <a:ext cx="3855245" cy="881041"/>
              <a:chOff x="5315758" y="3130630"/>
              <a:chExt cx="3855245" cy="881041"/>
            </a:xfrm>
          </p:grpSpPr>
          <p:grpSp>
            <p:nvGrpSpPr>
              <p:cNvPr id="53" name="组合 52"/>
              <p:cNvGrpSpPr/>
              <p:nvPr/>
            </p:nvGrpSpPr>
            <p:grpSpPr>
              <a:xfrm>
                <a:off x="5315758" y="3130630"/>
                <a:ext cx="3425321" cy="786807"/>
                <a:chOff x="5508300" y="1167703"/>
                <a:chExt cx="3425321" cy="786807"/>
              </a:xfrm>
            </p:grpSpPr>
            <p:sp>
              <p:nvSpPr>
                <p:cNvPr id="55" name="文本框 54"/>
                <p:cNvSpPr txBox="1"/>
                <p:nvPr/>
              </p:nvSpPr>
              <p:spPr>
                <a:xfrm>
                  <a:off x="5508300" y="1292772"/>
                  <a:ext cx="1197764" cy="584775"/>
                </a:xfrm>
                <a:prstGeom prst="rect">
                  <a:avLst/>
                </a:prstGeom>
                <a:noFill/>
                <a:ln w="19050">
                  <a:noFill/>
                </a:ln>
              </p:spPr>
              <p:txBody>
                <a:bodyPr wrap="none" rtlCol="0">
                  <a:spAutoFit/>
                </a:bodyPr>
                <a:lstStyle/>
                <a:p>
                  <a:pPr algn="ctr"/>
                  <a:r>
                    <a:rPr kumimoji="0" lang="en-US" altLang="zh-CN"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SMOTE</a:t>
                  </a:r>
                </a:p>
                <a:p>
                  <a:pPr algn="ctr"/>
                  <a:r>
                    <a:rPr kumimoji="0" lang="zh-CN" altLang="en-US"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性能下降</a:t>
                  </a:r>
                  <a:r>
                    <a:rPr kumimoji="0" lang="en-US" altLang="zh-CN"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[5]</a:t>
                  </a:r>
                  <a:endParaRPr kumimoji="0" lang="zh-CN" altLang="en-US"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6" name="左大括号 55"/>
                <p:cNvSpPr/>
                <p:nvPr/>
              </p:nvSpPr>
              <p:spPr>
                <a:xfrm>
                  <a:off x="6611249" y="1234510"/>
                  <a:ext cx="180000" cy="720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7" name="文本框 56"/>
                <p:cNvSpPr txBox="1"/>
                <p:nvPr/>
              </p:nvSpPr>
              <p:spPr>
                <a:xfrm>
                  <a:off x="6760497" y="1167703"/>
                  <a:ext cx="2173124" cy="338554"/>
                </a:xfrm>
                <a:prstGeom prst="rect">
                  <a:avLst/>
                </a:prstGeom>
                <a:noFill/>
                <a:ln w="19050">
                  <a:noFill/>
                </a:ln>
              </p:spPr>
              <p:txBody>
                <a:bodyPr wrap="square">
                  <a:spAutoFit/>
                </a:bodyPr>
                <a:lstStyle/>
                <a:p>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提示存在分布边缘化</a:t>
                  </a:r>
                </a:p>
              </p:txBody>
            </p:sp>
          </p:grpSp>
          <p:sp>
            <p:nvSpPr>
              <p:cNvPr id="54" name="文本框 53"/>
              <p:cNvSpPr txBox="1"/>
              <p:nvPr/>
            </p:nvSpPr>
            <p:spPr>
              <a:xfrm>
                <a:off x="6537203" y="3673117"/>
                <a:ext cx="2633800" cy="338554"/>
              </a:xfrm>
              <a:prstGeom prst="rect">
                <a:avLst/>
              </a:prstGeom>
              <a:noFill/>
              <a:ln w="19050">
                <a:noFill/>
              </a:ln>
            </p:spPr>
            <p:txBody>
              <a:bodyPr wrap="square">
                <a:spAutoFit/>
              </a:bodyPr>
              <a:lstStyle/>
              <a:p>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类别平衡但边缘化问题加重</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72" name="组合 71"/>
            <p:cNvGrpSpPr/>
            <p:nvPr/>
          </p:nvGrpSpPr>
          <p:grpSpPr>
            <a:xfrm>
              <a:off x="9071259" y="4452173"/>
              <a:ext cx="1218099" cy="1058703"/>
              <a:chOff x="9185563" y="4452173"/>
              <a:chExt cx="1218099" cy="1058703"/>
            </a:xfrm>
          </p:grpSpPr>
          <p:grpSp>
            <p:nvGrpSpPr>
              <p:cNvPr id="66" name="组合 65"/>
              <p:cNvGrpSpPr/>
              <p:nvPr/>
            </p:nvGrpSpPr>
            <p:grpSpPr>
              <a:xfrm>
                <a:off x="9267428" y="4452173"/>
                <a:ext cx="1136234" cy="603862"/>
                <a:chOff x="9078136" y="4441652"/>
                <a:chExt cx="1136234" cy="603862"/>
              </a:xfrm>
            </p:grpSpPr>
            <p:sp>
              <p:nvSpPr>
                <p:cNvPr id="58" name="右箭头 57"/>
                <p:cNvSpPr/>
                <p:nvPr/>
              </p:nvSpPr>
              <p:spPr>
                <a:xfrm>
                  <a:off x="9078136" y="4676182"/>
                  <a:ext cx="1136234" cy="369332"/>
                </a:xfrm>
                <a:prstGeom prst="rightArrow">
                  <a:avLst/>
                </a:prstGeom>
                <a:solidFill>
                  <a:srgbClr val="0149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9" name="文本框 58"/>
                <p:cNvSpPr txBox="1"/>
                <p:nvPr/>
              </p:nvSpPr>
              <p:spPr>
                <a:xfrm>
                  <a:off x="9304046" y="4441652"/>
                  <a:ext cx="671979" cy="369332"/>
                </a:xfrm>
                <a:prstGeom prst="rect">
                  <a:avLst/>
                </a:prstGeom>
                <a:noFill/>
                <a:ln w="19050">
                  <a:noFill/>
                </a:ln>
              </p:spPr>
              <p:txBody>
                <a:bodyPr wrap="none" rtlCol="0">
                  <a:spAutoFit/>
                </a:bodyPr>
                <a:lstStyle/>
                <a:p>
                  <a:pPr algn="l"/>
                  <a:r>
                    <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ENN</a:t>
                  </a:r>
                  <a:endPar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67" name="文本框 66"/>
              <p:cNvSpPr txBox="1"/>
              <p:nvPr/>
            </p:nvSpPr>
            <p:spPr>
              <a:xfrm>
                <a:off x="9185563" y="4987656"/>
                <a:ext cx="1136234" cy="523220"/>
              </a:xfrm>
              <a:prstGeom prst="rect">
                <a:avLst/>
              </a:prstGeom>
              <a:noFill/>
              <a:ln w="19050">
                <a:noFill/>
              </a:ln>
            </p:spPr>
            <p:txBody>
              <a:bodyPr wrap="square">
                <a:spAutoFit/>
              </a:bodyPr>
              <a:lstStyle/>
              <a:p>
                <a:pPr algn="ct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降低噪声和</a:t>
                </a:r>
                <a:endPar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endParaRPr>
              </a:p>
              <a:p>
                <a:pPr algn="ct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错误分类 </a:t>
                </a:r>
                <a:r>
                  <a:rPr lang="en-US" altLang="zh-CN" sz="1400" baseline="30000" dirty="0">
                    <a:latin typeface="Times New Roman" panose="02020503050405090304" pitchFamily="18" charset="0"/>
                    <a:ea typeface="Microsoft YaHei UI" panose="020B0503020204020204" pitchFamily="34" charset="-122"/>
                    <a:cs typeface="Times New Roman" panose="02020503050405090304" pitchFamily="18" charset="0"/>
                  </a:rPr>
                  <a:t>[6]</a:t>
                </a:r>
                <a:endPar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69" name="文本框 68"/>
            <p:cNvSpPr txBox="1"/>
            <p:nvPr/>
          </p:nvSpPr>
          <p:spPr>
            <a:xfrm>
              <a:off x="10299510" y="4729052"/>
              <a:ext cx="1921359" cy="369332"/>
            </a:xfrm>
            <a:prstGeom prst="rect">
              <a:avLst/>
            </a:prstGeom>
            <a:noFill/>
            <a:ln w="19050">
              <a:noFill/>
            </a:ln>
          </p:spPr>
          <p:txBody>
            <a:bodyPr wrap="square">
              <a:spAutoFit/>
            </a:bodyPr>
            <a:lstStyle/>
            <a:p>
              <a:pPr algn="ct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模型性能提升</a:t>
              </a:r>
              <a:r>
                <a:rPr lang="en-US" altLang="zh-CN" sz="180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[6–8]</a:t>
              </a:r>
              <a:r>
                <a:rPr lang="zh-CN" altLang="zh-CN" dirty="0">
                  <a:effectLst/>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baseline="30000" dirty="0">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baseline="300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74" name="文本框 73"/>
          <p:cNvSpPr txBox="1"/>
          <p:nvPr/>
        </p:nvSpPr>
        <p:spPr>
          <a:xfrm>
            <a:off x="5512316" y="6157925"/>
            <a:ext cx="2578763" cy="707886"/>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 Hu H, et al. Int J Med Inform, 2025.</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Razavi</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S R,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Comput</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Biol Med, 2025.</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[3]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Fotouhi</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S, et al. J Biomed Inform, 2019.</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[4]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Douzas</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G, et al. Inf Sci, 2018.</a:t>
            </a:r>
          </a:p>
        </p:txBody>
      </p:sp>
      <p:sp>
        <p:nvSpPr>
          <p:cNvPr id="73" name="文本框 72"/>
          <p:cNvSpPr txBox="1"/>
          <p:nvPr/>
        </p:nvSpPr>
        <p:spPr>
          <a:xfrm>
            <a:off x="8091079" y="6157925"/>
            <a:ext cx="3857201" cy="707886"/>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[5] </a:t>
            </a:r>
            <a:r>
              <a:rPr lang="zh-CN" altLang="en-US"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王雅倩。中国医科大学，</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2023.</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[6] Wang X, et al. Sci Rep, 2023.</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[7] Boo Y, et al. Int J Med Inform, 2025.</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[8] Xing M,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Comput</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Methods Programs Biomed, 2022.</a:t>
            </a:r>
          </a:p>
        </p:txBody>
      </p:sp>
      <p:grpSp>
        <p:nvGrpSpPr>
          <p:cNvPr id="76" name="组合 75"/>
          <p:cNvGrpSpPr/>
          <p:nvPr/>
        </p:nvGrpSpPr>
        <p:grpSpPr>
          <a:xfrm>
            <a:off x="-80276" y="-309462"/>
            <a:ext cx="12272277" cy="991435"/>
            <a:chOff x="-80276" y="-309462"/>
            <a:chExt cx="12272277" cy="991435"/>
          </a:xfrm>
        </p:grpSpPr>
        <p:sp>
          <p:nvSpPr>
            <p:cNvPr id="77"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78" name="组合 77"/>
            <p:cNvGrpSpPr/>
            <p:nvPr/>
          </p:nvGrpSpPr>
          <p:grpSpPr>
            <a:xfrm>
              <a:off x="6743677" y="-30118"/>
              <a:ext cx="2576999" cy="581449"/>
              <a:chOff x="4826291" y="-31583"/>
              <a:chExt cx="2576999" cy="581449"/>
            </a:xfrm>
          </p:grpSpPr>
          <p:sp>
            <p:nvSpPr>
              <p:cNvPr id="83"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84"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讨论小结</a:t>
                </a:r>
              </a:p>
            </p:txBody>
          </p:sp>
        </p:grpSp>
        <p:sp>
          <p:nvSpPr>
            <p:cNvPr id="79"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80" name="图片 5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81"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82"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33</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2" name="文本框 21"/>
          <p:cNvSpPr txBox="1"/>
          <p:nvPr/>
        </p:nvSpPr>
        <p:spPr>
          <a:xfrm>
            <a:off x="670689" y="489692"/>
            <a:ext cx="3526928" cy="500202"/>
          </a:xfrm>
          <a:prstGeom prst="rect">
            <a:avLst/>
          </a:prstGeom>
          <a:noFill/>
          <a:ln w="19050">
            <a:noFill/>
          </a:ln>
        </p:spPr>
        <p:txBody>
          <a:bodyPr wrap="none" rtlCol="0">
            <a:spAutoFit/>
          </a:bodyPr>
          <a:lstStyle/>
          <a:p>
            <a:pPr defTabSz="914400">
              <a:lnSpc>
                <a:spcPct val="150000"/>
              </a:lnSpc>
              <a:defRPr/>
            </a:pPr>
            <a:r>
              <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3.</a:t>
            </a:r>
            <a:r>
              <a:rPr kumimoji="0" lang="zh-CN" altLang="en-US"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 </a:t>
            </a:r>
            <a:r>
              <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SHAP</a:t>
            </a:r>
            <a:r>
              <a:rPr lang="zh-CN" altLang="en-US" sz="2000" b="1" kern="0" dirty="0">
                <a:solidFill>
                  <a:prstClr val="black">
                    <a:lumMod val="75000"/>
                    <a:lumOff val="25000"/>
                  </a:prstClr>
                </a:solidFill>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框架识别的重要特征</a:t>
            </a:r>
            <a:endParaRPr kumimoji="0" lang="zh-CN" altLang="en-US"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p:txBody>
      </p:sp>
      <p:sp>
        <p:nvSpPr>
          <p:cNvPr id="23" name="文本框 22"/>
          <p:cNvSpPr txBox="1"/>
          <p:nvPr/>
        </p:nvSpPr>
        <p:spPr>
          <a:xfrm>
            <a:off x="1004400" y="1004467"/>
            <a:ext cx="1704313" cy="369332"/>
          </a:xfrm>
          <a:prstGeom prst="rect">
            <a:avLst/>
          </a:prstGeom>
          <a:noFill/>
          <a:ln w="19050">
            <a:noFill/>
          </a:ln>
        </p:spPr>
        <p:txBody>
          <a:bodyPr wrap="none" rtlCol="0">
            <a:spAutoFit/>
          </a:bodyPr>
          <a:lstStyle/>
          <a:p>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1</a:t>
            </a:r>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）临床特征</a:t>
            </a:r>
          </a:p>
        </p:txBody>
      </p:sp>
      <p:sp>
        <p:nvSpPr>
          <p:cNvPr id="47" name="文本框 46"/>
          <p:cNvSpPr txBox="1"/>
          <p:nvPr/>
        </p:nvSpPr>
        <p:spPr>
          <a:xfrm>
            <a:off x="1004400" y="4884742"/>
            <a:ext cx="1704313" cy="369332"/>
          </a:xfrm>
          <a:prstGeom prst="rect">
            <a:avLst/>
          </a:prstGeom>
          <a:noFill/>
          <a:ln w="19050">
            <a:noFill/>
          </a:ln>
        </p:spPr>
        <p:txBody>
          <a:bodyPr wrap="none" rtlCol="0">
            <a:spAutoFit/>
          </a:bodyPr>
          <a:lstStyle/>
          <a:p>
            <a:pPr algn="l"/>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a:t>
            </a:r>
            <a:r>
              <a:rPr kumimoji="0" lang="en-US" altLang="zh-CN"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a:t>
            </a:r>
            <a:r>
              <a:rPr kumimoji="0" lang="zh-CN" altLang="en-US" sz="18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）炎症特征</a:t>
            </a:r>
          </a:p>
        </p:txBody>
      </p:sp>
      <p:grpSp>
        <p:nvGrpSpPr>
          <p:cNvPr id="79" name="组合 78"/>
          <p:cNvGrpSpPr/>
          <p:nvPr/>
        </p:nvGrpSpPr>
        <p:grpSpPr>
          <a:xfrm>
            <a:off x="1756934" y="1229378"/>
            <a:ext cx="9430665" cy="726376"/>
            <a:chOff x="340064" y="1430483"/>
            <a:chExt cx="9430665" cy="726376"/>
          </a:xfrm>
        </p:grpSpPr>
        <p:sp>
          <p:nvSpPr>
            <p:cNvPr id="24" name="文本框 23"/>
            <p:cNvSpPr txBox="1"/>
            <p:nvPr/>
          </p:nvSpPr>
          <p:spPr>
            <a:xfrm>
              <a:off x="340064" y="1584053"/>
              <a:ext cx="2767104" cy="338554"/>
            </a:xfrm>
            <a:prstGeom prst="rect">
              <a:avLst/>
            </a:prstGeom>
            <a:noFill/>
            <a:ln w="19050">
              <a:noFill/>
            </a:ln>
          </p:spPr>
          <p:txBody>
            <a:bodyPr wrap="none" rtlCol="0">
              <a:spAutoFit/>
            </a:bodyPr>
            <a:lstStyle/>
            <a:p>
              <a:r>
                <a:rPr kumimoji="0" lang="zh-CN" altLang="en-US" sz="1600" b="1"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年龄</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↑，不良预后风险↑</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600" baseline="30000" dirty="0">
                  <a:latin typeface="Times New Roman" panose="02020503050405090304" pitchFamily="18" charset="0"/>
                  <a:ea typeface="Microsoft YaHei UI" panose="020B0503020204020204" pitchFamily="34" charset="-122"/>
                  <a:cs typeface="Times New Roman" panose="02020503050405090304" pitchFamily="18" charset="0"/>
                </a:rPr>
                <a:t>[18-20]</a:t>
              </a:r>
              <a:endParaRPr kumimoji="0" lang="zh-CN" altLang="en-US" sz="16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32" name="组合 31"/>
            <p:cNvGrpSpPr/>
            <p:nvPr/>
          </p:nvGrpSpPr>
          <p:grpSpPr>
            <a:xfrm>
              <a:off x="3008724" y="1430483"/>
              <a:ext cx="6762005" cy="726376"/>
              <a:chOff x="6374024" y="1311342"/>
              <a:chExt cx="6762005" cy="726376"/>
            </a:xfrm>
          </p:grpSpPr>
          <p:sp>
            <p:nvSpPr>
              <p:cNvPr id="27" name="左大括号 26"/>
              <p:cNvSpPr/>
              <p:nvPr/>
            </p:nvSpPr>
            <p:spPr>
              <a:xfrm>
                <a:off x="6374024" y="1395166"/>
                <a:ext cx="180000" cy="504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60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29" name="文本框 28"/>
              <p:cNvSpPr txBox="1"/>
              <p:nvPr/>
            </p:nvSpPr>
            <p:spPr>
              <a:xfrm>
                <a:off x="6566501" y="1311342"/>
                <a:ext cx="6330042" cy="338554"/>
              </a:xfrm>
              <a:prstGeom prst="rect">
                <a:avLst/>
              </a:prstGeom>
              <a:noFill/>
              <a:ln w="19050">
                <a:noFill/>
              </a:ln>
            </p:spPr>
            <p:txBody>
              <a:bodyPr wrap="square">
                <a:spAutoFit/>
              </a:bodyPr>
              <a:lstStyle/>
              <a:p>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免疫功能衰退</a:t>
                </a:r>
                <a:r>
                  <a:rPr kumimoji="0" lang="en-US" altLang="zh-CN" sz="16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[24]</a:t>
                </a:r>
                <a:endParaRPr lang="zh-CN" altLang="en-US" sz="1600" baseline="300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1" name="文本框 30"/>
              <p:cNvSpPr txBox="1"/>
              <p:nvPr/>
            </p:nvSpPr>
            <p:spPr>
              <a:xfrm>
                <a:off x="6566501" y="1699164"/>
                <a:ext cx="6569528" cy="338554"/>
              </a:xfrm>
              <a:prstGeom prst="rect">
                <a:avLst/>
              </a:prstGeom>
              <a:noFill/>
              <a:ln w="19050">
                <a:noFill/>
              </a:ln>
            </p:spPr>
            <p:txBody>
              <a:bodyPr wrap="square">
                <a:spAutoFit/>
              </a:bodyPr>
              <a:lstStyle/>
              <a:p>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基础疾病增加</a:t>
                </a:r>
                <a:r>
                  <a:rPr kumimoji="0" lang="en-US" altLang="zh-CN" sz="16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[25]</a:t>
                </a:r>
                <a:endParaRPr lang="zh-CN" altLang="en-US" sz="1600" baseline="300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34" name="文本框 33"/>
            <p:cNvSpPr txBox="1"/>
            <p:nvPr/>
          </p:nvSpPr>
          <p:spPr>
            <a:xfrm>
              <a:off x="5056871" y="1587440"/>
              <a:ext cx="4064753" cy="338554"/>
            </a:xfrm>
            <a:prstGeom prst="rect">
              <a:avLst/>
            </a:prstGeom>
            <a:noFill/>
            <a:ln w="19050">
              <a:noFill/>
            </a:ln>
          </p:spPr>
          <p:txBody>
            <a:bodyPr wrap="square">
              <a:spAutoFit/>
            </a:bodyPr>
            <a:lstStyle/>
            <a:p>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老年组风险较青年组高</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rPr>
                <a:t>12%-140%</a:t>
              </a:r>
              <a:r>
                <a:rPr lang="en-US" altLang="zh-CN" sz="1600" baseline="30000" dirty="0">
                  <a:latin typeface="Times New Roman" panose="02020503050405090304" pitchFamily="18" charset="0"/>
                  <a:ea typeface="Microsoft YaHei UI" panose="020B0503020204020204" pitchFamily="34" charset="-122"/>
                  <a:cs typeface="Times New Roman" panose="02020503050405090304" pitchFamily="18" charset="0"/>
                </a:rPr>
                <a:t>[21-23]</a:t>
              </a:r>
              <a:endParaRPr lang="zh-CN" altLang="en-US" sz="1600" baseline="300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sp>
        <p:nvSpPr>
          <p:cNvPr id="40" name="文本框 39"/>
          <p:cNvSpPr txBox="1"/>
          <p:nvPr/>
        </p:nvSpPr>
        <p:spPr>
          <a:xfrm>
            <a:off x="1733346" y="3415317"/>
            <a:ext cx="7127062" cy="338554"/>
          </a:xfrm>
          <a:prstGeom prst="rect">
            <a:avLst/>
          </a:prstGeom>
          <a:noFill/>
          <a:ln w="19050">
            <a:noFill/>
          </a:ln>
        </p:spPr>
        <p:txBody>
          <a:bodyPr wrap="square">
            <a:spAutoFit/>
          </a:bodyPr>
          <a:lstStyle/>
          <a:p>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rPr>
              <a:t>二月末病原学结果</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：早期微生物学预后指标</a:t>
            </a:r>
            <a:r>
              <a:rPr lang="en-US" altLang="zh-CN" sz="1800" kern="0"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[31]</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 ，持续阳性与不良预后相关</a:t>
            </a:r>
            <a:r>
              <a:rPr lang="en-US" altLang="zh-CN" sz="1800" kern="0" baseline="30000" dirty="0">
                <a:solidFill>
                  <a:srgbClr val="000000"/>
                </a:solidFill>
                <a:effectLst/>
                <a:latin typeface="Times New Roman" panose="02020503050405090304" pitchFamily="18" charset="0"/>
                <a:ea typeface="Microsoft YaHei UI" panose="020B0503020204020204" pitchFamily="34" charset="-122"/>
                <a:cs typeface="Times New Roman" panose="02020503050405090304" pitchFamily="18" charset="0"/>
              </a:rPr>
              <a:t>[32]</a:t>
            </a:r>
            <a:r>
              <a:rPr lang="zh-CN" altLang="zh-CN" sz="1600" dirty="0">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44" name="文本框 43"/>
          <p:cNvSpPr txBox="1"/>
          <p:nvPr/>
        </p:nvSpPr>
        <p:spPr>
          <a:xfrm>
            <a:off x="1733345" y="3985186"/>
            <a:ext cx="6333564" cy="338554"/>
          </a:xfrm>
          <a:prstGeom prst="rect">
            <a:avLst/>
          </a:prstGeom>
          <a:noFill/>
          <a:ln w="19050">
            <a:noFill/>
          </a:ln>
        </p:spPr>
        <p:txBody>
          <a:bodyPr wrap="square">
            <a:spAutoFit/>
          </a:bodyPr>
          <a:lstStyle/>
          <a:p>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rPr>
              <a:t>空洞 </a:t>
            </a:r>
            <a:r>
              <a:rPr lang="en-US" altLang="zh-CN" sz="1600" b="1" dirty="0">
                <a:latin typeface="Times New Roman" panose="02020503050405090304" pitchFamily="18" charset="0"/>
                <a:ea typeface="Microsoft YaHei UI" panose="020B0503020204020204" pitchFamily="34" charset="-122"/>
                <a:cs typeface="Times New Roman" panose="02020503050405090304" pitchFamily="18" charset="0"/>
              </a:rPr>
              <a:t>&amp; </a:t>
            </a:r>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rPr>
              <a:t>胸膜病变</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：反映肺组织破坏严重</a:t>
            </a:r>
            <a:r>
              <a:rPr lang="en-US" altLang="zh-CN" sz="1800" kern="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[34]</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 ，提示病情较重</a:t>
            </a:r>
          </a:p>
        </p:txBody>
      </p:sp>
      <p:sp>
        <p:nvSpPr>
          <p:cNvPr id="46" name="文本框 45"/>
          <p:cNvSpPr txBox="1"/>
          <p:nvPr/>
        </p:nvSpPr>
        <p:spPr>
          <a:xfrm>
            <a:off x="1733345" y="4496715"/>
            <a:ext cx="6333564" cy="338554"/>
          </a:xfrm>
          <a:prstGeom prst="rect">
            <a:avLst/>
          </a:prstGeom>
          <a:noFill/>
          <a:ln w="19050">
            <a:noFill/>
          </a:ln>
        </p:spPr>
        <p:txBody>
          <a:bodyPr wrap="square">
            <a:spAutoFit/>
          </a:bodyPr>
          <a:lstStyle/>
          <a:p>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rPr>
              <a:t>贫血</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：慢性炎症 </a:t>
            </a:r>
            <a:r>
              <a:rPr lang="en-US" altLang="zh-CN" sz="1600" dirty="0">
                <a:latin typeface="Times New Roman" panose="02020503050405090304" pitchFamily="18" charset="0"/>
                <a:ea typeface="Microsoft YaHei UI" panose="020B0503020204020204" pitchFamily="34" charset="-122"/>
                <a:cs typeface="Times New Roman" panose="02020503050405090304" pitchFamily="18" charset="0"/>
              </a:rPr>
              <a:t>&amp; </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营养不良 → 形成恶性循环，促进结核病进展</a:t>
            </a:r>
            <a:r>
              <a:rPr lang="en-US" altLang="zh-CN" sz="1800" kern="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[35]</a:t>
            </a:r>
            <a:r>
              <a:rPr lang="zh-CN" altLang="zh-CN" sz="1600" dirty="0">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6" name="组合 65"/>
          <p:cNvGrpSpPr/>
          <p:nvPr/>
        </p:nvGrpSpPr>
        <p:grpSpPr>
          <a:xfrm>
            <a:off x="1733345" y="1998229"/>
            <a:ext cx="7139272" cy="693889"/>
            <a:chOff x="672863" y="2201493"/>
            <a:chExt cx="7139272" cy="693889"/>
          </a:xfrm>
        </p:grpSpPr>
        <p:sp>
          <p:nvSpPr>
            <p:cNvPr id="57" name="文本框 56"/>
            <p:cNvSpPr txBox="1"/>
            <p:nvPr/>
          </p:nvSpPr>
          <p:spPr>
            <a:xfrm>
              <a:off x="672863" y="2349308"/>
              <a:ext cx="1755546" cy="338554"/>
            </a:xfrm>
            <a:prstGeom prst="rect">
              <a:avLst/>
            </a:prstGeom>
            <a:noFill/>
            <a:ln w="19050">
              <a:noFill/>
            </a:ln>
          </p:spPr>
          <p:txBody>
            <a:bodyPr wrap="square">
              <a:spAutoFit/>
            </a:bodyPr>
            <a:lstStyle/>
            <a:p>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rPr>
                <a:t>耐多药结核病</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58" name="左大括号 57"/>
            <p:cNvSpPr/>
            <p:nvPr/>
          </p:nvSpPr>
          <p:spPr>
            <a:xfrm>
              <a:off x="2071628" y="2250012"/>
              <a:ext cx="180000" cy="504000"/>
            </a:xfrm>
            <a:prstGeom prst="leftBrace">
              <a:avLst/>
            </a:prstGeom>
            <a:ln w="28575">
              <a:solidFill>
                <a:srgbClr val="01492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sz="160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0" name="文本框 59"/>
            <p:cNvSpPr txBox="1"/>
            <p:nvPr/>
          </p:nvSpPr>
          <p:spPr>
            <a:xfrm>
              <a:off x="2354209" y="2201493"/>
              <a:ext cx="2062169" cy="338554"/>
            </a:xfrm>
            <a:prstGeom prst="rect">
              <a:avLst/>
            </a:prstGeom>
            <a:noFill/>
            <a:ln w="19050">
              <a:noFill/>
            </a:ln>
          </p:spPr>
          <p:txBody>
            <a:bodyPr wrap="square">
              <a:spAutoFit/>
            </a:bodyPr>
            <a:lstStyle/>
            <a:p>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药物选择受限</a:t>
              </a:r>
              <a:r>
                <a:rPr kumimoji="0" lang="en-US" altLang="zh-CN" sz="1800" b="0" i="0" u="none" strike="noStrike" kern="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[26,27]</a:t>
              </a:r>
              <a:r>
                <a:rPr kumimoji="0" lang="zh-CN"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2" name="文本框 61"/>
            <p:cNvSpPr txBox="1"/>
            <p:nvPr/>
          </p:nvSpPr>
          <p:spPr>
            <a:xfrm>
              <a:off x="2354209" y="2556828"/>
              <a:ext cx="2062169" cy="338554"/>
            </a:xfrm>
            <a:prstGeom prst="rect">
              <a:avLst/>
            </a:prstGeom>
            <a:noFill/>
            <a:ln w="19050">
              <a:noFill/>
            </a:ln>
          </p:spPr>
          <p:txBody>
            <a:bodyPr wrap="square">
              <a:spAutoFit/>
            </a:bodyPr>
            <a:lstStyle/>
            <a:p>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治疗依从性低</a:t>
              </a:r>
              <a:r>
                <a:rPr kumimoji="0" lang="en-US" altLang="zh-CN" sz="1800" b="0" i="0" u="none" strike="noStrike" kern="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[28,29]</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4" name="文本框 63"/>
            <p:cNvSpPr txBox="1"/>
            <p:nvPr/>
          </p:nvSpPr>
          <p:spPr>
            <a:xfrm>
              <a:off x="4533966" y="2310770"/>
              <a:ext cx="3278169" cy="338554"/>
            </a:xfrm>
            <a:prstGeom prst="rect">
              <a:avLst/>
            </a:prstGeom>
            <a:noFill/>
            <a:ln w="19050">
              <a:noFill/>
            </a:ln>
          </p:spPr>
          <p:txBody>
            <a:bodyPr wrap="square">
              <a:spAutoFit/>
            </a:bodyPr>
            <a:lstStyle/>
            <a:p>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治疗成功率下降 </a:t>
              </a: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复发风险</a:t>
              </a: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增加</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5" name="右箭头 64"/>
            <p:cNvSpPr/>
            <p:nvPr/>
          </p:nvSpPr>
          <p:spPr>
            <a:xfrm>
              <a:off x="4204180" y="2400159"/>
              <a:ext cx="324000" cy="216000"/>
            </a:xfrm>
            <a:prstGeom prst="rightArrow">
              <a:avLst/>
            </a:prstGeom>
            <a:solidFill>
              <a:srgbClr val="0149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grpSp>
        <p:nvGrpSpPr>
          <p:cNvPr id="75" name="组合 74"/>
          <p:cNvGrpSpPr/>
          <p:nvPr/>
        </p:nvGrpSpPr>
        <p:grpSpPr>
          <a:xfrm>
            <a:off x="1733345" y="2984933"/>
            <a:ext cx="6333564" cy="338554"/>
            <a:chOff x="504733" y="3372014"/>
            <a:chExt cx="6333564" cy="338554"/>
          </a:xfrm>
        </p:grpSpPr>
        <p:sp>
          <p:nvSpPr>
            <p:cNvPr id="42" name="文本框 41"/>
            <p:cNvSpPr txBox="1"/>
            <p:nvPr/>
          </p:nvSpPr>
          <p:spPr>
            <a:xfrm>
              <a:off x="504733" y="3372014"/>
              <a:ext cx="6333564" cy="338554"/>
            </a:xfrm>
            <a:prstGeom prst="rect">
              <a:avLst/>
            </a:prstGeom>
            <a:noFill/>
            <a:ln w="19050">
              <a:noFill/>
            </a:ln>
          </p:spPr>
          <p:txBody>
            <a:bodyPr wrap="square">
              <a:spAutoFit/>
            </a:bodyPr>
            <a:lstStyle/>
            <a:p>
              <a:r>
                <a:rPr lang="zh-CN" altLang="en-US" sz="1600" b="1" dirty="0">
                  <a:latin typeface="Times New Roman" panose="02020503050405090304" pitchFamily="18" charset="0"/>
                  <a:ea typeface="Microsoft YaHei UI" panose="020B0503020204020204" pitchFamily="34" charset="-122"/>
                  <a:cs typeface="Times New Roman" panose="02020503050405090304" pitchFamily="18" charset="0"/>
                </a:rPr>
                <a:t>复治</a:t>
              </a: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（复发</a:t>
              </a:r>
              <a:r>
                <a:rPr lang="en-US" altLang="zh-CN" sz="1400" dirty="0">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en-US" sz="1400" dirty="0">
                  <a:latin typeface="Times New Roman" panose="02020503050405090304" pitchFamily="18" charset="0"/>
                  <a:ea typeface="Microsoft YaHei UI" panose="020B0503020204020204" pitchFamily="34" charset="-122"/>
                  <a:cs typeface="Times New Roman" panose="02020503050405090304" pitchFamily="18" charset="0"/>
                </a:rPr>
                <a:t>中断后再治疗）</a:t>
              </a:r>
              <a:r>
                <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rPr>
                <a:t>：长期治疗        耐药风险增加</a:t>
              </a:r>
              <a:r>
                <a:rPr lang="en-US" altLang="zh-CN" sz="1800" kern="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[30]</a:t>
              </a:r>
              <a:r>
                <a:rPr lang="zh-CN" altLang="zh-CN" sz="1600" dirty="0">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sz="16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74" name="右箭头 73"/>
            <p:cNvSpPr/>
            <p:nvPr/>
          </p:nvSpPr>
          <p:spPr>
            <a:xfrm>
              <a:off x="3876562" y="3441035"/>
              <a:ext cx="324000" cy="216000"/>
            </a:xfrm>
            <a:prstGeom prst="rightArrow">
              <a:avLst/>
            </a:prstGeom>
            <a:solidFill>
              <a:srgbClr val="01492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cxnSp>
        <p:nvCxnSpPr>
          <p:cNvPr id="78" name="直线箭头连接符 77"/>
          <p:cNvCxnSpPr>
            <a:endCxn id="57" idx="2"/>
          </p:cNvCxnSpPr>
          <p:nvPr/>
        </p:nvCxnSpPr>
        <p:spPr>
          <a:xfrm flipH="1" flipV="1">
            <a:off x="2611118" y="2484598"/>
            <a:ext cx="3278169" cy="531331"/>
          </a:xfrm>
          <a:prstGeom prst="straightConnector1">
            <a:avLst/>
          </a:prstGeom>
          <a:ln w="12700">
            <a:solidFill>
              <a:schemeClr val="tx1">
                <a:lumMod val="85000"/>
                <a:lumOff val="1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95" name="组合 94"/>
          <p:cNvGrpSpPr/>
          <p:nvPr/>
        </p:nvGrpSpPr>
        <p:grpSpPr>
          <a:xfrm>
            <a:off x="2072782" y="2425436"/>
            <a:ext cx="5775959" cy="1658451"/>
            <a:chOff x="1455420" y="2955332"/>
            <a:chExt cx="5775959" cy="1658451"/>
          </a:xfrm>
        </p:grpSpPr>
        <p:cxnSp>
          <p:nvCxnSpPr>
            <p:cNvPr id="88" name="直线连接符 87"/>
            <p:cNvCxnSpPr/>
            <p:nvPr/>
          </p:nvCxnSpPr>
          <p:spPr>
            <a:xfrm>
              <a:off x="1455420" y="4245675"/>
              <a:ext cx="0" cy="368108"/>
            </a:xfrm>
            <a:prstGeom prst="line">
              <a:avLst/>
            </a:prstGeom>
            <a:ln w="12700">
              <a:prstDash val="dash"/>
            </a:ln>
          </p:spPr>
          <p:style>
            <a:lnRef idx="1">
              <a:schemeClr val="accent1"/>
            </a:lnRef>
            <a:fillRef idx="0">
              <a:schemeClr val="accent1"/>
            </a:fillRef>
            <a:effectRef idx="0">
              <a:schemeClr val="accent1"/>
            </a:effectRef>
            <a:fontRef idx="minor">
              <a:schemeClr val="tx1"/>
            </a:fontRef>
          </p:style>
        </p:cxnSp>
        <p:cxnSp>
          <p:nvCxnSpPr>
            <p:cNvPr id="91" name="肘形连接符 90"/>
            <p:cNvCxnSpPr/>
            <p:nvPr/>
          </p:nvCxnSpPr>
          <p:spPr>
            <a:xfrm flipV="1">
              <a:off x="1455420" y="3261343"/>
              <a:ext cx="5775959" cy="1165877"/>
            </a:xfrm>
            <a:prstGeom prst="bentConnector3">
              <a:avLst>
                <a:gd name="adj1" fmla="val 115739"/>
              </a:avLst>
            </a:prstGeom>
            <a:ln w="12700">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4" name="直线箭头连接符 93"/>
            <p:cNvCxnSpPr/>
            <p:nvPr/>
          </p:nvCxnSpPr>
          <p:spPr>
            <a:xfrm flipV="1">
              <a:off x="7231379" y="2955332"/>
              <a:ext cx="0" cy="285246"/>
            </a:xfrm>
            <a:prstGeom prst="straightConnector1">
              <a:avLst/>
            </a:prstGeom>
            <a:ln w="12700">
              <a:solidFill>
                <a:schemeClr val="tx1">
                  <a:lumMod val="85000"/>
                  <a:lumOff val="15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sp>
        <p:nvSpPr>
          <p:cNvPr id="97" name="文本框 96"/>
          <p:cNvSpPr txBox="1"/>
          <p:nvPr/>
        </p:nvSpPr>
        <p:spPr>
          <a:xfrm>
            <a:off x="1733345" y="5206483"/>
            <a:ext cx="8295531" cy="787973"/>
          </a:xfrm>
          <a:prstGeom prst="rect">
            <a:avLst/>
          </a:prstGeom>
          <a:noFill/>
          <a:ln w="19050">
            <a:noFill/>
          </a:ln>
        </p:spPr>
        <p:txBody>
          <a:bodyPr wrap="square" rtlCol="0">
            <a:spAutoFit/>
          </a:bodyPr>
          <a:lstStyle/>
          <a:p>
            <a:pPr>
              <a:lnSpc>
                <a:spcPct val="150000"/>
              </a:lnSpc>
            </a:pP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本文</a:t>
            </a:r>
            <a:r>
              <a:rPr kumimoji="0" lang="en-US" altLang="zh-CN"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2.5</a:t>
            </a:r>
            <a:r>
              <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节已着重讨论。未来研究应探索这些指标在个性化治疗中的潜在价值，例如</a:t>
            </a:r>
            <a:r>
              <a:rPr kumimoji="0" lang="zh-CN" altLang="en-US" sz="160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宿主导向炎症调控策略</a:t>
            </a:r>
            <a:r>
              <a:rPr kumimoji="0" lang="en-US" altLang="zh-CN" sz="1600" b="0" i="0" u="none" strike="noStrike" kern="1200" cap="none" spc="0" normalizeH="0" baseline="3000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rPr>
              <a:t>[36]</a:t>
            </a:r>
            <a:r>
              <a:rPr lang="zh-CN" altLang="en-US" sz="1600" dirty="0">
                <a:solidFill>
                  <a:prstClr val="black"/>
                </a:solidFill>
                <a:latin typeface="Times New Roman" panose="02020503050405090304" pitchFamily="18" charset="0"/>
                <a:ea typeface="Microsoft YaHei UI" panose="020B0503020204020204" pitchFamily="34" charset="-122"/>
                <a:cs typeface="Times New Roman" panose="02020503050405090304" pitchFamily="18" charset="0"/>
              </a:rPr>
              <a:t>，以优化治疗决策和改善长期预后。</a:t>
            </a:r>
            <a:endParaRPr kumimoji="0" lang="zh-CN" altLang="en-US" sz="16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7" name="文本框 106"/>
          <p:cNvSpPr txBox="1"/>
          <p:nvPr/>
        </p:nvSpPr>
        <p:spPr>
          <a:xfrm>
            <a:off x="7854527" y="2373218"/>
            <a:ext cx="638538" cy="369332"/>
          </a:xfrm>
          <a:prstGeom prst="rect">
            <a:avLst/>
          </a:prstGeom>
          <a:noFill/>
          <a:ln w="19050">
            <a:noFill/>
          </a:ln>
        </p:spPr>
        <p:txBody>
          <a:bodyPr wrap="square">
            <a:spAutoFit/>
          </a:bodyPr>
          <a:lstStyle/>
          <a:p>
            <a:r>
              <a:rPr lang="en-US" altLang="zh-CN" sz="1800" kern="0" baseline="30000" dirty="0">
                <a:effectLst/>
                <a:latin typeface="Times New Roman" panose="02020503050405090304" pitchFamily="18" charset="0"/>
                <a:ea typeface="Microsoft YaHei UI" panose="020B0503020204020204" pitchFamily="34" charset="-122"/>
                <a:cs typeface="Times New Roman" panose="02020503050405090304" pitchFamily="18" charset="0"/>
              </a:rPr>
              <a:t>[33]</a:t>
            </a:r>
            <a:r>
              <a:rPr lang="zh-CN" altLang="zh-CN" dirty="0">
                <a:effectLst/>
                <a:latin typeface="Times New Roman" panose="02020503050405090304" pitchFamily="18" charset="0"/>
                <a:ea typeface="Microsoft YaHei UI" panose="020B0503020204020204" pitchFamily="34" charset="-122"/>
                <a:cs typeface="Times New Roman" panose="02020503050405090304" pitchFamily="18" charset="0"/>
              </a:rPr>
              <a:t> </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08" name="文本框 107"/>
          <p:cNvSpPr txBox="1"/>
          <p:nvPr/>
        </p:nvSpPr>
        <p:spPr>
          <a:xfrm>
            <a:off x="670689" y="6021412"/>
            <a:ext cx="3250858" cy="861774"/>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 Jesus GS, et al. Nat Med, 2025.</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 Chung C, et al. J Infect Public Health, 2025.</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[3] Xiao W, et al. J Glob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Antimicrob</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Resist, 2025.</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[4] Schneider JL, et al. Cell, 2021.</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[5] Chauhan A, et al. BMC Public Health, 2024.</a:t>
            </a:r>
          </a:p>
        </p:txBody>
      </p:sp>
      <p:sp>
        <p:nvSpPr>
          <p:cNvPr id="109" name="文本框 108"/>
          <p:cNvSpPr txBox="1"/>
          <p:nvPr/>
        </p:nvSpPr>
        <p:spPr>
          <a:xfrm>
            <a:off x="3364358" y="6061988"/>
            <a:ext cx="2727354" cy="861774"/>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[6]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Guthmann</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J-P, et al. Euro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Surveill</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2020.</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[7]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Chenciner</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L, et al. Lancet Glob Health, 2021.</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[8] </a:t>
            </a:r>
            <a:r>
              <a:rPr lang="zh-CN" altLang="en-US"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秦楠等。中国防痨杂志，</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2020.</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[9] WHO. 2022. </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[10] Naidoo K, et al. Lancet Infect Dis, 2024.</a:t>
            </a:r>
          </a:p>
        </p:txBody>
      </p:sp>
      <p:sp>
        <p:nvSpPr>
          <p:cNvPr id="110" name="文本框 109"/>
          <p:cNvSpPr txBox="1"/>
          <p:nvPr/>
        </p:nvSpPr>
        <p:spPr>
          <a:xfrm>
            <a:off x="5957104" y="6061988"/>
            <a:ext cx="3250858" cy="861774"/>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[11] Walker IF,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Eur</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Respir J, 2019.</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[12] Garcia M, et al.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Annu</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Rev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Pharmacol</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Toxicol</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2022.</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[13]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Sichen</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L, et al. Front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Pharmacol</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2023.</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[14]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Kurbatova</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EV, et al. Lancet Respir Med, 2015.</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[15] Liu Q, Lu P, et al. BMC Infect Dis, 2018.</a:t>
            </a:r>
          </a:p>
        </p:txBody>
      </p:sp>
      <p:sp>
        <p:nvSpPr>
          <p:cNvPr id="111" name="文本框 110"/>
          <p:cNvSpPr txBox="1"/>
          <p:nvPr/>
        </p:nvSpPr>
        <p:spPr>
          <a:xfrm>
            <a:off x="8984488" y="6122642"/>
            <a:ext cx="3250858" cy="707886"/>
          </a:xfrm>
          <a:prstGeom prst="rect">
            <a:avLst/>
          </a:prstGeom>
          <a:noFill/>
          <a:ln w="19050">
            <a:noFill/>
          </a:ln>
        </p:spPr>
        <p:txBody>
          <a:bodyPr wrap="square">
            <a:spAutoFit/>
          </a:bodyPr>
          <a:lstStyle/>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[16]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Ruan</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Q, et al. Clin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Microbiol</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Infect, 2022.</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[17] Krug S, et al. Front Immunol, 2021.</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[18] </a:t>
            </a:r>
            <a:r>
              <a:rPr lang="en-US" altLang="zh-CN" sz="1000" kern="100" dirty="0" err="1">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Ashenafi</a:t>
            </a: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 S, et al. Front Immunol, 2023.</a:t>
            </a:r>
          </a:p>
          <a:p>
            <a:pPr marL="243840" indent="-243840">
              <a:tabLst>
                <a:tab pos="241300" algn="l"/>
              </a:tabLst>
            </a:pPr>
            <a:r>
              <a:rPr lang="en-US" altLang="zh-CN" sz="1000" kern="100"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[19] Tiwari D, et al. Semin Immunol, 2023.</a:t>
            </a:r>
          </a:p>
        </p:txBody>
      </p:sp>
      <p:grpSp>
        <p:nvGrpSpPr>
          <p:cNvPr id="112" name="组合 111"/>
          <p:cNvGrpSpPr/>
          <p:nvPr/>
        </p:nvGrpSpPr>
        <p:grpSpPr>
          <a:xfrm>
            <a:off x="-80276" y="-309462"/>
            <a:ext cx="12272277" cy="991435"/>
            <a:chOff x="-80276" y="-309462"/>
            <a:chExt cx="12272277" cy="991435"/>
          </a:xfrm>
        </p:grpSpPr>
        <p:sp>
          <p:nvSpPr>
            <p:cNvPr id="113"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114" name="组合 113"/>
            <p:cNvGrpSpPr/>
            <p:nvPr/>
          </p:nvGrpSpPr>
          <p:grpSpPr>
            <a:xfrm>
              <a:off x="6743677" y="-30118"/>
              <a:ext cx="2576999" cy="581449"/>
              <a:chOff x="4826291" y="-31583"/>
              <a:chExt cx="2576999" cy="581449"/>
            </a:xfrm>
          </p:grpSpPr>
          <p:sp>
            <p:nvSpPr>
              <p:cNvPr id="119"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120"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第三章 讨论小结</a:t>
                </a:r>
              </a:p>
            </p:txBody>
          </p:sp>
        </p:grpSp>
        <p:sp>
          <p:nvSpPr>
            <p:cNvPr id="115"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116"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117"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118" name="TextBox 9"/>
            <p:cNvSpPr txBox="1"/>
            <p:nvPr/>
          </p:nvSpPr>
          <p:spPr>
            <a:xfrm>
              <a:off x="9809550"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5" name="直接连接符 24"/>
          <p:cNvCxnSpPr/>
          <p:nvPr/>
        </p:nvCxnSpPr>
        <p:spPr>
          <a:xfrm>
            <a:off x="0"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6898105" y="6561221"/>
            <a:ext cx="5293895"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54"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3895" y="6098701"/>
            <a:ext cx="1661419" cy="759299"/>
          </a:xfrm>
          <a:prstGeom prst="rect">
            <a:avLst/>
          </a:prstGeom>
        </p:spPr>
      </p:pic>
      <p:sp>
        <p:nvSpPr>
          <p:cNvPr id="58" name="TextBox 57"/>
          <p:cNvSpPr txBox="1"/>
          <p:nvPr/>
        </p:nvSpPr>
        <p:spPr>
          <a:xfrm>
            <a:off x="1188700" y="3873649"/>
            <a:ext cx="6125028"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1" i="0" u="none" strike="noStrike" kern="120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rPr>
              <a:t>01</a:t>
            </a:r>
            <a:endParaRPr kumimoji="0" lang="zh-CN" altLang="en-US" sz="4800" b="1" i="0" u="none" strike="noStrike" kern="1200" cap="none" spc="0" normalizeH="0" baseline="0" noProof="0" dirty="0">
              <a:ln>
                <a:noFill/>
              </a:ln>
              <a:solidFill>
                <a:srgbClr val="014924"/>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Arial" panose="020B0604020202090204"/>
            </a:endParaRPr>
          </a:p>
        </p:txBody>
      </p:sp>
      <p:pic>
        <p:nvPicPr>
          <p:cNvPr id="59"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t="10653" b="40175"/>
          <a:stretch>
            <a:fillRect/>
          </a:stretch>
        </p:blipFill>
        <p:spPr bwMode="auto">
          <a:xfrm>
            <a:off x="-15529" y="1639152"/>
            <a:ext cx="12207529" cy="3373395"/>
          </a:xfrm>
          <a:prstGeom prst="rect">
            <a:avLst/>
          </a:prstGeom>
          <a:noFill/>
          <a:extLst>
            <a:ext uri="{909E8E84-426E-40DD-AFC4-6F175D3DCCD1}">
              <a14:hiddenFill xmlns:a14="http://schemas.microsoft.com/office/drawing/2010/main">
                <a:solidFill>
                  <a:srgbClr val="FFFFFF"/>
                </a:solidFill>
              </a14:hiddenFill>
            </a:ext>
          </a:extLst>
        </p:spPr>
      </p:pic>
      <p:sp>
        <p:nvSpPr>
          <p:cNvPr id="60" name="矩形 7"/>
          <p:cNvSpPr/>
          <p:nvPr/>
        </p:nvSpPr>
        <p:spPr>
          <a:xfrm flipH="1">
            <a:off x="-1" y="1639152"/>
            <a:ext cx="12207529" cy="3373395"/>
          </a:xfrm>
          <a:prstGeom prst="rect">
            <a:avLst/>
          </a:prstGeom>
          <a:gradFill>
            <a:gsLst>
              <a:gs pos="0">
                <a:srgbClr val="014723"/>
              </a:gs>
              <a:gs pos="100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054" name="Group 2053"/>
          <p:cNvGrpSpPr>
            <a:grpSpLocks noChangeAspect="1"/>
          </p:cNvGrpSpPr>
          <p:nvPr/>
        </p:nvGrpSpPr>
        <p:grpSpPr>
          <a:xfrm>
            <a:off x="275244" y="1726719"/>
            <a:ext cx="3198260" cy="3198260"/>
            <a:chOff x="3193843" y="537003"/>
            <a:chExt cx="5783995" cy="5783995"/>
          </a:xfrm>
        </p:grpSpPr>
        <p:grpSp>
          <p:nvGrpSpPr>
            <p:cNvPr id="62" name="组合 4"/>
            <p:cNvGrpSpPr/>
            <p:nvPr/>
          </p:nvGrpSpPr>
          <p:grpSpPr>
            <a:xfrm>
              <a:off x="3193843" y="537003"/>
              <a:ext cx="5783995" cy="5783995"/>
              <a:chOff x="4547908" y="1880907"/>
              <a:chExt cx="3096184" cy="3096184"/>
            </a:xfrm>
            <a:solidFill>
              <a:schemeClr val="accent1"/>
            </a:solidFill>
          </p:grpSpPr>
          <p:sp>
            <p:nvSpPr>
              <p:cNvPr id="63" name="Freeform 8"/>
              <p:cNvSpPr/>
              <p:nvPr/>
            </p:nvSpPr>
            <p:spPr bwMode="auto">
              <a:xfrm rot="20822727">
                <a:off x="4711700" y="2044699"/>
                <a:ext cx="2768600" cy="2768600"/>
              </a:xfrm>
              <a:custGeom>
                <a:avLst/>
                <a:gdLst>
                  <a:gd name="T0" fmla="*/ 18 w 1811"/>
                  <a:gd name="T1" fmla="*/ 1151 h 1812"/>
                  <a:gd name="T2" fmla="*/ 9 w 1811"/>
                  <a:gd name="T3" fmla="*/ 975 h 1812"/>
                  <a:gd name="T4" fmla="*/ 44 w 1811"/>
                  <a:gd name="T5" fmla="*/ 838 h 1812"/>
                  <a:gd name="T6" fmla="*/ 146 w 1811"/>
                  <a:gd name="T7" fmla="*/ 456 h 1812"/>
                  <a:gd name="T8" fmla="*/ 205 w 1811"/>
                  <a:gd name="T9" fmla="*/ 309 h 1812"/>
                  <a:gd name="T10" fmla="*/ 417 w 1811"/>
                  <a:gd name="T11" fmla="*/ 155 h 1812"/>
                  <a:gd name="T12" fmla="*/ 897 w 1811"/>
                  <a:gd name="T13" fmla="*/ 26 h 1812"/>
                  <a:gd name="T14" fmla="*/ 959 w 1811"/>
                  <a:gd name="T15" fmla="*/ 11 h 1812"/>
                  <a:gd name="T16" fmla="*/ 1101 w 1811"/>
                  <a:gd name="T17" fmla="*/ 0 h 1812"/>
                  <a:gd name="T18" fmla="*/ 1299 w 1811"/>
                  <a:gd name="T19" fmla="*/ 90 h 1812"/>
                  <a:gd name="T20" fmla="*/ 1303 w 1811"/>
                  <a:gd name="T21" fmla="*/ 98 h 1812"/>
                  <a:gd name="T22" fmla="*/ 1407 w 1811"/>
                  <a:gd name="T23" fmla="*/ 203 h 1812"/>
                  <a:gd name="T24" fmla="*/ 1609 w 1811"/>
                  <a:gd name="T25" fmla="*/ 404 h 1812"/>
                  <a:gd name="T26" fmla="*/ 1692 w 1811"/>
                  <a:gd name="T27" fmla="*/ 486 h 1812"/>
                  <a:gd name="T28" fmla="*/ 1721 w 1811"/>
                  <a:gd name="T29" fmla="*/ 513 h 1812"/>
                  <a:gd name="T30" fmla="*/ 1798 w 1811"/>
                  <a:gd name="T31" fmla="*/ 648 h 1812"/>
                  <a:gd name="T32" fmla="*/ 1802 w 1811"/>
                  <a:gd name="T33" fmla="*/ 667 h 1812"/>
                  <a:gd name="T34" fmla="*/ 1810 w 1811"/>
                  <a:gd name="T35" fmla="*/ 762 h 1812"/>
                  <a:gd name="T36" fmla="*/ 1807 w 1811"/>
                  <a:gd name="T37" fmla="*/ 839 h 1812"/>
                  <a:gd name="T38" fmla="*/ 1770 w 1811"/>
                  <a:gd name="T39" fmla="*/ 980 h 1812"/>
                  <a:gd name="T40" fmla="*/ 1706 w 1811"/>
                  <a:gd name="T41" fmla="*/ 1215 h 1812"/>
                  <a:gd name="T42" fmla="*/ 1703 w 1811"/>
                  <a:gd name="T43" fmla="*/ 1222 h 1812"/>
                  <a:gd name="T44" fmla="*/ 1675 w 1811"/>
                  <a:gd name="T45" fmla="*/ 1335 h 1812"/>
                  <a:gd name="T46" fmla="*/ 1539 w 1811"/>
                  <a:gd name="T47" fmla="*/ 1580 h 1812"/>
                  <a:gd name="T48" fmla="*/ 1380 w 1811"/>
                  <a:gd name="T49" fmla="*/ 1660 h 1812"/>
                  <a:gd name="T50" fmla="*/ 1273 w 1811"/>
                  <a:gd name="T51" fmla="*/ 1686 h 1812"/>
                  <a:gd name="T52" fmla="*/ 1271 w 1811"/>
                  <a:gd name="T53" fmla="*/ 1690 h 1812"/>
                  <a:gd name="T54" fmla="*/ 1090 w 1811"/>
                  <a:gd name="T55" fmla="*/ 1736 h 1812"/>
                  <a:gd name="T56" fmla="*/ 856 w 1811"/>
                  <a:gd name="T57" fmla="*/ 1800 h 1812"/>
                  <a:gd name="T58" fmla="*/ 840 w 1811"/>
                  <a:gd name="T59" fmla="*/ 1801 h 1812"/>
                  <a:gd name="T60" fmla="*/ 675 w 1811"/>
                  <a:gd name="T61" fmla="*/ 1798 h 1812"/>
                  <a:gd name="T62" fmla="*/ 575 w 1811"/>
                  <a:gd name="T63" fmla="*/ 1757 h 1812"/>
                  <a:gd name="T64" fmla="*/ 415 w 1811"/>
                  <a:gd name="T65" fmla="*/ 1618 h 1812"/>
                  <a:gd name="T66" fmla="*/ 406 w 1811"/>
                  <a:gd name="T67" fmla="*/ 1603 h 1812"/>
                  <a:gd name="T68" fmla="*/ 212 w 1811"/>
                  <a:gd name="T69" fmla="*/ 1409 h 1812"/>
                  <a:gd name="T70" fmla="*/ 197 w 1811"/>
                  <a:gd name="T71" fmla="*/ 1400 h 1812"/>
                  <a:gd name="T72" fmla="*/ 81 w 1811"/>
                  <a:gd name="T73" fmla="*/ 1277 h 1812"/>
                  <a:gd name="T74" fmla="*/ 18 w 1811"/>
                  <a:gd name="T75" fmla="*/ 1151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1" h="1812">
                    <a:moveTo>
                      <a:pt x="18" y="1151"/>
                    </a:moveTo>
                    <a:cubicBezTo>
                      <a:pt x="0" y="1093"/>
                      <a:pt x="1" y="1034"/>
                      <a:pt x="9" y="975"/>
                    </a:cubicBezTo>
                    <a:cubicBezTo>
                      <a:pt x="21" y="930"/>
                      <a:pt x="32" y="884"/>
                      <a:pt x="44" y="838"/>
                    </a:cubicBezTo>
                    <a:cubicBezTo>
                      <a:pt x="78" y="711"/>
                      <a:pt x="112" y="584"/>
                      <a:pt x="146" y="456"/>
                    </a:cubicBezTo>
                    <a:cubicBezTo>
                      <a:pt x="160" y="404"/>
                      <a:pt x="176" y="354"/>
                      <a:pt x="205" y="309"/>
                    </a:cubicBezTo>
                    <a:cubicBezTo>
                      <a:pt x="257" y="231"/>
                      <a:pt x="328" y="179"/>
                      <a:pt x="417" y="155"/>
                    </a:cubicBezTo>
                    <a:cubicBezTo>
                      <a:pt x="576" y="110"/>
                      <a:pt x="737" y="69"/>
                      <a:pt x="897" y="26"/>
                    </a:cubicBezTo>
                    <a:cubicBezTo>
                      <a:pt x="917" y="21"/>
                      <a:pt x="938" y="16"/>
                      <a:pt x="959" y="11"/>
                    </a:cubicBezTo>
                    <a:cubicBezTo>
                      <a:pt x="1006" y="7"/>
                      <a:pt x="1054" y="4"/>
                      <a:pt x="1101" y="0"/>
                    </a:cubicBezTo>
                    <a:cubicBezTo>
                      <a:pt x="1176" y="10"/>
                      <a:pt x="1240" y="44"/>
                      <a:pt x="1299" y="90"/>
                    </a:cubicBezTo>
                    <a:cubicBezTo>
                      <a:pt x="1300" y="93"/>
                      <a:pt x="1301" y="96"/>
                      <a:pt x="1303" y="98"/>
                    </a:cubicBezTo>
                    <a:cubicBezTo>
                      <a:pt x="1338" y="133"/>
                      <a:pt x="1372" y="168"/>
                      <a:pt x="1407" y="203"/>
                    </a:cubicBezTo>
                    <a:cubicBezTo>
                      <a:pt x="1474" y="270"/>
                      <a:pt x="1541" y="337"/>
                      <a:pt x="1609" y="404"/>
                    </a:cubicBezTo>
                    <a:cubicBezTo>
                      <a:pt x="1636" y="431"/>
                      <a:pt x="1664" y="459"/>
                      <a:pt x="1692" y="486"/>
                    </a:cubicBezTo>
                    <a:cubicBezTo>
                      <a:pt x="1702" y="495"/>
                      <a:pt x="1711" y="504"/>
                      <a:pt x="1721" y="513"/>
                    </a:cubicBezTo>
                    <a:cubicBezTo>
                      <a:pt x="1753" y="554"/>
                      <a:pt x="1783" y="597"/>
                      <a:pt x="1798" y="648"/>
                    </a:cubicBezTo>
                    <a:cubicBezTo>
                      <a:pt x="1800" y="654"/>
                      <a:pt x="1801" y="661"/>
                      <a:pt x="1802" y="667"/>
                    </a:cubicBezTo>
                    <a:cubicBezTo>
                      <a:pt x="1805" y="699"/>
                      <a:pt x="1809" y="730"/>
                      <a:pt x="1810" y="762"/>
                    </a:cubicBezTo>
                    <a:cubicBezTo>
                      <a:pt x="1811" y="787"/>
                      <a:pt x="1808" y="813"/>
                      <a:pt x="1807" y="839"/>
                    </a:cubicBezTo>
                    <a:cubicBezTo>
                      <a:pt x="1794" y="886"/>
                      <a:pt x="1782" y="933"/>
                      <a:pt x="1770" y="980"/>
                    </a:cubicBezTo>
                    <a:cubicBezTo>
                      <a:pt x="1749" y="1058"/>
                      <a:pt x="1727" y="1136"/>
                      <a:pt x="1706" y="1215"/>
                    </a:cubicBezTo>
                    <a:cubicBezTo>
                      <a:pt x="1705" y="1217"/>
                      <a:pt x="1704" y="1220"/>
                      <a:pt x="1703" y="1222"/>
                    </a:cubicBezTo>
                    <a:cubicBezTo>
                      <a:pt x="1693" y="1259"/>
                      <a:pt x="1684" y="1297"/>
                      <a:pt x="1675" y="1335"/>
                    </a:cubicBezTo>
                    <a:cubicBezTo>
                      <a:pt x="1655" y="1430"/>
                      <a:pt x="1615" y="1515"/>
                      <a:pt x="1539" y="1580"/>
                    </a:cubicBezTo>
                    <a:cubicBezTo>
                      <a:pt x="1492" y="1619"/>
                      <a:pt x="1438" y="1644"/>
                      <a:pt x="1380" y="1660"/>
                    </a:cubicBezTo>
                    <a:cubicBezTo>
                      <a:pt x="1344" y="1668"/>
                      <a:pt x="1309" y="1677"/>
                      <a:pt x="1273" y="1686"/>
                    </a:cubicBezTo>
                    <a:cubicBezTo>
                      <a:pt x="1272" y="1686"/>
                      <a:pt x="1271" y="1689"/>
                      <a:pt x="1271" y="1690"/>
                    </a:cubicBezTo>
                    <a:cubicBezTo>
                      <a:pt x="1210" y="1705"/>
                      <a:pt x="1150" y="1720"/>
                      <a:pt x="1090" y="1736"/>
                    </a:cubicBezTo>
                    <a:cubicBezTo>
                      <a:pt x="1012" y="1757"/>
                      <a:pt x="934" y="1778"/>
                      <a:pt x="856" y="1800"/>
                    </a:cubicBezTo>
                    <a:cubicBezTo>
                      <a:pt x="851" y="1800"/>
                      <a:pt x="845" y="1799"/>
                      <a:pt x="840" y="1801"/>
                    </a:cubicBezTo>
                    <a:cubicBezTo>
                      <a:pt x="785" y="1812"/>
                      <a:pt x="730" y="1810"/>
                      <a:pt x="675" y="1798"/>
                    </a:cubicBezTo>
                    <a:cubicBezTo>
                      <a:pt x="641" y="1785"/>
                      <a:pt x="606" y="1774"/>
                      <a:pt x="575" y="1757"/>
                    </a:cubicBezTo>
                    <a:cubicBezTo>
                      <a:pt x="511" y="1723"/>
                      <a:pt x="466" y="1667"/>
                      <a:pt x="415" y="1618"/>
                    </a:cubicBezTo>
                    <a:cubicBezTo>
                      <a:pt x="412" y="1613"/>
                      <a:pt x="410" y="1607"/>
                      <a:pt x="406" y="1603"/>
                    </a:cubicBezTo>
                    <a:cubicBezTo>
                      <a:pt x="342" y="1538"/>
                      <a:pt x="277" y="1473"/>
                      <a:pt x="212" y="1409"/>
                    </a:cubicBezTo>
                    <a:cubicBezTo>
                      <a:pt x="208" y="1405"/>
                      <a:pt x="202" y="1403"/>
                      <a:pt x="197" y="1400"/>
                    </a:cubicBezTo>
                    <a:cubicBezTo>
                      <a:pt x="158" y="1359"/>
                      <a:pt x="118" y="1320"/>
                      <a:pt x="81" y="1277"/>
                    </a:cubicBezTo>
                    <a:cubicBezTo>
                      <a:pt x="50" y="1241"/>
                      <a:pt x="29" y="1198"/>
                      <a:pt x="18" y="1151"/>
                    </a:cubicBezTo>
                    <a:close/>
                  </a:path>
                </a:pathLst>
              </a:custGeom>
              <a:solidFill>
                <a:schemeClr val="bg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dirty="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sp>
            <p:nvSpPr>
              <p:cNvPr id="2048" name="Freeform 8"/>
              <p:cNvSpPr/>
              <p:nvPr/>
            </p:nvSpPr>
            <p:spPr bwMode="auto">
              <a:xfrm rot="20822727">
                <a:off x="4547908" y="1880907"/>
                <a:ext cx="3096184" cy="3096184"/>
              </a:xfrm>
              <a:custGeom>
                <a:avLst/>
                <a:gdLst>
                  <a:gd name="T0" fmla="*/ 18 w 1811"/>
                  <a:gd name="T1" fmla="*/ 1151 h 1812"/>
                  <a:gd name="T2" fmla="*/ 9 w 1811"/>
                  <a:gd name="T3" fmla="*/ 975 h 1812"/>
                  <a:gd name="T4" fmla="*/ 44 w 1811"/>
                  <a:gd name="T5" fmla="*/ 838 h 1812"/>
                  <a:gd name="T6" fmla="*/ 146 w 1811"/>
                  <a:gd name="T7" fmla="*/ 456 h 1812"/>
                  <a:gd name="T8" fmla="*/ 205 w 1811"/>
                  <a:gd name="T9" fmla="*/ 309 h 1812"/>
                  <a:gd name="T10" fmla="*/ 417 w 1811"/>
                  <a:gd name="T11" fmla="*/ 155 h 1812"/>
                  <a:gd name="T12" fmla="*/ 897 w 1811"/>
                  <a:gd name="T13" fmla="*/ 26 h 1812"/>
                  <a:gd name="T14" fmla="*/ 959 w 1811"/>
                  <a:gd name="T15" fmla="*/ 11 h 1812"/>
                  <a:gd name="T16" fmla="*/ 1101 w 1811"/>
                  <a:gd name="T17" fmla="*/ 0 h 1812"/>
                  <a:gd name="T18" fmla="*/ 1299 w 1811"/>
                  <a:gd name="T19" fmla="*/ 90 h 1812"/>
                  <a:gd name="T20" fmla="*/ 1303 w 1811"/>
                  <a:gd name="T21" fmla="*/ 98 h 1812"/>
                  <a:gd name="T22" fmla="*/ 1407 w 1811"/>
                  <a:gd name="T23" fmla="*/ 203 h 1812"/>
                  <a:gd name="T24" fmla="*/ 1609 w 1811"/>
                  <a:gd name="T25" fmla="*/ 404 h 1812"/>
                  <a:gd name="T26" fmla="*/ 1692 w 1811"/>
                  <a:gd name="T27" fmla="*/ 486 h 1812"/>
                  <a:gd name="T28" fmla="*/ 1721 w 1811"/>
                  <a:gd name="T29" fmla="*/ 513 h 1812"/>
                  <a:gd name="T30" fmla="*/ 1798 w 1811"/>
                  <a:gd name="T31" fmla="*/ 648 h 1812"/>
                  <a:gd name="T32" fmla="*/ 1802 w 1811"/>
                  <a:gd name="T33" fmla="*/ 667 h 1812"/>
                  <a:gd name="T34" fmla="*/ 1810 w 1811"/>
                  <a:gd name="T35" fmla="*/ 762 h 1812"/>
                  <a:gd name="T36" fmla="*/ 1807 w 1811"/>
                  <a:gd name="T37" fmla="*/ 839 h 1812"/>
                  <a:gd name="T38" fmla="*/ 1770 w 1811"/>
                  <a:gd name="T39" fmla="*/ 980 h 1812"/>
                  <a:gd name="T40" fmla="*/ 1706 w 1811"/>
                  <a:gd name="T41" fmla="*/ 1215 h 1812"/>
                  <a:gd name="T42" fmla="*/ 1703 w 1811"/>
                  <a:gd name="T43" fmla="*/ 1222 h 1812"/>
                  <a:gd name="T44" fmla="*/ 1675 w 1811"/>
                  <a:gd name="T45" fmla="*/ 1335 h 1812"/>
                  <a:gd name="T46" fmla="*/ 1539 w 1811"/>
                  <a:gd name="T47" fmla="*/ 1580 h 1812"/>
                  <a:gd name="T48" fmla="*/ 1380 w 1811"/>
                  <a:gd name="T49" fmla="*/ 1660 h 1812"/>
                  <a:gd name="T50" fmla="*/ 1273 w 1811"/>
                  <a:gd name="T51" fmla="*/ 1686 h 1812"/>
                  <a:gd name="T52" fmla="*/ 1271 w 1811"/>
                  <a:gd name="T53" fmla="*/ 1690 h 1812"/>
                  <a:gd name="T54" fmla="*/ 1090 w 1811"/>
                  <a:gd name="T55" fmla="*/ 1736 h 1812"/>
                  <a:gd name="T56" fmla="*/ 856 w 1811"/>
                  <a:gd name="T57" fmla="*/ 1800 h 1812"/>
                  <a:gd name="T58" fmla="*/ 840 w 1811"/>
                  <a:gd name="T59" fmla="*/ 1801 h 1812"/>
                  <a:gd name="T60" fmla="*/ 675 w 1811"/>
                  <a:gd name="T61" fmla="*/ 1798 h 1812"/>
                  <a:gd name="T62" fmla="*/ 575 w 1811"/>
                  <a:gd name="T63" fmla="*/ 1757 h 1812"/>
                  <a:gd name="T64" fmla="*/ 415 w 1811"/>
                  <a:gd name="T65" fmla="*/ 1618 h 1812"/>
                  <a:gd name="T66" fmla="*/ 406 w 1811"/>
                  <a:gd name="T67" fmla="*/ 1603 h 1812"/>
                  <a:gd name="T68" fmla="*/ 212 w 1811"/>
                  <a:gd name="T69" fmla="*/ 1409 h 1812"/>
                  <a:gd name="T70" fmla="*/ 197 w 1811"/>
                  <a:gd name="T71" fmla="*/ 1400 h 1812"/>
                  <a:gd name="T72" fmla="*/ 81 w 1811"/>
                  <a:gd name="T73" fmla="*/ 1277 h 1812"/>
                  <a:gd name="T74" fmla="*/ 18 w 1811"/>
                  <a:gd name="T75" fmla="*/ 1151 h 1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811" h="1812">
                    <a:moveTo>
                      <a:pt x="18" y="1151"/>
                    </a:moveTo>
                    <a:cubicBezTo>
                      <a:pt x="0" y="1093"/>
                      <a:pt x="1" y="1034"/>
                      <a:pt x="9" y="975"/>
                    </a:cubicBezTo>
                    <a:cubicBezTo>
                      <a:pt x="21" y="930"/>
                      <a:pt x="32" y="884"/>
                      <a:pt x="44" y="838"/>
                    </a:cubicBezTo>
                    <a:cubicBezTo>
                      <a:pt x="78" y="711"/>
                      <a:pt x="112" y="584"/>
                      <a:pt x="146" y="456"/>
                    </a:cubicBezTo>
                    <a:cubicBezTo>
                      <a:pt x="160" y="404"/>
                      <a:pt x="176" y="354"/>
                      <a:pt x="205" y="309"/>
                    </a:cubicBezTo>
                    <a:cubicBezTo>
                      <a:pt x="257" y="231"/>
                      <a:pt x="328" y="179"/>
                      <a:pt x="417" y="155"/>
                    </a:cubicBezTo>
                    <a:cubicBezTo>
                      <a:pt x="576" y="110"/>
                      <a:pt x="737" y="69"/>
                      <a:pt x="897" y="26"/>
                    </a:cubicBezTo>
                    <a:cubicBezTo>
                      <a:pt x="917" y="21"/>
                      <a:pt x="938" y="16"/>
                      <a:pt x="959" y="11"/>
                    </a:cubicBezTo>
                    <a:cubicBezTo>
                      <a:pt x="1006" y="7"/>
                      <a:pt x="1054" y="4"/>
                      <a:pt x="1101" y="0"/>
                    </a:cubicBezTo>
                    <a:cubicBezTo>
                      <a:pt x="1176" y="10"/>
                      <a:pt x="1240" y="44"/>
                      <a:pt x="1299" y="90"/>
                    </a:cubicBezTo>
                    <a:cubicBezTo>
                      <a:pt x="1300" y="93"/>
                      <a:pt x="1301" y="96"/>
                      <a:pt x="1303" y="98"/>
                    </a:cubicBezTo>
                    <a:cubicBezTo>
                      <a:pt x="1338" y="133"/>
                      <a:pt x="1372" y="168"/>
                      <a:pt x="1407" y="203"/>
                    </a:cubicBezTo>
                    <a:cubicBezTo>
                      <a:pt x="1474" y="270"/>
                      <a:pt x="1541" y="337"/>
                      <a:pt x="1609" y="404"/>
                    </a:cubicBezTo>
                    <a:cubicBezTo>
                      <a:pt x="1636" y="431"/>
                      <a:pt x="1664" y="459"/>
                      <a:pt x="1692" y="486"/>
                    </a:cubicBezTo>
                    <a:cubicBezTo>
                      <a:pt x="1702" y="495"/>
                      <a:pt x="1711" y="504"/>
                      <a:pt x="1721" y="513"/>
                    </a:cubicBezTo>
                    <a:cubicBezTo>
                      <a:pt x="1753" y="554"/>
                      <a:pt x="1783" y="597"/>
                      <a:pt x="1798" y="648"/>
                    </a:cubicBezTo>
                    <a:cubicBezTo>
                      <a:pt x="1800" y="654"/>
                      <a:pt x="1801" y="661"/>
                      <a:pt x="1802" y="667"/>
                    </a:cubicBezTo>
                    <a:cubicBezTo>
                      <a:pt x="1805" y="699"/>
                      <a:pt x="1809" y="730"/>
                      <a:pt x="1810" y="762"/>
                    </a:cubicBezTo>
                    <a:cubicBezTo>
                      <a:pt x="1811" y="787"/>
                      <a:pt x="1808" y="813"/>
                      <a:pt x="1807" y="839"/>
                    </a:cubicBezTo>
                    <a:cubicBezTo>
                      <a:pt x="1794" y="886"/>
                      <a:pt x="1782" y="933"/>
                      <a:pt x="1770" y="980"/>
                    </a:cubicBezTo>
                    <a:cubicBezTo>
                      <a:pt x="1749" y="1058"/>
                      <a:pt x="1727" y="1136"/>
                      <a:pt x="1706" y="1215"/>
                    </a:cubicBezTo>
                    <a:cubicBezTo>
                      <a:pt x="1705" y="1217"/>
                      <a:pt x="1704" y="1220"/>
                      <a:pt x="1703" y="1222"/>
                    </a:cubicBezTo>
                    <a:cubicBezTo>
                      <a:pt x="1693" y="1259"/>
                      <a:pt x="1684" y="1297"/>
                      <a:pt x="1675" y="1335"/>
                    </a:cubicBezTo>
                    <a:cubicBezTo>
                      <a:pt x="1655" y="1430"/>
                      <a:pt x="1615" y="1515"/>
                      <a:pt x="1539" y="1580"/>
                    </a:cubicBezTo>
                    <a:cubicBezTo>
                      <a:pt x="1492" y="1619"/>
                      <a:pt x="1438" y="1644"/>
                      <a:pt x="1380" y="1660"/>
                    </a:cubicBezTo>
                    <a:cubicBezTo>
                      <a:pt x="1344" y="1668"/>
                      <a:pt x="1309" y="1677"/>
                      <a:pt x="1273" y="1686"/>
                    </a:cubicBezTo>
                    <a:cubicBezTo>
                      <a:pt x="1272" y="1686"/>
                      <a:pt x="1271" y="1689"/>
                      <a:pt x="1271" y="1690"/>
                    </a:cubicBezTo>
                    <a:cubicBezTo>
                      <a:pt x="1210" y="1705"/>
                      <a:pt x="1150" y="1720"/>
                      <a:pt x="1090" y="1736"/>
                    </a:cubicBezTo>
                    <a:cubicBezTo>
                      <a:pt x="1012" y="1757"/>
                      <a:pt x="934" y="1778"/>
                      <a:pt x="856" y="1800"/>
                    </a:cubicBezTo>
                    <a:cubicBezTo>
                      <a:pt x="851" y="1800"/>
                      <a:pt x="845" y="1799"/>
                      <a:pt x="840" y="1801"/>
                    </a:cubicBezTo>
                    <a:cubicBezTo>
                      <a:pt x="785" y="1812"/>
                      <a:pt x="730" y="1810"/>
                      <a:pt x="675" y="1798"/>
                    </a:cubicBezTo>
                    <a:cubicBezTo>
                      <a:pt x="641" y="1785"/>
                      <a:pt x="606" y="1774"/>
                      <a:pt x="575" y="1757"/>
                    </a:cubicBezTo>
                    <a:cubicBezTo>
                      <a:pt x="511" y="1723"/>
                      <a:pt x="466" y="1667"/>
                      <a:pt x="415" y="1618"/>
                    </a:cubicBezTo>
                    <a:cubicBezTo>
                      <a:pt x="412" y="1613"/>
                      <a:pt x="410" y="1607"/>
                      <a:pt x="406" y="1603"/>
                    </a:cubicBezTo>
                    <a:cubicBezTo>
                      <a:pt x="342" y="1538"/>
                      <a:pt x="277" y="1473"/>
                      <a:pt x="212" y="1409"/>
                    </a:cubicBezTo>
                    <a:cubicBezTo>
                      <a:pt x="208" y="1405"/>
                      <a:pt x="202" y="1403"/>
                      <a:pt x="197" y="1400"/>
                    </a:cubicBezTo>
                    <a:cubicBezTo>
                      <a:pt x="158" y="1359"/>
                      <a:pt x="118" y="1320"/>
                      <a:pt x="81" y="1277"/>
                    </a:cubicBezTo>
                    <a:cubicBezTo>
                      <a:pt x="50" y="1241"/>
                      <a:pt x="29" y="1198"/>
                      <a:pt x="18" y="1151"/>
                    </a:cubicBezTo>
                    <a:close/>
                  </a:path>
                </a:pathLst>
              </a:custGeom>
              <a:noFill/>
              <a:ln>
                <a:solidFill>
                  <a:schemeClr val="bg1"/>
                </a:solid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100" b="0" i="0" u="none" strike="noStrike" kern="1200" cap="none" spc="0" normalizeH="0" baseline="0" noProof="0">
                  <a:ln>
                    <a:noFill/>
                  </a:ln>
                  <a:solidFill>
                    <a:prstClr val="black"/>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grpSp>
        <p:sp>
          <p:nvSpPr>
            <p:cNvPr id="2051" name="文本框 9"/>
            <p:cNvSpPr txBox="1"/>
            <p:nvPr/>
          </p:nvSpPr>
          <p:spPr>
            <a:xfrm>
              <a:off x="4253127" y="1843986"/>
              <a:ext cx="3561080" cy="2838702"/>
            </a:xfrm>
            <a:prstGeom prst="rect">
              <a:avLst/>
            </a:prstGeom>
            <a:noFill/>
            <a:effectLst>
              <a:outerShdw dist="63500" dir="2700000" algn="tl" rotWithShape="0">
                <a:schemeClr val="bg1">
                  <a:alpha val="40000"/>
                </a:schemeClr>
              </a:outerShdw>
            </a:effectLst>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6600" b="1" i="0" u="none" strike="noStrike" cap="none" spc="0" normalizeH="0" baseline="0">
                  <a:ln>
                    <a:noFill/>
                  </a:ln>
                  <a:solidFill>
                    <a:schemeClr val="accent1"/>
                  </a:solidFill>
                  <a:effectLst>
                    <a:outerShdw dist="76200" dir="2700000" algn="tl" rotWithShape="0">
                      <a:prstClr val="white">
                        <a:alpha val="40000"/>
                      </a:prstClr>
                    </a:outerShdw>
                  </a:effectLst>
                  <a:uLnTx/>
                  <a:uFillTx/>
                  <a:latin typeface="Arial" panose="020B0604020202090204"/>
                  <a:ea typeface="微软雅黑"/>
                  <a:cs typeface="汉仪雅酷黑 65W" panose="020B0604020202020204" charset="-122"/>
                </a:defRPr>
              </a:lvl1pPr>
            </a:lstStyle>
            <a:p>
              <a:r>
                <a:rPr lang="en-US" altLang="zh-CN" sz="9600" dirty="0">
                  <a:solidFill>
                    <a:srgbClr val="014924"/>
                  </a:solidFill>
                  <a:latin typeface="Times New Roman" panose="02020503050405090304" pitchFamily="18" charset="0"/>
                  <a:ea typeface="Microsoft YaHei UI" panose="020B0503020204020204" pitchFamily="34" charset="-122"/>
                  <a:cs typeface="Times New Roman" panose="02020503050405090304" pitchFamily="18" charset="0"/>
                  <a:sym typeface="+mn-lt"/>
                </a:rPr>
                <a:t>04</a:t>
              </a:r>
            </a:p>
          </p:txBody>
        </p:sp>
      </p:grpSp>
      <p:sp>
        <p:nvSpPr>
          <p:cNvPr id="2056" name="文本框 14"/>
          <p:cNvSpPr txBox="1"/>
          <p:nvPr/>
        </p:nvSpPr>
        <p:spPr>
          <a:xfrm>
            <a:off x="0" y="2864184"/>
            <a:ext cx="12219017" cy="923330"/>
          </a:xfrm>
          <a:prstGeom prst="rect">
            <a:avLst/>
          </a:prstGeom>
          <a:noFill/>
        </p:spPr>
        <p:txBody>
          <a:bodyPr wrap="square" rtlCol="0">
            <a:spAutoFit/>
          </a:bodyPr>
          <a:lstStyle/>
          <a:p>
            <a:pPr algn="ctr"/>
            <a:r>
              <a:rPr lang="zh-CN" altLang="en-US" sz="5400" b="1" dirty="0">
                <a:solidFill>
                  <a:schemeClr val="bg1">
                    <a:lumMod val="95000"/>
                  </a:schemeClr>
                </a:solidFill>
                <a:latin typeface="Times New Roman" panose="02020503050405090304" pitchFamily="18" charset="0"/>
                <a:ea typeface="Microsoft YaHei UI" panose="020B0503020204020204" pitchFamily="34" charset="-122"/>
                <a:cs typeface="Times New Roman" panose="02020503050405090304" pitchFamily="18" charset="0"/>
              </a:rPr>
              <a:t>研 究 总 结</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35</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8" name="组合 7"/>
          <p:cNvGrpSpPr/>
          <p:nvPr/>
        </p:nvGrpSpPr>
        <p:grpSpPr>
          <a:xfrm>
            <a:off x="-80276" y="-309462"/>
            <a:ext cx="12272277" cy="991435"/>
            <a:chOff x="-80276" y="-309462"/>
            <a:chExt cx="12272277" cy="991435"/>
          </a:xfrm>
        </p:grpSpPr>
        <p:sp>
          <p:nvSpPr>
            <p:cNvPr id="5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6" name="组合 65"/>
            <p:cNvGrpSpPr/>
            <p:nvPr/>
          </p:nvGrpSpPr>
          <p:grpSpPr>
            <a:xfrm>
              <a:off x="9070977" y="-30866"/>
              <a:ext cx="2576999" cy="581449"/>
              <a:chOff x="4826291" y="-31583"/>
              <a:chExt cx="2576999" cy="581449"/>
            </a:xfrm>
          </p:grpSpPr>
          <p:sp>
            <p:nvSpPr>
              <p:cNvPr id="60"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1"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62"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63"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64"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65" name="TextBox 9"/>
            <p:cNvSpPr txBox="1"/>
            <p:nvPr/>
          </p:nvSpPr>
          <p:spPr>
            <a:xfrm>
              <a:off x="6743677"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 </a:t>
              </a:r>
            </a:p>
          </p:txBody>
        </p:sp>
      </p:grpSp>
      <p:sp>
        <p:nvSpPr>
          <p:cNvPr id="9" name="TextBox 9"/>
          <p:cNvSpPr txBox="1"/>
          <p:nvPr/>
        </p:nvSpPr>
        <p:spPr>
          <a:xfrm>
            <a:off x="324454" y="705182"/>
            <a:ext cx="1502253" cy="587441"/>
          </a:xfrm>
          <a:prstGeom prst="rect">
            <a:avLst/>
          </a:prstGeom>
          <a:solidFill>
            <a:srgbClr val="014924"/>
          </a:solidFill>
        </p:spPr>
        <p:txBody>
          <a:bodyPr wrap="square" lIns="108000" tIns="108000" rIns="108000" bIns="108000" rtlCol="0" anchor="ctr" anchorCtr="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主要结论</a:t>
            </a:r>
          </a:p>
        </p:txBody>
      </p:sp>
      <p:grpSp>
        <p:nvGrpSpPr>
          <p:cNvPr id="113" name="组合 112"/>
          <p:cNvGrpSpPr/>
          <p:nvPr/>
        </p:nvGrpSpPr>
        <p:grpSpPr>
          <a:xfrm>
            <a:off x="5971640" y="1684670"/>
            <a:ext cx="5873997" cy="2361929"/>
            <a:chOff x="6304878" y="1706288"/>
            <a:chExt cx="5873997" cy="2361929"/>
          </a:xfrm>
        </p:grpSpPr>
        <p:sp>
          <p:nvSpPr>
            <p:cNvPr id="116" name="椭圆 115"/>
            <p:cNvSpPr/>
            <p:nvPr/>
          </p:nvSpPr>
          <p:spPr>
            <a:xfrm>
              <a:off x="6304878" y="1844269"/>
              <a:ext cx="1193203" cy="1193203"/>
            </a:xfrm>
            <a:prstGeom prst="ellipse">
              <a:avLst/>
            </a:prstGeom>
            <a:solidFill>
              <a:srgbClr val="378B99"/>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4800" b="1" i="0" u="none" strike="noStrike" kern="0" cap="none" spc="0" normalizeH="0" baseline="0" noProof="0" dirty="0">
                  <a:ln>
                    <a:noFill/>
                  </a:ln>
                  <a:solidFill>
                    <a:schemeClr val="bg1"/>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rPr>
                <a:t>02</a:t>
              </a:r>
              <a:endParaRPr kumimoji="0" lang="zh-CN" altLang="en-US" sz="4800" b="1" i="0" u="none" strike="noStrike" kern="0" cap="none" spc="0" normalizeH="0" baseline="0" noProof="0" dirty="0">
                <a:ln>
                  <a:noFill/>
                </a:ln>
                <a:solidFill>
                  <a:schemeClr val="bg1"/>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sp>
          <p:nvSpPr>
            <p:cNvPr id="115" name="Synergistically utilize technically sound portals with frictionless chains. Dramatically customize…"/>
            <p:cNvSpPr txBox="1"/>
            <p:nvPr/>
          </p:nvSpPr>
          <p:spPr>
            <a:xfrm>
              <a:off x="7544231" y="1706288"/>
              <a:ext cx="4634644" cy="2361929"/>
            </a:xfrm>
            <a:prstGeom prst="rect">
              <a:avLst/>
            </a:prstGeom>
            <a:ln w="12700">
              <a:miter lim="400000"/>
            </a:ln>
          </p:spPr>
          <p:txBody>
            <a:bodyPr wrap="square" lIns="0" tIns="0" rIns="0" bIns="0">
              <a:spAutoFit/>
            </a:bodyPr>
            <a:lstStyle/>
            <a:p>
              <a:pPr defTabSz="914400">
                <a:lnSpc>
                  <a:spcPct val="150000"/>
                </a:lnSpc>
                <a:defRPr/>
              </a:pPr>
              <a:r>
                <a:rPr kumimoji="0" lang="zh-CN" altLang="en-US"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炎症指标与肺结核预后关联的人群异质性</a:t>
              </a:r>
              <a:endPar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a:p>
              <a:pPr defTabSz="914400">
                <a:lnSpc>
                  <a:spcPct val="150000"/>
                </a:lnSpc>
                <a:defRPr/>
              </a:pP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在年龄</a:t>
              </a:r>
              <a:r>
                <a:rPr kumimoji="0" lang="en-US"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&gt;30</a:t>
              </a: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岁、男性、耐多药结核病、肺部空洞、非糖尿病患者和非乙肝患者中，</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CAR</a:t>
              </a:r>
              <a:r>
                <a:rPr kumimoji="0" lang="zh-CN" altLang="en-GB"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CLR</a:t>
              </a:r>
              <a:r>
                <a:rPr kumimoji="0" lang="zh-CN" altLang="en-GB"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err="1">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dNLR</a:t>
              </a:r>
              <a:r>
                <a:rPr kumimoji="0" lang="zh-CN" altLang="en-GB"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NLR</a:t>
              </a:r>
              <a:r>
                <a:rPr kumimoji="0" lang="zh-CN" altLang="en-GB"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SII</a:t>
              </a: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和</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SIRI</a:t>
              </a: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存在特异性危险效应。此外，在</a:t>
              </a:r>
              <a:r>
                <a:rPr kumimoji="0" lang="en-US"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30-60</a:t>
              </a: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岁年龄组、男性、超重者、复治患者以及合并肿瘤者中，</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CAR</a:t>
              </a:r>
              <a:r>
                <a:rPr kumimoji="0" lang="zh-CN" altLang="en-GB"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CLR</a:t>
              </a:r>
              <a:r>
                <a:rPr kumimoji="0" lang="zh-CN" altLang="en-GB"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err="1">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dNLR</a:t>
              </a: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和</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SII</a:t>
              </a: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的危险效应出现低剂量化。</a:t>
              </a:r>
            </a:p>
            <a:p>
              <a:pPr defTabSz="914400">
                <a:lnSpc>
                  <a:spcPct val="150000"/>
                </a:lnSpc>
                <a:defRPr/>
              </a:pPr>
              <a:endPar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p:txBody>
        </p:sp>
      </p:grpSp>
      <p:grpSp>
        <p:nvGrpSpPr>
          <p:cNvPr id="118" name="组合 117"/>
          <p:cNvGrpSpPr/>
          <p:nvPr/>
        </p:nvGrpSpPr>
        <p:grpSpPr>
          <a:xfrm>
            <a:off x="5971640" y="4394602"/>
            <a:ext cx="6095441" cy="1393330"/>
            <a:chOff x="6304878" y="3997120"/>
            <a:chExt cx="6095441" cy="1393330"/>
          </a:xfrm>
        </p:grpSpPr>
        <p:sp>
          <p:nvSpPr>
            <p:cNvPr id="121" name="椭圆 120"/>
            <p:cNvSpPr/>
            <p:nvPr/>
          </p:nvSpPr>
          <p:spPr>
            <a:xfrm>
              <a:off x="6304878" y="3997120"/>
              <a:ext cx="1193203" cy="1193203"/>
            </a:xfrm>
            <a:prstGeom prst="ellipse">
              <a:avLst/>
            </a:prstGeom>
            <a:solidFill>
              <a:srgbClr val="2A6B75"/>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4800" b="1" i="0" u="none" strike="noStrike" kern="0" cap="none" spc="0" normalizeH="0" baseline="0" noProof="0" dirty="0">
                  <a:ln>
                    <a:noFill/>
                  </a:ln>
                  <a:solidFill>
                    <a:schemeClr val="bg1"/>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rPr>
                <a:t>04</a:t>
              </a:r>
              <a:endParaRPr kumimoji="0" lang="zh-CN" altLang="en-US" sz="4800" b="1" i="0" u="none" strike="noStrike" kern="0" cap="none" spc="0" normalizeH="0" baseline="0" noProof="0" dirty="0">
                <a:ln>
                  <a:noFill/>
                </a:ln>
                <a:solidFill>
                  <a:schemeClr val="bg1"/>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sp>
          <p:nvSpPr>
            <p:cNvPr id="120" name="Synergistically utilize technically sound portals with frictionless chains. Dramatically customize…"/>
            <p:cNvSpPr txBox="1"/>
            <p:nvPr/>
          </p:nvSpPr>
          <p:spPr>
            <a:xfrm>
              <a:off x="7544230" y="3997120"/>
              <a:ext cx="4856089" cy="1393330"/>
            </a:xfrm>
            <a:prstGeom prst="rect">
              <a:avLst/>
            </a:prstGeom>
            <a:ln w="12700">
              <a:miter lim="400000"/>
            </a:ln>
          </p:spPr>
          <p:txBody>
            <a:bodyPr wrap="square" lIns="0" tIns="0" rIns="0" bIns="0">
              <a:spAutoFit/>
            </a:bodyPr>
            <a:lstStyle/>
            <a:p>
              <a:pPr defTabSz="914400">
                <a:lnSpc>
                  <a:spcPct val="150000"/>
                </a:lnSpc>
                <a:defRPr/>
              </a:pPr>
              <a:r>
                <a:rPr kumimoji="0" lang="zh-CN" altLang="en-US"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混合采样可提升类别不平衡下预后模型性能</a:t>
              </a:r>
              <a:endPar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a:p>
              <a:pPr defTabSz="914400">
                <a:lnSpc>
                  <a:spcPct val="150000"/>
                </a:lnSpc>
                <a:defRPr/>
              </a:pP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在肺结核治疗数据的类别不平衡背景下，采用</a:t>
              </a:r>
              <a:r>
                <a:rPr kumimoji="0" lang="en-GB"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SMOTE+ENN</a:t>
              </a:r>
            </a:p>
            <a:p>
              <a:pPr defTabSz="914400">
                <a:lnSpc>
                  <a:spcPct val="150000"/>
                </a:lnSpc>
                <a:defRPr/>
              </a:pP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混合采样可提升预后模型性能，而单一的欠采样或过采样导</a:t>
              </a:r>
              <a:endParaRPr kumimoji="0" lang="en-US" altLang="zh-CN"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a:p>
              <a:pPr defTabSz="914400">
                <a:lnSpc>
                  <a:spcPct val="150000"/>
                </a:lnSpc>
                <a:defRPr/>
              </a:pP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致预后模型性能下降。</a:t>
              </a:r>
            </a:p>
          </p:txBody>
        </p:sp>
      </p:grpSp>
      <p:grpSp>
        <p:nvGrpSpPr>
          <p:cNvPr id="123" name="组合 122"/>
          <p:cNvGrpSpPr/>
          <p:nvPr/>
        </p:nvGrpSpPr>
        <p:grpSpPr>
          <a:xfrm>
            <a:off x="248254" y="1684670"/>
            <a:ext cx="5802026" cy="1716496"/>
            <a:chOff x="657691" y="1706288"/>
            <a:chExt cx="5802026" cy="1716496"/>
          </a:xfrm>
        </p:grpSpPr>
        <p:sp>
          <p:nvSpPr>
            <p:cNvPr id="126" name="椭圆 125"/>
            <p:cNvSpPr/>
            <p:nvPr/>
          </p:nvSpPr>
          <p:spPr>
            <a:xfrm>
              <a:off x="657691" y="1844269"/>
              <a:ext cx="1193203" cy="1193203"/>
            </a:xfrm>
            <a:prstGeom prst="ellipse">
              <a:avLst/>
            </a:prstGeom>
            <a:solidFill>
              <a:srgbClr val="2A6B75"/>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4800" b="1" i="0" u="none" strike="noStrike" kern="0" cap="none" spc="0" normalizeH="0" baseline="0" noProof="0" dirty="0">
                  <a:ln>
                    <a:noFill/>
                  </a:ln>
                  <a:solidFill>
                    <a:schemeClr val="bg1"/>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rPr>
                <a:t>01</a:t>
              </a:r>
              <a:endParaRPr kumimoji="0" lang="zh-CN" altLang="en-US" sz="4800" b="1" i="0" u="none" strike="noStrike" kern="0" cap="none" spc="0" normalizeH="0" baseline="0" noProof="0" dirty="0">
                <a:ln>
                  <a:noFill/>
                </a:ln>
                <a:solidFill>
                  <a:schemeClr val="bg1"/>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sp>
          <p:nvSpPr>
            <p:cNvPr id="125" name="Synergistically utilize technically sound portals with frictionless chains. Dramatically customize…"/>
            <p:cNvSpPr txBox="1"/>
            <p:nvPr/>
          </p:nvSpPr>
          <p:spPr>
            <a:xfrm>
              <a:off x="1867279" y="1706288"/>
              <a:ext cx="4592438" cy="1716496"/>
            </a:xfrm>
            <a:prstGeom prst="rect">
              <a:avLst/>
            </a:prstGeom>
            <a:ln w="12700">
              <a:miter lim="400000"/>
            </a:ln>
          </p:spPr>
          <p:txBody>
            <a:bodyPr wrap="square" lIns="0" tIns="0" rIns="0" bIns="0">
              <a:spAutoFit/>
            </a:bodyPr>
            <a:lstStyle/>
            <a:p>
              <a:pPr defTabSz="914400">
                <a:lnSpc>
                  <a:spcPct val="150000"/>
                </a:lnSpc>
                <a:defRPr/>
              </a:pPr>
              <a:r>
                <a:rPr lang="zh-CN" altLang="en-US" sz="2000" b="1" kern="0" dirty="0">
                  <a:solidFill>
                    <a:schemeClr val="tx1">
                      <a:lumMod val="75000"/>
                      <a:lumOff val="25000"/>
                    </a:schemeClr>
                  </a:solidFill>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血液</a:t>
              </a:r>
              <a:r>
                <a:rPr kumimoji="0" lang="zh-CN" altLang="en-US" sz="20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炎症指标是肺结核预后独立预测因子</a:t>
              </a:r>
              <a:endParaRPr kumimoji="0" lang="en-US" altLang="zh-CN" sz="2000" b="1"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a:p>
              <a:pPr defTabSz="914400">
                <a:lnSpc>
                  <a:spcPct val="150000"/>
                </a:lnSpc>
                <a:defRPr/>
              </a:pP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COX</a:t>
              </a:r>
              <a:r>
                <a:rPr kumimoji="0" lang="zh-CN" altLang="en-US"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回归及机器学习模型均识别出</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CAR</a:t>
              </a:r>
              <a:r>
                <a:rPr kumimoji="0" lang="zh-CN" altLang="en-GB"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CLR</a:t>
              </a:r>
              <a:r>
                <a:rPr kumimoji="0" lang="zh-CN" altLang="en-GB"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err="1">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dNLR</a:t>
              </a:r>
              <a:r>
                <a:rPr kumimoji="0" lang="zh-CN" altLang="en-GB"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NLR</a:t>
              </a:r>
              <a:r>
                <a:rPr kumimoji="0" lang="zh-CN" altLang="en-GB"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SII</a:t>
              </a:r>
              <a:r>
                <a:rPr kumimoji="0" lang="zh-CN" altLang="en-US"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和</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SIRI</a:t>
              </a:r>
              <a:r>
                <a:rPr kumimoji="0" lang="zh-CN" altLang="en-US"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升高是肺结核患者不良预后的独立危险因素，高水平</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ENR</a:t>
              </a:r>
              <a:r>
                <a:rPr kumimoji="0" lang="zh-CN" altLang="en-US"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具有保护效应。此外，</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MLR</a:t>
              </a:r>
              <a:r>
                <a:rPr kumimoji="0" lang="zh-CN" altLang="en-GB"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NLR</a:t>
              </a:r>
              <a:r>
                <a:rPr kumimoji="0" lang="zh-CN" altLang="en-US"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和</a:t>
              </a:r>
              <a:r>
                <a:rPr kumimoji="0" lang="en-GB" altLang="zh-CN"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PNI</a:t>
              </a:r>
              <a:r>
                <a:rPr kumimoji="0" lang="zh-CN" altLang="en-US" sz="1400" b="0" i="0" u="none" strike="noStrike" kern="0" cap="none" spc="0" normalizeH="0" baseline="0" noProof="0" dirty="0">
                  <a:ln>
                    <a:noFill/>
                  </a:ln>
                  <a:solidFill>
                    <a:schemeClr val="tx1">
                      <a:lumMod val="75000"/>
                      <a:lumOff val="25000"/>
                    </a:scheme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与预后存在非线性关联。</a:t>
              </a:r>
            </a:p>
          </p:txBody>
        </p:sp>
      </p:grpSp>
      <p:grpSp>
        <p:nvGrpSpPr>
          <p:cNvPr id="128" name="组合 127"/>
          <p:cNvGrpSpPr/>
          <p:nvPr/>
        </p:nvGrpSpPr>
        <p:grpSpPr>
          <a:xfrm>
            <a:off x="248254" y="4394602"/>
            <a:ext cx="5601036" cy="1431235"/>
            <a:chOff x="657691" y="3997120"/>
            <a:chExt cx="5601036" cy="1431235"/>
          </a:xfrm>
        </p:grpSpPr>
        <p:sp>
          <p:nvSpPr>
            <p:cNvPr id="131" name="椭圆 130"/>
            <p:cNvSpPr/>
            <p:nvPr/>
          </p:nvSpPr>
          <p:spPr>
            <a:xfrm>
              <a:off x="657691" y="3997120"/>
              <a:ext cx="1193203" cy="1193203"/>
            </a:xfrm>
            <a:prstGeom prst="ellipse">
              <a:avLst/>
            </a:prstGeom>
            <a:solidFill>
              <a:srgbClr val="378B99"/>
            </a:solidFill>
            <a:ln w="12700" cap="flat" cmpd="sng" algn="ctr">
              <a:noFill/>
              <a:prstDash val="solid"/>
              <a:miter lim="800000"/>
            </a:ln>
            <a:effectLst/>
          </p:spPr>
          <p:txBody>
            <a:bodyPr rtlCol="0" anchor="ctr"/>
            <a:lstStyle/>
            <a:p>
              <a:pPr marL="0" marR="0" lvl="0" indent="0" algn="ctr" defTabSz="457200" eaLnBrk="1" fontAlgn="auto" latinLnBrk="0" hangingPunct="1">
                <a:lnSpc>
                  <a:spcPct val="100000"/>
                </a:lnSpc>
                <a:spcBef>
                  <a:spcPts val="0"/>
                </a:spcBef>
                <a:spcAft>
                  <a:spcPts val="0"/>
                </a:spcAft>
                <a:buClrTx/>
                <a:buSzTx/>
                <a:buFontTx/>
                <a:buNone/>
                <a:defRPr/>
              </a:pPr>
              <a:r>
                <a:rPr kumimoji="0" lang="en-US" altLang="zh-CN" sz="4800" b="1" i="0" u="none" strike="noStrike" kern="0" cap="none" spc="0" normalizeH="0" baseline="0" noProof="0" dirty="0">
                  <a:ln>
                    <a:noFill/>
                  </a:ln>
                  <a:solidFill>
                    <a:schemeClr val="bg1"/>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rPr>
                <a:t>03</a:t>
              </a:r>
              <a:endParaRPr kumimoji="0" lang="zh-CN" altLang="en-US" sz="4800" b="1" i="0" u="none" strike="noStrike" kern="0" cap="none" spc="0" normalizeH="0" baseline="0" noProof="0" dirty="0">
                <a:ln>
                  <a:noFill/>
                </a:ln>
                <a:solidFill>
                  <a:schemeClr val="bg1"/>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mn-lt"/>
              </a:endParaRPr>
            </a:p>
          </p:txBody>
        </p:sp>
        <p:sp>
          <p:nvSpPr>
            <p:cNvPr id="130" name="Synergistically utilize technically sound portals with frictionless chains. Dramatically customize…"/>
            <p:cNvSpPr txBox="1"/>
            <p:nvPr/>
          </p:nvSpPr>
          <p:spPr>
            <a:xfrm>
              <a:off x="1912998" y="4035025"/>
              <a:ext cx="4345729" cy="1393330"/>
            </a:xfrm>
            <a:prstGeom prst="rect">
              <a:avLst/>
            </a:prstGeom>
            <a:ln w="12700">
              <a:miter lim="400000"/>
            </a:ln>
          </p:spPr>
          <p:txBody>
            <a:bodyPr wrap="square" lIns="0" tIns="0" rIns="0" bIns="0">
              <a:spAutoFit/>
            </a:bodyPr>
            <a:lstStyle/>
            <a:p>
              <a:pPr defTabSz="914400">
                <a:lnSpc>
                  <a:spcPct val="150000"/>
                </a:lnSpc>
                <a:defRPr/>
              </a:pPr>
              <a:r>
                <a:rPr kumimoji="0" lang="zh-CN" altLang="en-US"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炎症特征可提升临床特征预后模型性能</a:t>
              </a:r>
              <a:endParaRPr kumimoji="0" lang="en-US" altLang="zh-CN" sz="2000" b="1"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endParaRPr>
            </a:p>
            <a:p>
              <a:pPr defTabSz="914400">
                <a:lnSpc>
                  <a:spcPct val="150000"/>
                </a:lnSpc>
                <a:defRPr/>
              </a:pPr>
              <a:r>
                <a:rPr kumimoji="0" lang="zh-CN" altLang="en-US" sz="1400" b="0" i="0" u="none" strike="noStrike" kern="0" cap="none" spc="0" normalizeH="0" baseline="0" noProof="0" dirty="0">
                  <a:ln>
                    <a:noFill/>
                  </a:ln>
                  <a:solidFill>
                    <a:prstClr val="black">
                      <a:lumMod val="75000"/>
                      <a:lumOff val="25000"/>
                    </a:prstClr>
                  </a:solidFill>
                  <a:effectLst/>
                  <a:uLnTx/>
                  <a:uFillTx/>
                  <a:latin typeface="Times New Roman" panose="02020503050405090304" pitchFamily="18" charset="0"/>
                  <a:ea typeface="Microsoft YaHei UI" panose="020B0503020204020204" pitchFamily="34" charset="-122"/>
                  <a:cs typeface="Times New Roman" panose="02020503050405090304" pitchFamily="18" charset="0"/>
                  <a:sym typeface="思源黑体 CN Bold" panose="020B0800000000000000" pitchFamily="34" charset="-122"/>
                </a:rPr>
                <a:t>单一炎症特征模型与单一临床特征模型的预测性能相当，且在灵敏度和特异度方面各具优势。结合两类特征的综合模型预测性能优于单一特征模型。</a:t>
              </a: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灯片编号占位符 21"/>
          <p:cNvSpPr>
            <a:spLocks noGrp="1"/>
          </p:cNvSpPr>
          <p:nvPr>
            <p:ph type="sldNum" sz="quarter" idx="12"/>
          </p:nvPr>
        </p:nvSpPr>
        <p:spPr>
          <a:xfrm>
            <a:off x="9102437" y="6492875"/>
            <a:ext cx="2743200" cy="365125"/>
          </a:xfrm>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36</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8" name="组合 7"/>
          <p:cNvGrpSpPr/>
          <p:nvPr/>
        </p:nvGrpSpPr>
        <p:grpSpPr>
          <a:xfrm>
            <a:off x="-80276" y="-309462"/>
            <a:ext cx="12272277" cy="991435"/>
            <a:chOff x="-80276" y="-309462"/>
            <a:chExt cx="12272277" cy="991435"/>
          </a:xfrm>
        </p:grpSpPr>
        <p:sp>
          <p:nvSpPr>
            <p:cNvPr id="59" name="矩形 4"/>
            <p:cNvSpPr/>
            <p:nvPr/>
          </p:nvSpPr>
          <p:spPr>
            <a:xfrm rot="16200000">
              <a:off x="5800253" y="-5839281"/>
              <a:ext cx="581448"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66" name="组合 65"/>
            <p:cNvGrpSpPr/>
            <p:nvPr/>
          </p:nvGrpSpPr>
          <p:grpSpPr>
            <a:xfrm>
              <a:off x="9070977" y="-30866"/>
              <a:ext cx="2576999" cy="581449"/>
              <a:chOff x="4826291" y="-31583"/>
              <a:chExt cx="2576999" cy="581449"/>
            </a:xfrm>
          </p:grpSpPr>
          <p:sp>
            <p:nvSpPr>
              <p:cNvPr id="60" name="矩形 23"/>
              <p:cNvSpPr/>
              <p:nvPr/>
            </p:nvSpPr>
            <p:spPr>
              <a:xfrm>
                <a:off x="4899940" y="-31583"/>
                <a:ext cx="2429701" cy="581449"/>
              </a:xfrm>
              <a:prstGeom prst="round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61" name="TextBox 6"/>
              <p:cNvSpPr txBox="1"/>
              <p:nvPr/>
            </p:nvSpPr>
            <p:spPr>
              <a:xfrm>
                <a:off x="4826291" y="26007"/>
                <a:ext cx="2576999" cy="466269"/>
              </a:xfrm>
              <a:prstGeom prst="rect">
                <a:avLst/>
              </a:prstGeom>
              <a:noFill/>
            </p:spPr>
            <p:txBody>
              <a:bodyPr wrap="square" lIns="0" tIns="48000" rIns="0" bIns="48000" rtlCol="0">
                <a:spAutoFit/>
              </a:bodyPr>
              <a:lstStyle/>
              <a:p>
                <a:pPr algn="ctr"/>
                <a:r>
                  <a:rPr lang="zh-CN" altLang="en-US" sz="2400" b="1"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rPr>
                  <a:t>研究总结</a:t>
                </a:r>
              </a:p>
            </p:txBody>
          </p:sp>
        </p:grpSp>
        <p:sp>
          <p:nvSpPr>
            <p:cNvPr id="62" name="TextBox 9"/>
            <p:cNvSpPr txBox="1"/>
            <p:nvPr/>
          </p:nvSpPr>
          <p:spPr>
            <a:xfrm>
              <a:off x="2089079"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研究背景</a:t>
              </a:r>
            </a:p>
          </p:txBody>
        </p:sp>
        <p:pic>
          <p:nvPicPr>
            <p:cNvPr id="63" name="图片 53"/>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80276" y="-309462"/>
              <a:ext cx="2169355" cy="991435"/>
            </a:xfrm>
            <a:prstGeom prst="rect">
              <a:avLst/>
            </a:prstGeom>
          </p:spPr>
        </p:pic>
        <p:sp>
          <p:nvSpPr>
            <p:cNvPr id="64" name="TextBox 9"/>
            <p:cNvSpPr txBox="1"/>
            <p:nvPr/>
          </p:nvSpPr>
          <p:spPr>
            <a:xfrm>
              <a:off x="4416378"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第二章</a:t>
              </a:r>
            </a:p>
          </p:txBody>
        </p:sp>
        <p:sp>
          <p:nvSpPr>
            <p:cNvPr id="65" name="TextBox 9"/>
            <p:cNvSpPr txBox="1"/>
            <p:nvPr/>
          </p:nvSpPr>
          <p:spPr>
            <a:xfrm>
              <a:off x="6743677" y="73638"/>
              <a:ext cx="1838426" cy="373936"/>
            </a:xfrm>
            <a:prstGeom prst="rect">
              <a:avLst/>
            </a:prstGeom>
            <a:noFill/>
          </p:spPr>
          <p:txBody>
            <a:bodyPr wrap="square" lIns="0" tIns="48000" rIns="0" bIns="48000" rtlCol="0">
              <a:spAutoFit/>
            </a:bodyPr>
            <a:lstStyle/>
            <a:p>
              <a:pPr algn="ctr"/>
              <a:r>
                <a:rPr lang="zh-CN" altLang="en-US" b="1" dirty="0">
                  <a:solidFill>
                    <a:schemeClr val="bg1">
                      <a:lumMod val="50000"/>
                    </a:schemeClr>
                  </a:solidFill>
                  <a:latin typeface="Times New Roman" panose="02020503050405090304" pitchFamily="18" charset="0"/>
                  <a:ea typeface="Microsoft YaHei UI" panose="020B0503020204020204" pitchFamily="34" charset="-122"/>
                  <a:cs typeface="Times New Roman" panose="02020503050405090304" pitchFamily="18" charset="0"/>
                </a:rPr>
                <a:t>第三章 </a:t>
              </a:r>
            </a:p>
          </p:txBody>
        </p:sp>
      </p:grpSp>
      <p:grpSp>
        <p:nvGrpSpPr>
          <p:cNvPr id="30" name="组合 29"/>
          <p:cNvGrpSpPr/>
          <p:nvPr/>
        </p:nvGrpSpPr>
        <p:grpSpPr>
          <a:xfrm>
            <a:off x="667657" y="887087"/>
            <a:ext cx="5181600" cy="5605788"/>
            <a:chOff x="667657" y="897973"/>
            <a:chExt cx="5181600" cy="5605788"/>
          </a:xfrm>
        </p:grpSpPr>
        <p:sp>
          <p:nvSpPr>
            <p:cNvPr id="27" name="文本框 26"/>
            <p:cNvSpPr txBox="1"/>
            <p:nvPr/>
          </p:nvSpPr>
          <p:spPr>
            <a:xfrm>
              <a:off x="965700" y="1922849"/>
              <a:ext cx="4585513" cy="4204036"/>
            </a:xfrm>
            <a:prstGeom prst="rect">
              <a:avLst/>
            </a:prstGeom>
            <a:noFill/>
            <a:ln w="19050">
              <a:noFill/>
            </a:ln>
          </p:spPr>
          <p:txBody>
            <a:bodyPr wrap="square" rtlCol="0">
              <a:spAutoFit/>
            </a:bodyPr>
            <a:lstStyle/>
            <a:p>
              <a:pPr algn="just" latinLnBrk="1">
                <a:lnSpc>
                  <a:spcPct val="150000"/>
                </a:lnSpc>
                <a:spcBef>
                  <a:spcPts val="1200"/>
                </a:spcBef>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基于大型队列数据，</a:t>
              </a:r>
              <a:r>
                <a:rPr lang="zh-CN" altLang="en-US" sz="1600" kern="100" dirty="0">
                  <a:latin typeface="Times New Roman" panose="02020503050405090304" pitchFamily="18" charset="0"/>
                  <a:ea typeface="Microsoft YaHei UI" panose="020B0503020204020204" pitchFamily="34" charset="-122"/>
                  <a:cs typeface="Times New Roman" panose="02020503050405090304" pitchFamily="18" charset="0"/>
                </a:rPr>
                <a:t>评估多种</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血液</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炎症指标</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与肺结核预后的</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关联程度，揭示非线性关联的存在。</a:t>
              </a:r>
              <a:endPar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algn="just" latinLnBrk="1">
                <a:lnSpc>
                  <a:spcPct val="150000"/>
                </a:lnSpc>
                <a:spcBef>
                  <a:spcPts val="1200"/>
                </a:spcBef>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zh-CN" sz="1600" kern="100" dirty="0">
                  <a:latin typeface="Times New Roman" panose="02020503050405090304" pitchFamily="18" charset="0"/>
                  <a:ea typeface="Microsoft YaHei UI" panose="020B0503020204020204" pitchFamily="34" charset="-122"/>
                  <a:cs typeface="Times New Roman" panose="02020503050405090304" pitchFamily="18" charset="0"/>
                </a:rPr>
                <a:t> 探讨</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关联的人群异质性</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，有助于更全面地刻画和比较炎症状态对不同人群的预后影响，</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为个体化治疗提供科学支持。</a:t>
              </a:r>
            </a:p>
            <a:p>
              <a:pPr algn="just" latinLnBrk="1">
                <a:lnSpc>
                  <a:spcPct val="150000"/>
                </a:lnSpc>
                <a:spcBef>
                  <a:spcPts val="1200"/>
                </a:spcBef>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3.</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基于观察到的非线性关联，采用</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非线性建模</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机器学习算法</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a:t>
              </a:r>
              <a:endPar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algn="just" latinLnBrk="1">
                <a:lnSpc>
                  <a:spcPct val="150000"/>
                </a:lnSpc>
                <a:spcBef>
                  <a:spcPts val="1200"/>
                </a:spcBef>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4.</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 现有结核病预后研究</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对类别不平衡问题关注有限</a:t>
              </a:r>
              <a:r>
                <a:rPr lang="zh-CN" altLang="en-US" sz="1600" kern="100" dirty="0">
                  <a:latin typeface="Times New Roman" panose="02020503050405090304" pitchFamily="18" charset="0"/>
                  <a:ea typeface="Microsoft YaHei UI" panose="020B0503020204020204" pitchFamily="34" charset="-122"/>
                  <a:cs typeface="Times New Roman" panose="02020503050405090304" pitchFamily="18" charset="0"/>
                </a:rPr>
                <a:t>，</a:t>
              </a:r>
              <a:r>
                <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本研究探索常见的重采样方式对改善肺结核预后模型性能的可行性。</a:t>
              </a:r>
            </a:p>
          </p:txBody>
        </p:sp>
        <p:sp>
          <p:nvSpPr>
            <p:cNvPr id="28" name="圆角矩形 27"/>
            <p:cNvSpPr/>
            <p:nvPr/>
          </p:nvSpPr>
          <p:spPr>
            <a:xfrm>
              <a:off x="667657" y="1221973"/>
              <a:ext cx="5181600" cy="5281788"/>
            </a:xfrm>
            <a:prstGeom prst="roundRect">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6" name="组合 25"/>
            <p:cNvGrpSpPr/>
            <p:nvPr/>
          </p:nvGrpSpPr>
          <p:grpSpPr>
            <a:xfrm>
              <a:off x="2034643" y="897973"/>
              <a:ext cx="2447628" cy="648000"/>
              <a:chOff x="1968750" y="1727562"/>
              <a:chExt cx="2447628" cy="648000"/>
            </a:xfrm>
          </p:grpSpPr>
          <p:grpSp>
            <p:nvGrpSpPr>
              <p:cNvPr id="25" name="组合 24"/>
              <p:cNvGrpSpPr>
                <a:grpSpLocks noChangeAspect="1"/>
              </p:cNvGrpSpPr>
              <p:nvPr/>
            </p:nvGrpSpPr>
            <p:grpSpPr>
              <a:xfrm>
                <a:off x="1968750" y="1727562"/>
                <a:ext cx="2447628" cy="648000"/>
                <a:chOff x="2208497" y="1697554"/>
                <a:chExt cx="1997288" cy="528774"/>
              </a:xfrm>
            </p:grpSpPr>
            <p:sp>
              <p:nvSpPr>
                <p:cNvPr id="21" name="直角三角形 47"/>
                <p:cNvSpPr/>
                <p:nvPr>
                  <p:custDataLst>
                    <p:tags r:id="rId6"/>
                  </p:custDataLst>
                </p:nvPr>
              </p:nvSpPr>
              <p:spPr>
                <a:xfrm>
                  <a:off x="4048089" y="1700509"/>
                  <a:ext cx="157696" cy="173783"/>
                </a:xfrm>
                <a:custGeom>
                  <a:avLst/>
                  <a:gdLst>
                    <a:gd name="connsiteX0" fmla="*/ 0 w 114185"/>
                    <a:gd name="connsiteY0" fmla="*/ 142651 h 142651"/>
                    <a:gd name="connsiteX1" fmla="*/ 0 w 114185"/>
                    <a:gd name="connsiteY1" fmla="*/ 0 h 142651"/>
                    <a:gd name="connsiteX2" fmla="*/ 114185 w 114185"/>
                    <a:gd name="connsiteY2" fmla="*/ 142651 h 142651"/>
                    <a:gd name="connsiteX3" fmla="*/ 0 w 114185"/>
                    <a:gd name="connsiteY3" fmla="*/ 142651 h 142651"/>
                    <a:gd name="connsiteX0-1" fmla="*/ 13097 w 127282"/>
                    <a:gd name="connsiteY0-2" fmla="*/ 140270 h 140270"/>
                    <a:gd name="connsiteX1-3" fmla="*/ 0 w 127282"/>
                    <a:gd name="connsiteY1-4" fmla="*/ 0 h 140270"/>
                    <a:gd name="connsiteX2-5" fmla="*/ 127282 w 127282"/>
                    <a:gd name="connsiteY2-6" fmla="*/ 140270 h 140270"/>
                    <a:gd name="connsiteX3-7" fmla="*/ 13097 w 127282"/>
                    <a:gd name="connsiteY3-8" fmla="*/ 140270 h 140270"/>
                  </a:gdLst>
                  <a:ahLst/>
                  <a:cxnLst>
                    <a:cxn ang="0">
                      <a:pos x="connsiteX0-1" y="connsiteY0-2"/>
                    </a:cxn>
                    <a:cxn ang="0">
                      <a:pos x="connsiteX1-3" y="connsiteY1-4"/>
                    </a:cxn>
                    <a:cxn ang="0">
                      <a:pos x="connsiteX2-5" y="connsiteY2-6"/>
                    </a:cxn>
                    <a:cxn ang="0">
                      <a:pos x="connsiteX3-7" y="connsiteY3-8"/>
                    </a:cxn>
                  </a:cxnLst>
                  <a:rect l="l" t="t" r="r" b="b"/>
                  <a:pathLst>
                    <a:path w="127282" h="140270">
                      <a:moveTo>
                        <a:pt x="13097" y="140270"/>
                      </a:moveTo>
                      <a:lnTo>
                        <a:pt x="0" y="0"/>
                      </a:lnTo>
                      <a:lnTo>
                        <a:pt x="127282" y="140270"/>
                      </a:lnTo>
                      <a:lnTo>
                        <a:pt x="13097" y="140270"/>
                      </a:lnTo>
                      <a:close/>
                    </a:path>
                  </a:pathLst>
                </a:custGeom>
                <a:solidFill>
                  <a:srgbClr val="64A2A4"/>
                </a:solidFill>
                <a:ln>
                  <a:noFill/>
                </a:ln>
              </p:spPr>
              <p:style>
                <a:lnRef idx="2">
                  <a:schemeClr val="accent1">
                    <a:shade val="50000"/>
                  </a:schemeClr>
                </a:lnRef>
                <a:fillRef idx="1">
                  <a:schemeClr val="accent1"/>
                </a:fillRef>
                <a:effectRef idx="0">
                  <a:schemeClr val="accent1"/>
                </a:effectRef>
                <a:fontRef idx="minor">
                  <a:schemeClr val="lt1"/>
                </a:fontRef>
              </p:style>
              <p:txBody>
                <a:bodyPr lIns="118884" tIns="59443" rIns="118884" bIns="59443" rtlCol="0" anchor="ctr"/>
                <a:lstStyle/>
                <a:p>
                  <a:pPr algn="ctr">
                    <a:lnSpc>
                      <a:spcPct val="150000"/>
                    </a:lnSpc>
                  </a:pPr>
                  <a:endParaRPr lang="zh-CN" altLang="en-US" sz="2340" dirty="0">
                    <a:latin typeface="Times New Roman" panose="02020503050405090304" pitchFamily="18" charset="0"/>
                    <a:ea typeface="Microsoft YaHei UI" panose="020B0503020204020204" pitchFamily="34" charset="-122"/>
                    <a:cs typeface="Times New Roman" panose="02020503050405090304" pitchFamily="18" charset="0"/>
                    <a:sym typeface="思源黑体 CN Normal" panose="020B0400000000000000" pitchFamily="34" charset="-122"/>
                  </a:endParaRPr>
                </a:p>
              </p:txBody>
            </p:sp>
            <p:sp>
              <p:nvSpPr>
                <p:cNvPr id="22" name="直角三角形 48"/>
                <p:cNvSpPr/>
                <p:nvPr>
                  <p:custDataLst>
                    <p:tags r:id="rId7"/>
                  </p:custDataLst>
                </p:nvPr>
              </p:nvSpPr>
              <p:spPr>
                <a:xfrm flipH="1">
                  <a:off x="2208497" y="1697554"/>
                  <a:ext cx="157696" cy="176735"/>
                </a:xfrm>
                <a:custGeom>
                  <a:avLst/>
                  <a:gdLst>
                    <a:gd name="connsiteX0" fmla="*/ 0 w 114185"/>
                    <a:gd name="connsiteY0" fmla="*/ 142651 h 142651"/>
                    <a:gd name="connsiteX1" fmla="*/ 0 w 114185"/>
                    <a:gd name="connsiteY1" fmla="*/ 0 h 142651"/>
                    <a:gd name="connsiteX2" fmla="*/ 114185 w 114185"/>
                    <a:gd name="connsiteY2" fmla="*/ 142651 h 142651"/>
                    <a:gd name="connsiteX3" fmla="*/ 0 w 114185"/>
                    <a:gd name="connsiteY3" fmla="*/ 142651 h 142651"/>
                    <a:gd name="connsiteX0-1" fmla="*/ 13097 w 127282"/>
                    <a:gd name="connsiteY0-2" fmla="*/ 142651 h 142651"/>
                    <a:gd name="connsiteX1-3" fmla="*/ 0 w 127282"/>
                    <a:gd name="connsiteY1-4" fmla="*/ 0 h 142651"/>
                    <a:gd name="connsiteX2-5" fmla="*/ 127282 w 127282"/>
                    <a:gd name="connsiteY2-6" fmla="*/ 142651 h 142651"/>
                    <a:gd name="connsiteX3-7" fmla="*/ 13097 w 127282"/>
                    <a:gd name="connsiteY3-8" fmla="*/ 142651 h 142651"/>
                  </a:gdLst>
                  <a:ahLst/>
                  <a:cxnLst>
                    <a:cxn ang="0">
                      <a:pos x="connsiteX0-1" y="connsiteY0-2"/>
                    </a:cxn>
                    <a:cxn ang="0">
                      <a:pos x="connsiteX1-3" y="connsiteY1-4"/>
                    </a:cxn>
                    <a:cxn ang="0">
                      <a:pos x="connsiteX2-5" y="connsiteY2-6"/>
                    </a:cxn>
                    <a:cxn ang="0">
                      <a:pos x="connsiteX3-7" y="connsiteY3-8"/>
                    </a:cxn>
                  </a:cxnLst>
                  <a:rect l="l" t="t" r="r" b="b"/>
                  <a:pathLst>
                    <a:path w="127282" h="142651">
                      <a:moveTo>
                        <a:pt x="13097" y="142651"/>
                      </a:moveTo>
                      <a:lnTo>
                        <a:pt x="0" y="0"/>
                      </a:lnTo>
                      <a:lnTo>
                        <a:pt x="127282" y="142651"/>
                      </a:lnTo>
                      <a:lnTo>
                        <a:pt x="13097" y="142651"/>
                      </a:lnTo>
                      <a:close/>
                    </a:path>
                  </a:pathLst>
                </a:custGeom>
                <a:solidFill>
                  <a:srgbClr val="64A2A4"/>
                </a:solidFill>
                <a:ln>
                  <a:noFill/>
                </a:ln>
              </p:spPr>
              <p:style>
                <a:lnRef idx="2">
                  <a:schemeClr val="accent1">
                    <a:shade val="50000"/>
                  </a:schemeClr>
                </a:lnRef>
                <a:fillRef idx="1">
                  <a:schemeClr val="accent1"/>
                </a:fillRef>
                <a:effectRef idx="0">
                  <a:schemeClr val="accent1"/>
                </a:effectRef>
                <a:fontRef idx="minor">
                  <a:schemeClr val="lt1"/>
                </a:fontRef>
              </p:style>
              <p:txBody>
                <a:bodyPr lIns="118884" tIns="59443" rIns="118884" bIns="59443" rtlCol="0" anchor="ctr"/>
                <a:lstStyle/>
                <a:p>
                  <a:pPr algn="ctr">
                    <a:lnSpc>
                      <a:spcPct val="150000"/>
                    </a:lnSpc>
                  </a:pPr>
                  <a:endParaRPr lang="zh-CN" altLang="en-US" sz="2340" dirty="0">
                    <a:latin typeface="Times New Roman" panose="02020503050405090304" pitchFamily="18" charset="0"/>
                    <a:ea typeface="Microsoft YaHei UI" panose="020B0503020204020204" pitchFamily="34" charset="-122"/>
                    <a:cs typeface="Times New Roman" panose="02020503050405090304" pitchFamily="18" charset="0"/>
                    <a:sym typeface="思源黑体 CN Normal" panose="020B0400000000000000" pitchFamily="34" charset="-122"/>
                  </a:endParaRPr>
                </a:p>
              </p:txBody>
            </p:sp>
            <p:sp>
              <p:nvSpPr>
                <p:cNvPr id="23" name="矩形: 圆角 32"/>
                <p:cNvSpPr/>
                <p:nvPr>
                  <p:custDataLst>
                    <p:tags r:id="rId8"/>
                  </p:custDataLst>
                </p:nvPr>
              </p:nvSpPr>
              <p:spPr>
                <a:xfrm>
                  <a:off x="2350321" y="1697562"/>
                  <a:ext cx="1716297" cy="528766"/>
                </a:xfrm>
                <a:prstGeom prst="roundRect">
                  <a:avLst>
                    <a:gd name="adj" fmla="val 4764"/>
                  </a:avLst>
                </a:prstGeom>
                <a:solidFill>
                  <a:srgbClr val="64A2A4"/>
                </a:solidFill>
                <a:ln>
                  <a:noFill/>
                </a:ln>
              </p:spPr>
              <p:style>
                <a:lnRef idx="2">
                  <a:schemeClr val="accent1">
                    <a:shade val="50000"/>
                  </a:schemeClr>
                </a:lnRef>
                <a:fillRef idx="1">
                  <a:schemeClr val="accent1"/>
                </a:fillRef>
                <a:effectRef idx="0">
                  <a:schemeClr val="accent1"/>
                </a:effectRef>
                <a:fontRef idx="minor">
                  <a:schemeClr val="lt1"/>
                </a:fontRef>
              </p:style>
              <p:txBody>
                <a:bodyPr lIns="118884" tIns="59443" rIns="118884" bIns="59443" rtlCol="0" anchor="ctr"/>
                <a:lstStyle/>
                <a:p>
                  <a:pPr algn="ctr">
                    <a:lnSpc>
                      <a:spcPct val="150000"/>
                    </a:lnSpc>
                  </a:pPr>
                  <a:endParaRPr lang="zh-CN" altLang="en-US" sz="2340" dirty="0">
                    <a:latin typeface="Times New Roman" panose="02020503050405090304" pitchFamily="18" charset="0"/>
                    <a:ea typeface="Microsoft YaHei UI" panose="020B0503020204020204" pitchFamily="34" charset="-122"/>
                    <a:cs typeface="Times New Roman" panose="02020503050405090304" pitchFamily="18" charset="0"/>
                    <a:sym typeface="思源黑体 CN Normal" panose="020B0400000000000000" pitchFamily="34" charset="-122"/>
                  </a:endParaRPr>
                </a:p>
              </p:txBody>
            </p:sp>
          </p:grpSp>
          <p:sp>
            <p:nvSpPr>
              <p:cNvPr id="24" name="文本框 23"/>
              <p:cNvSpPr txBox="1"/>
              <p:nvPr>
                <p:custDataLst>
                  <p:tags r:id="rId5"/>
                </p:custDataLst>
              </p:nvPr>
            </p:nvSpPr>
            <p:spPr>
              <a:xfrm>
                <a:off x="2557001" y="1811489"/>
                <a:ext cx="1271126" cy="480146"/>
              </a:xfrm>
              <a:prstGeom prst="rect">
                <a:avLst/>
              </a:prstGeom>
              <a:noFill/>
            </p:spPr>
            <p:txBody>
              <a:bodyPr wrap="square" lIns="118884" tIns="59443" rIns="118884" bIns="59443" rtlCol="0">
                <a:spAutoFit/>
              </a:bodyPr>
              <a:lstStyle/>
              <a:p>
                <a:pPr algn="ctr"/>
                <a:r>
                  <a:rPr lang="zh-CN" altLang="en-US" sz="2340" b="1" spc="80"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思源黑体 CN Normal" panose="020B0400000000000000" pitchFamily="34" charset="-122"/>
                  </a:rPr>
                  <a:t>创新性</a:t>
                </a:r>
              </a:p>
            </p:txBody>
          </p:sp>
        </p:grpSp>
      </p:grpSp>
      <p:grpSp>
        <p:nvGrpSpPr>
          <p:cNvPr id="31" name="组合 30"/>
          <p:cNvGrpSpPr/>
          <p:nvPr/>
        </p:nvGrpSpPr>
        <p:grpSpPr>
          <a:xfrm>
            <a:off x="6543393" y="887087"/>
            <a:ext cx="5181600" cy="5603903"/>
            <a:chOff x="667657" y="897973"/>
            <a:chExt cx="5181600" cy="5603903"/>
          </a:xfrm>
        </p:grpSpPr>
        <p:sp>
          <p:nvSpPr>
            <p:cNvPr id="32" name="文本框 31"/>
            <p:cNvSpPr txBox="1"/>
            <p:nvPr/>
          </p:nvSpPr>
          <p:spPr>
            <a:xfrm>
              <a:off x="976133" y="1998850"/>
              <a:ext cx="4585513" cy="4050148"/>
            </a:xfrm>
            <a:prstGeom prst="rect">
              <a:avLst/>
            </a:prstGeom>
            <a:noFill/>
            <a:ln w="19050">
              <a:noFill/>
            </a:ln>
          </p:spPr>
          <p:txBody>
            <a:bodyPr wrap="square" rtlCol="0">
              <a:spAutoFit/>
            </a:bodyPr>
            <a:lstStyle/>
            <a:p>
              <a:pPr algn="just" latinLnBrk="1">
                <a:lnSpc>
                  <a:spcPct val="150000"/>
                </a:lnSpc>
                <a:spcBef>
                  <a:spcPts val="1200"/>
                </a:spcBef>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 本研究仅为单中心研究，结果的外推性存在一定局限性。</a:t>
              </a:r>
              <a:endPar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algn="just" latinLnBrk="1">
                <a:lnSpc>
                  <a:spcPct val="150000"/>
                </a:lnSpc>
                <a:spcBef>
                  <a:spcPts val="1200"/>
                </a:spcBef>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2.</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本研究主要聚焦于肺结核患者的基线炎症状态与预后的关联。受限于可获得的数据，研究未对患者在治疗过程中炎症状态的纵向变化进行系统的跟踪和分析。</a:t>
              </a:r>
              <a:endPar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a:p>
              <a:pPr algn="just" latinLnBrk="1">
                <a:lnSpc>
                  <a:spcPct val="150000"/>
                </a:lnSpc>
                <a:spcBef>
                  <a:spcPts val="1200"/>
                </a:spcBef>
              </a:pPr>
              <a:r>
                <a:rPr lang="en-US"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3.</a:t>
              </a:r>
              <a:r>
                <a:rPr lang="zh-CN" altLang="en-US" sz="1600" kern="100" dirty="0">
                  <a:effectLst/>
                  <a:latin typeface="Times New Roman" panose="02020503050405090304" pitchFamily="18" charset="0"/>
                  <a:ea typeface="Microsoft YaHei UI" panose="020B0503020204020204" pitchFamily="34" charset="-122"/>
                  <a:cs typeface="Times New Roman" panose="02020503050405090304" pitchFamily="18" charset="0"/>
                </a:rPr>
                <a:t>尽管本研究通过数据层面的类别不平衡处理改善了模型预测性能，但由于数据分布的边缘化，性能提升仍然有限。这可能反映了仅基于宿主相关特征构建预后模型的局限性。</a:t>
              </a:r>
              <a:endParaRPr lang="zh-CN" altLang="zh-CN" sz="1600" kern="100" dirty="0">
                <a:effectLst/>
                <a:latin typeface="Times New Roman" panose="02020503050405090304" pitchFamily="18" charset="0"/>
                <a:ea typeface="Microsoft YaHei UI" panose="020B0503020204020204" pitchFamily="34" charset="-122"/>
                <a:cs typeface="Times New Roman" panose="02020503050405090304" pitchFamily="18" charset="0"/>
              </a:endParaRPr>
            </a:p>
          </p:txBody>
        </p:sp>
        <p:sp>
          <p:nvSpPr>
            <p:cNvPr id="33" name="圆角矩形 32"/>
            <p:cNvSpPr/>
            <p:nvPr/>
          </p:nvSpPr>
          <p:spPr>
            <a:xfrm>
              <a:off x="667657" y="1221973"/>
              <a:ext cx="5181600" cy="5279903"/>
            </a:xfrm>
            <a:prstGeom prst="roundRect">
              <a:avLst/>
            </a:prstGeom>
            <a:noFill/>
            <a:ln>
              <a:solidFill>
                <a:schemeClr val="tx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34" name="组合 33"/>
            <p:cNvGrpSpPr/>
            <p:nvPr/>
          </p:nvGrpSpPr>
          <p:grpSpPr>
            <a:xfrm>
              <a:off x="2034643" y="897973"/>
              <a:ext cx="2447628" cy="648000"/>
              <a:chOff x="1968750" y="1727562"/>
              <a:chExt cx="2447628" cy="648000"/>
            </a:xfrm>
          </p:grpSpPr>
          <p:grpSp>
            <p:nvGrpSpPr>
              <p:cNvPr id="35" name="组合 34"/>
              <p:cNvGrpSpPr>
                <a:grpSpLocks noChangeAspect="1"/>
              </p:cNvGrpSpPr>
              <p:nvPr/>
            </p:nvGrpSpPr>
            <p:grpSpPr>
              <a:xfrm>
                <a:off x="1968750" y="1727562"/>
                <a:ext cx="2447628" cy="648000"/>
                <a:chOff x="2208497" y="1697554"/>
                <a:chExt cx="1997288" cy="528774"/>
              </a:xfrm>
            </p:grpSpPr>
            <p:sp>
              <p:nvSpPr>
                <p:cNvPr id="37" name="直角三角形 47"/>
                <p:cNvSpPr/>
                <p:nvPr>
                  <p:custDataLst>
                    <p:tags r:id="rId2"/>
                  </p:custDataLst>
                </p:nvPr>
              </p:nvSpPr>
              <p:spPr>
                <a:xfrm>
                  <a:off x="4048089" y="1700509"/>
                  <a:ext cx="157696" cy="173783"/>
                </a:xfrm>
                <a:custGeom>
                  <a:avLst/>
                  <a:gdLst>
                    <a:gd name="connsiteX0" fmla="*/ 0 w 114185"/>
                    <a:gd name="connsiteY0" fmla="*/ 142651 h 142651"/>
                    <a:gd name="connsiteX1" fmla="*/ 0 w 114185"/>
                    <a:gd name="connsiteY1" fmla="*/ 0 h 142651"/>
                    <a:gd name="connsiteX2" fmla="*/ 114185 w 114185"/>
                    <a:gd name="connsiteY2" fmla="*/ 142651 h 142651"/>
                    <a:gd name="connsiteX3" fmla="*/ 0 w 114185"/>
                    <a:gd name="connsiteY3" fmla="*/ 142651 h 142651"/>
                    <a:gd name="connsiteX0-1" fmla="*/ 13097 w 127282"/>
                    <a:gd name="connsiteY0-2" fmla="*/ 140270 h 140270"/>
                    <a:gd name="connsiteX1-3" fmla="*/ 0 w 127282"/>
                    <a:gd name="connsiteY1-4" fmla="*/ 0 h 140270"/>
                    <a:gd name="connsiteX2-5" fmla="*/ 127282 w 127282"/>
                    <a:gd name="connsiteY2-6" fmla="*/ 140270 h 140270"/>
                    <a:gd name="connsiteX3-7" fmla="*/ 13097 w 127282"/>
                    <a:gd name="connsiteY3-8" fmla="*/ 140270 h 140270"/>
                  </a:gdLst>
                  <a:ahLst/>
                  <a:cxnLst>
                    <a:cxn ang="0">
                      <a:pos x="connsiteX0-1" y="connsiteY0-2"/>
                    </a:cxn>
                    <a:cxn ang="0">
                      <a:pos x="connsiteX1-3" y="connsiteY1-4"/>
                    </a:cxn>
                    <a:cxn ang="0">
                      <a:pos x="connsiteX2-5" y="connsiteY2-6"/>
                    </a:cxn>
                    <a:cxn ang="0">
                      <a:pos x="connsiteX3-7" y="connsiteY3-8"/>
                    </a:cxn>
                  </a:cxnLst>
                  <a:rect l="l" t="t" r="r" b="b"/>
                  <a:pathLst>
                    <a:path w="127282" h="140270">
                      <a:moveTo>
                        <a:pt x="13097" y="140270"/>
                      </a:moveTo>
                      <a:lnTo>
                        <a:pt x="0" y="0"/>
                      </a:lnTo>
                      <a:lnTo>
                        <a:pt x="127282" y="140270"/>
                      </a:lnTo>
                      <a:lnTo>
                        <a:pt x="13097" y="140270"/>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8884" tIns="59443" rIns="118884" bIns="59443" rtlCol="0" anchor="ctr"/>
                <a:lstStyle/>
                <a:p>
                  <a:pPr algn="ctr">
                    <a:lnSpc>
                      <a:spcPct val="150000"/>
                    </a:lnSpc>
                  </a:pPr>
                  <a:endParaRPr lang="zh-CN" altLang="en-US" sz="2340" dirty="0">
                    <a:latin typeface="Times New Roman" panose="02020503050405090304" pitchFamily="18" charset="0"/>
                    <a:ea typeface="Microsoft YaHei UI" panose="020B0503020204020204" pitchFamily="34" charset="-122"/>
                    <a:cs typeface="Times New Roman" panose="02020503050405090304" pitchFamily="18" charset="0"/>
                    <a:sym typeface="思源黑体 CN Normal" panose="020B0400000000000000" pitchFamily="34" charset="-122"/>
                  </a:endParaRPr>
                </a:p>
              </p:txBody>
            </p:sp>
            <p:sp>
              <p:nvSpPr>
                <p:cNvPr id="38" name="直角三角形 48"/>
                <p:cNvSpPr/>
                <p:nvPr>
                  <p:custDataLst>
                    <p:tags r:id="rId3"/>
                  </p:custDataLst>
                </p:nvPr>
              </p:nvSpPr>
              <p:spPr>
                <a:xfrm flipH="1">
                  <a:off x="2208497" y="1697554"/>
                  <a:ext cx="157696" cy="176735"/>
                </a:xfrm>
                <a:custGeom>
                  <a:avLst/>
                  <a:gdLst>
                    <a:gd name="connsiteX0" fmla="*/ 0 w 114185"/>
                    <a:gd name="connsiteY0" fmla="*/ 142651 h 142651"/>
                    <a:gd name="connsiteX1" fmla="*/ 0 w 114185"/>
                    <a:gd name="connsiteY1" fmla="*/ 0 h 142651"/>
                    <a:gd name="connsiteX2" fmla="*/ 114185 w 114185"/>
                    <a:gd name="connsiteY2" fmla="*/ 142651 h 142651"/>
                    <a:gd name="connsiteX3" fmla="*/ 0 w 114185"/>
                    <a:gd name="connsiteY3" fmla="*/ 142651 h 142651"/>
                    <a:gd name="connsiteX0-1" fmla="*/ 13097 w 127282"/>
                    <a:gd name="connsiteY0-2" fmla="*/ 142651 h 142651"/>
                    <a:gd name="connsiteX1-3" fmla="*/ 0 w 127282"/>
                    <a:gd name="connsiteY1-4" fmla="*/ 0 h 142651"/>
                    <a:gd name="connsiteX2-5" fmla="*/ 127282 w 127282"/>
                    <a:gd name="connsiteY2-6" fmla="*/ 142651 h 142651"/>
                    <a:gd name="connsiteX3-7" fmla="*/ 13097 w 127282"/>
                    <a:gd name="connsiteY3-8" fmla="*/ 142651 h 142651"/>
                  </a:gdLst>
                  <a:ahLst/>
                  <a:cxnLst>
                    <a:cxn ang="0">
                      <a:pos x="connsiteX0-1" y="connsiteY0-2"/>
                    </a:cxn>
                    <a:cxn ang="0">
                      <a:pos x="connsiteX1-3" y="connsiteY1-4"/>
                    </a:cxn>
                    <a:cxn ang="0">
                      <a:pos x="connsiteX2-5" y="connsiteY2-6"/>
                    </a:cxn>
                    <a:cxn ang="0">
                      <a:pos x="connsiteX3-7" y="connsiteY3-8"/>
                    </a:cxn>
                  </a:cxnLst>
                  <a:rect l="l" t="t" r="r" b="b"/>
                  <a:pathLst>
                    <a:path w="127282" h="142651">
                      <a:moveTo>
                        <a:pt x="13097" y="142651"/>
                      </a:moveTo>
                      <a:lnTo>
                        <a:pt x="0" y="0"/>
                      </a:lnTo>
                      <a:lnTo>
                        <a:pt x="127282" y="142651"/>
                      </a:lnTo>
                      <a:lnTo>
                        <a:pt x="13097" y="142651"/>
                      </a:lnTo>
                      <a:close/>
                    </a:path>
                  </a:pathLst>
                </a:cu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8884" tIns="59443" rIns="118884" bIns="59443" rtlCol="0" anchor="ctr"/>
                <a:lstStyle/>
                <a:p>
                  <a:pPr algn="ctr">
                    <a:lnSpc>
                      <a:spcPct val="150000"/>
                    </a:lnSpc>
                  </a:pPr>
                  <a:endParaRPr lang="zh-CN" altLang="en-US" sz="2340" dirty="0">
                    <a:latin typeface="Times New Roman" panose="02020503050405090304" pitchFamily="18" charset="0"/>
                    <a:ea typeface="Microsoft YaHei UI" panose="020B0503020204020204" pitchFamily="34" charset="-122"/>
                    <a:cs typeface="Times New Roman" panose="02020503050405090304" pitchFamily="18" charset="0"/>
                    <a:sym typeface="思源黑体 CN Normal" panose="020B0400000000000000" pitchFamily="34" charset="-122"/>
                  </a:endParaRPr>
                </a:p>
              </p:txBody>
            </p:sp>
            <p:sp>
              <p:nvSpPr>
                <p:cNvPr id="39" name="矩形: 圆角 32"/>
                <p:cNvSpPr/>
                <p:nvPr>
                  <p:custDataLst>
                    <p:tags r:id="rId4"/>
                  </p:custDataLst>
                </p:nvPr>
              </p:nvSpPr>
              <p:spPr>
                <a:xfrm>
                  <a:off x="2350321" y="1697562"/>
                  <a:ext cx="1716297" cy="528766"/>
                </a:xfrm>
                <a:prstGeom prst="roundRect">
                  <a:avLst>
                    <a:gd name="adj" fmla="val 4764"/>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18884" tIns="59443" rIns="118884" bIns="59443" rtlCol="0" anchor="ctr"/>
                <a:lstStyle/>
                <a:p>
                  <a:pPr algn="ctr">
                    <a:lnSpc>
                      <a:spcPct val="150000"/>
                    </a:lnSpc>
                  </a:pPr>
                  <a:endParaRPr lang="zh-CN" altLang="en-US" sz="2340" dirty="0">
                    <a:latin typeface="Times New Roman" panose="02020503050405090304" pitchFamily="18" charset="0"/>
                    <a:ea typeface="Microsoft YaHei UI" panose="020B0503020204020204" pitchFamily="34" charset="-122"/>
                    <a:cs typeface="Times New Roman" panose="02020503050405090304" pitchFamily="18" charset="0"/>
                    <a:sym typeface="思源黑体 CN Normal" panose="020B0400000000000000" pitchFamily="34" charset="-122"/>
                  </a:endParaRPr>
                </a:p>
              </p:txBody>
            </p:sp>
          </p:grpSp>
          <p:sp>
            <p:nvSpPr>
              <p:cNvPr id="36" name="文本框 35"/>
              <p:cNvSpPr txBox="1"/>
              <p:nvPr>
                <p:custDataLst>
                  <p:tags r:id="rId1"/>
                </p:custDataLst>
              </p:nvPr>
            </p:nvSpPr>
            <p:spPr>
              <a:xfrm>
                <a:off x="2557001" y="1811489"/>
                <a:ext cx="1271126" cy="480146"/>
              </a:xfrm>
              <a:prstGeom prst="rect">
                <a:avLst/>
              </a:prstGeom>
              <a:noFill/>
            </p:spPr>
            <p:txBody>
              <a:bodyPr wrap="square" lIns="118884" tIns="59443" rIns="118884" bIns="59443" rtlCol="0">
                <a:spAutoFit/>
              </a:bodyPr>
              <a:lstStyle/>
              <a:p>
                <a:pPr algn="ctr"/>
                <a:r>
                  <a:rPr lang="zh-CN" altLang="en-US" sz="2340" b="1" spc="80" dirty="0">
                    <a:solidFill>
                      <a:schemeClr val="bg1"/>
                    </a:solidFill>
                    <a:latin typeface="Times New Roman" panose="02020503050405090304" pitchFamily="18" charset="0"/>
                    <a:ea typeface="Microsoft YaHei UI" panose="020B0503020204020204" pitchFamily="34" charset="-122"/>
                    <a:cs typeface="Times New Roman" panose="02020503050405090304" pitchFamily="18" charset="0"/>
                    <a:sym typeface="思源黑体 CN Normal" panose="020B0400000000000000" pitchFamily="34" charset="-122"/>
                  </a:rPr>
                  <a:t>局限性</a:t>
                </a:r>
              </a:p>
            </p:txBody>
          </p:sp>
        </p:gr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21"/>
          <p:cNvSpPr>
            <a:spLocks noGrp="1"/>
          </p:cNvSpPr>
          <p:nvPr>
            <p:ph type="sldNum" sz="quarter" idx="12"/>
          </p:nvPr>
        </p:nvSpPr>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37</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8" name="组合 27"/>
          <p:cNvGrpSpPr/>
          <p:nvPr/>
        </p:nvGrpSpPr>
        <p:grpSpPr>
          <a:xfrm>
            <a:off x="-10047" y="-36028"/>
            <a:ext cx="12202049" cy="998482"/>
            <a:chOff x="-10047" y="-36028"/>
            <a:chExt cx="12202049" cy="998482"/>
          </a:xfrm>
        </p:grpSpPr>
        <p:sp>
          <p:nvSpPr>
            <p:cNvPr id="29" name="矩形 4"/>
            <p:cNvSpPr/>
            <p:nvPr/>
          </p:nvSpPr>
          <p:spPr>
            <a:xfrm rot="16200000">
              <a:off x="5595261" y="-5634288"/>
              <a:ext cx="991434"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36"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8688" y="-36028"/>
              <a:ext cx="2169355" cy="991435"/>
            </a:xfrm>
            <a:prstGeom prst="rect">
              <a:avLst/>
            </a:prstGeom>
          </p:spPr>
        </p:pic>
      </p:grpSp>
      <p:sp>
        <p:nvSpPr>
          <p:cNvPr id="6" name="文本框 5"/>
          <p:cNvSpPr txBox="1"/>
          <p:nvPr/>
        </p:nvSpPr>
        <p:spPr>
          <a:xfrm>
            <a:off x="0" y="979375"/>
            <a:ext cx="12191999" cy="707886"/>
          </a:xfrm>
          <a:prstGeom prst="rect">
            <a:avLst/>
          </a:prstGeom>
          <a:noFill/>
          <a:ln w="19050">
            <a:noFill/>
          </a:ln>
        </p:spPr>
        <p:txBody>
          <a:bodyPr wrap="square">
            <a:spAutoFit/>
          </a:bodyPr>
          <a:lstStyle/>
          <a:p>
            <a:pPr algn="ctr"/>
            <a:r>
              <a:rPr lang="zh-CN" altLang="en-US" sz="4000" b="1" dirty="0">
                <a:latin typeface="Times New Roman" panose="02020503050405090304" pitchFamily="18" charset="0"/>
                <a:ea typeface="Microsoft YaHei UI" panose="020B0503020204020204" pitchFamily="34" charset="-122"/>
                <a:cs typeface="Times New Roman" panose="02020503050405090304" pitchFamily="18" charset="0"/>
              </a:rPr>
              <a:t>攻读硕士学位期间的学术成果</a:t>
            </a:r>
          </a:p>
        </p:txBody>
      </p:sp>
      <p:sp>
        <p:nvSpPr>
          <p:cNvPr id="10" name="文本框 9"/>
          <p:cNvSpPr txBox="1"/>
          <p:nvPr/>
        </p:nvSpPr>
        <p:spPr>
          <a:xfrm>
            <a:off x="674557" y="1567341"/>
            <a:ext cx="10384038" cy="4998869"/>
          </a:xfrm>
          <a:prstGeom prst="rect">
            <a:avLst/>
          </a:prstGeom>
          <a:noFill/>
          <a:ln w="19050">
            <a:noFill/>
          </a:ln>
        </p:spPr>
        <p:txBody>
          <a:bodyPr wrap="square">
            <a:spAutoFit/>
          </a:bodyPr>
          <a:lstStyle/>
          <a:p>
            <a:pPr algn="l" fontAlgn="auto">
              <a:lnSpc>
                <a:spcPct val="150000"/>
              </a:lnSpc>
              <a:spcAft>
                <a:spcPts val="600"/>
              </a:spcAft>
              <a:buClrTx/>
              <a:buSzTx/>
              <a:buFontTx/>
            </a:pPr>
            <a:r>
              <a:rPr lang="zh-CN" altLang="en-US" sz="2200" dirty="0">
                <a:latin typeface="Times New Roman" panose="02020503050405090304" pitchFamily="18" charset="0"/>
                <a:ea typeface="Microsoft YaHei UI" panose="020B0503020204020204" pitchFamily="34" charset="-122"/>
                <a:cs typeface="Times New Roman" panose="02020503050405090304" pitchFamily="18" charset="0"/>
              </a:rPr>
              <a:t>一、论文发表情况</a:t>
            </a:r>
            <a:endParaRPr lang="en-US" altLang="zh-CN" sz="2200" dirty="0">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spcAft>
                <a:spcPts val="600"/>
              </a:spcAft>
            </a:pPr>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 </a:t>
            </a:r>
            <a:r>
              <a:rPr lang="en" altLang="zh-CN" dirty="0">
                <a:latin typeface="Times New Roman" panose="02020503050405090304" pitchFamily="18" charset="0"/>
                <a:ea typeface="Microsoft YaHei UI" panose="020B0503020204020204" pitchFamily="34" charset="-122"/>
                <a:cs typeface="Times New Roman" panose="02020503050405090304" pitchFamily="18" charset="0"/>
              </a:rPr>
              <a:t>Ji Y, </a:t>
            </a:r>
            <a:r>
              <a:rPr lang="en" altLang="zh-CN" dirty="0" err="1">
                <a:latin typeface="Times New Roman" panose="02020503050405090304" pitchFamily="18" charset="0"/>
                <a:ea typeface="Microsoft YaHei UI" panose="020B0503020204020204" pitchFamily="34" charset="-122"/>
                <a:cs typeface="Times New Roman" panose="02020503050405090304" pitchFamily="18" charset="0"/>
              </a:rPr>
              <a:t>Xie</a:t>
            </a:r>
            <a:r>
              <a:rPr lang="en" altLang="zh-CN" dirty="0">
                <a:latin typeface="Times New Roman" panose="02020503050405090304" pitchFamily="18" charset="0"/>
                <a:ea typeface="Microsoft YaHei UI" panose="020B0503020204020204" pitchFamily="34" charset="-122"/>
                <a:cs typeface="Times New Roman" panose="02020503050405090304" pitchFamily="18" charset="0"/>
              </a:rPr>
              <a:t> Q, Wei W, et al. Association between blood inflammatory status and the survival of tuberculosis: a five-year cohort study[J]. Frontiers in Immunology, 2025, 16: 1556857. DOI:10.3389/fimmu.2025.1556857.</a:t>
            </a:r>
            <a:endParaRPr lang="en-US" altLang="zh-CN" dirty="0">
              <a:latin typeface="Times New Roman" panose="02020503050405090304" pitchFamily="18" charset="0"/>
              <a:ea typeface="Microsoft YaHei UI" panose="020B0503020204020204" pitchFamily="34" charset="-122"/>
              <a:cs typeface="Times New Roman" panose="02020503050405090304" pitchFamily="18" charset="0"/>
            </a:endParaRPr>
          </a:p>
          <a:p>
            <a:pPr algn="l" fontAlgn="auto">
              <a:lnSpc>
                <a:spcPct val="150000"/>
              </a:lnSpc>
              <a:spcAft>
                <a:spcPts val="600"/>
              </a:spcAft>
              <a:buClrTx/>
              <a:buSzTx/>
              <a:buFontTx/>
            </a:pPr>
            <a:r>
              <a:rPr lang="zh-CN" altLang="en-US" sz="2200" dirty="0">
                <a:latin typeface="Times New Roman" panose="02020503050405090304" pitchFamily="18" charset="0"/>
                <a:ea typeface="Microsoft YaHei UI" panose="020B0503020204020204" pitchFamily="34" charset="-122"/>
                <a:cs typeface="Times New Roman" panose="02020503050405090304" pitchFamily="18" charset="0"/>
              </a:rPr>
              <a:t>二、参加学术会议情况</a:t>
            </a:r>
            <a:endParaRPr lang="en-US" altLang="zh-CN" sz="2200" dirty="0">
              <a:latin typeface="Times New Roman" panose="02020503050405090304" pitchFamily="18" charset="0"/>
              <a:ea typeface="Microsoft YaHei UI" panose="020B0503020204020204" pitchFamily="34" charset="-122"/>
              <a:cs typeface="Times New Roman" panose="02020503050405090304" pitchFamily="18" charset="0"/>
            </a:endParaRPr>
          </a:p>
          <a:p>
            <a:pPr>
              <a:lnSpc>
                <a:spcPct val="150000"/>
              </a:lnSpc>
              <a:spcAft>
                <a:spcPts val="600"/>
              </a:spcAft>
            </a:pP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1.</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中华医学会 </a:t>
            </a:r>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2024 </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年全国结核病学术大会      中国重庆     </a:t>
            </a:r>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2024.6.27-7.1</a:t>
            </a:r>
          </a:p>
          <a:p>
            <a:pPr>
              <a:lnSpc>
                <a:spcPct val="150000"/>
              </a:lnSpc>
              <a:spcAft>
                <a:spcPts val="600"/>
              </a:spcAft>
            </a:pP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    壁报标题：</a:t>
            </a:r>
          </a:p>
          <a:p>
            <a:pPr>
              <a:lnSpc>
                <a:spcPct val="150000"/>
              </a:lnSpc>
              <a:spcAft>
                <a:spcPts val="600"/>
              </a:spcAft>
            </a:pP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 (1) </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痰菌阳性度对肺结核治疗结局的影响：一项</a:t>
            </a:r>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5</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年回顾性队列研究</a:t>
            </a:r>
          </a:p>
          <a:p>
            <a:pPr>
              <a:lnSpc>
                <a:spcPct val="150000"/>
              </a:lnSpc>
              <a:spcAft>
                <a:spcPts val="600"/>
              </a:spcAft>
            </a:pP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          作者：付亮 纪雅婷 黄震 杨崇广 邓国防</a:t>
            </a:r>
          </a:p>
          <a:p>
            <a:pPr>
              <a:lnSpc>
                <a:spcPct val="150000"/>
              </a:lnSpc>
              <a:spcAft>
                <a:spcPts val="600"/>
              </a:spcAft>
            </a:pP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   </a:t>
            </a:r>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 (2) </a:t>
            </a: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气象因素、空气污染物及其相互作用对上海肺结核发病的影响：一项时间序列分析</a:t>
            </a:r>
          </a:p>
          <a:p>
            <a:pPr>
              <a:lnSpc>
                <a:spcPct val="150000"/>
              </a:lnSpc>
              <a:spcAft>
                <a:spcPts val="600"/>
              </a:spcAft>
            </a:pPr>
            <a:r>
              <a:rPr lang="zh-CN" altLang="en-US" dirty="0">
                <a:latin typeface="Times New Roman" panose="02020503050405090304" pitchFamily="18" charset="0"/>
                <a:ea typeface="Microsoft YaHei UI" panose="020B0503020204020204" pitchFamily="34" charset="-122"/>
                <a:cs typeface="Times New Roman" panose="02020503050405090304" pitchFamily="18" charset="0"/>
              </a:rPr>
              <a:t>          作者：叶琪 纪雅婷 李南 李志远 向建帮 高旭 沈鑫 王云霞 杨崇广</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21"/>
          <p:cNvSpPr>
            <a:spLocks noGrp="1"/>
          </p:cNvSpPr>
          <p:nvPr>
            <p:ph type="sldNum" sz="quarter" idx="12"/>
          </p:nvPr>
        </p:nvSpPr>
        <p:spPr/>
        <p:txBody>
          <a:bodyPr/>
          <a:lstStyle/>
          <a:p>
            <a:fld id="{21F74D46-1CAC-4699-A05B-A5EA0A67F2DE}" type="slidenum">
              <a:rPr lang="zh-CN" altLang="en-US" smtClean="0">
                <a:latin typeface="Times New Roman" panose="02020503050405090304" pitchFamily="18" charset="0"/>
                <a:ea typeface="Microsoft YaHei UI" panose="020B0503020204020204" pitchFamily="34" charset="-122"/>
                <a:cs typeface="Times New Roman" panose="02020503050405090304" pitchFamily="18" charset="0"/>
              </a:rPr>
              <a:t>38</a:t>
            </a:fld>
            <a:r>
              <a:rPr lang="en-US" altLang="zh-CN" dirty="0">
                <a:latin typeface="Times New Roman" panose="02020503050405090304" pitchFamily="18" charset="0"/>
                <a:ea typeface="Microsoft YaHei UI" panose="020B0503020204020204" pitchFamily="34" charset="-122"/>
                <a:cs typeface="Times New Roman" panose="02020503050405090304" pitchFamily="18" charset="0"/>
              </a:rPr>
              <a:t>/39</a:t>
            </a:r>
            <a:endParaRPr lang="zh-CN" altLang="en-US" dirty="0">
              <a:latin typeface="Times New Roman" panose="02020503050405090304" pitchFamily="18" charset="0"/>
              <a:ea typeface="Microsoft YaHei UI" panose="020B0503020204020204" pitchFamily="34" charset="-122"/>
              <a:cs typeface="Times New Roman" panose="02020503050405090304" pitchFamily="18" charset="0"/>
            </a:endParaRPr>
          </a:p>
        </p:txBody>
      </p:sp>
      <p:grpSp>
        <p:nvGrpSpPr>
          <p:cNvPr id="28" name="组合 27"/>
          <p:cNvGrpSpPr/>
          <p:nvPr/>
        </p:nvGrpSpPr>
        <p:grpSpPr>
          <a:xfrm>
            <a:off x="-10047" y="-36028"/>
            <a:ext cx="12202049" cy="998482"/>
            <a:chOff x="-10047" y="-36028"/>
            <a:chExt cx="12202049" cy="998482"/>
          </a:xfrm>
        </p:grpSpPr>
        <p:sp>
          <p:nvSpPr>
            <p:cNvPr id="29" name="矩形 4"/>
            <p:cNvSpPr/>
            <p:nvPr/>
          </p:nvSpPr>
          <p:spPr>
            <a:xfrm rot="16200000">
              <a:off x="5595261" y="-5634288"/>
              <a:ext cx="991434" cy="12202049"/>
            </a:xfrm>
            <a:prstGeom prst="rect">
              <a:avLst/>
            </a:prstGeom>
            <a:solidFill>
              <a:schemeClr val="bg1">
                <a:lumMod val="95000"/>
              </a:schemeClr>
            </a:solidFill>
            <a:ln>
              <a:noFill/>
            </a:ln>
            <a:effectLst>
              <a:outerShdw blurRad="228600" dist="508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80" dirty="0">
                <a:latin typeface="Times New Roman" panose="02020503050405090304" pitchFamily="18" charset="0"/>
                <a:ea typeface="Microsoft YaHei UI" panose="020B0503020204020204" pitchFamily="34" charset="-122"/>
                <a:cs typeface="Times New Roman" panose="02020503050405090304" pitchFamily="18" charset="0"/>
              </a:endParaRPr>
            </a:p>
          </p:txBody>
        </p:sp>
        <p:pic>
          <p:nvPicPr>
            <p:cNvPr id="36" name="图片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8688" y="-36028"/>
              <a:ext cx="2169355" cy="991435"/>
            </a:xfrm>
            <a:prstGeom prst="rect">
              <a:avLst/>
            </a:prstGeom>
          </p:spPr>
        </p:pic>
      </p:grpSp>
      <p:sp>
        <p:nvSpPr>
          <p:cNvPr id="6" name="文本框 5"/>
          <p:cNvSpPr txBox="1"/>
          <p:nvPr/>
        </p:nvSpPr>
        <p:spPr>
          <a:xfrm>
            <a:off x="2922725" y="1069315"/>
            <a:ext cx="6336506" cy="707886"/>
          </a:xfrm>
          <a:prstGeom prst="rect">
            <a:avLst/>
          </a:prstGeom>
          <a:noFill/>
          <a:ln w="19050">
            <a:noFill/>
          </a:ln>
        </p:spPr>
        <p:txBody>
          <a:bodyPr wrap="square">
            <a:spAutoFit/>
          </a:bodyPr>
          <a:lstStyle/>
          <a:p>
            <a:pPr algn="ctr"/>
            <a:r>
              <a:rPr lang="zh-CN" altLang="en-US" sz="4000" b="1" dirty="0">
                <a:latin typeface="Times New Roman" panose="02020503050405090304" pitchFamily="18" charset="0"/>
                <a:ea typeface="Microsoft YaHei UI" panose="020B0503020204020204" pitchFamily="34" charset="-122"/>
                <a:cs typeface="Times New Roman" panose="02020503050405090304" pitchFamily="18" charset="0"/>
              </a:rPr>
              <a:t>致        谢</a:t>
            </a:r>
          </a:p>
        </p:txBody>
      </p:sp>
      <p:sp>
        <p:nvSpPr>
          <p:cNvPr id="10" name="文本框 9"/>
          <p:cNvSpPr txBox="1"/>
          <p:nvPr/>
        </p:nvSpPr>
        <p:spPr>
          <a:xfrm>
            <a:off x="1243282" y="2119030"/>
            <a:ext cx="9695392" cy="3954145"/>
          </a:xfrm>
          <a:prstGeom prst="rect">
            <a:avLst/>
          </a:prstGeom>
          <a:noFill/>
          <a:ln w="19050">
            <a:noFill/>
          </a:ln>
        </p:spPr>
        <p:txBody>
          <a:bodyPr wrap="square">
            <a:spAutoFit/>
          </a:bodyPr>
          <a:lstStyle/>
          <a:p>
            <a:pPr indent="609600" algn="l" fontAlgn="auto">
              <a:lnSpc>
                <a:spcPct val="150000"/>
              </a:lnSpc>
              <a:spcAft>
                <a:spcPts val="600"/>
              </a:spcAft>
              <a:buClrTx/>
              <a:buSzTx/>
              <a:buFontTx/>
            </a:pPr>
            <a:r>
              <a:rPr lang="zh-CN" altLang="en-US" sz="2200" dirty="0">
                <a:latin typeface="Times New Roman" panose="02020503050405090304" pitchFamily="18" charset="0"/>
                <a:ea typeface="Microsoft YaHei UI" panose="020B0503020204020204" pitchFamily="34" charset="-122"/>
                <a:cs typeface="Times New Roman" panose="02020503050405090304" pitchFamily="18" charset="0"/>
              </a:rPr>
              <a:t>桃李不言，下自成蹊。感谢我的导师杨崇广教授，在三年研究生学习和生活中给予我莫大的支持！感谢您的悉心指导！</a:t>
            </a:r>
            <a:endParaRPr lang="en-US" altLang="zh-CN" sz="2200" dirty="0">
              <a:latin typeface="Times New Roman" panose="02020503050405090304" pitchFamily="18" charset="0"/>
              <a:ea typeface="Microsoft YaHei UI" panose="020B0503020204020204" pitchFamily="34" charset="-122"/>
              <a:cs typeface="Times New Roman" panose="02020503050405090304" pitchFamily="18" charset="0"/>
            </a:endParaRPr>
          </a:p>
          <a:p>
            <a:pPr indent="609600" algn="l" fontAlgn="auto">
              <a:lnSpc>
                <a:spcPct val="150000"/>
              </a:lnSpc>
              <a:spcAft>
                <a:spcPts val="600"/>
              </a:spcAft>
              <a:buClrTx/>
              <a:buSzTx/>
              <a:buFontTx/>
            </a:pPr>
            <a:r>
              <a:rPr lang="zh-CN" altLang="en-US" sz="2200" dirty="0">
                <a:latin typeface="Times New Roman" panose="02020503050405090304" pitchFamily="18" charset="0"/>
                <a:ea typeface="Microsoft YaHei UI" panose="020B0503020204020204" pitchFamily="34" charset="-122"/>
                <a:cs typeface="Times New Roman" panose="02020503050405090304" pitchFamily="18" charset="0"/>
              </a:rPr>
              <a:t>感谢深圳市第三人民医院提供的数据！感谢黄震老师的帮助！</a:t>
            </a:r>
            <a:endParaRPr lang="en-US" altLang="zh-CN" sz="2200" dirty="0">
              <a:latin typeface="Times New Roman" panose="02020503050405090304" pitchFamily="18" charset="0"/>
              <a:ea typeface="Microsoft YaHei UI" panose="020B0503020204020204" pitchFamily="34" charset="-122"/>
              <a:cs typeface="Times New Roman" panose="02020503050405090304" pitchFamily="18" charset="0"/>
            </a:endParaRPr>
          </a:p>
          <a:p>
            <a:pPr indent="609600" algn="l" fontAlgn="auto">
              <a:lnSpc>
                <a:spcPct val="150000"/>
              </a:lnSpc>
              <a:spcAft>
                <a:spcPts val="600"/>
              </a:spcAft>
              <a:buClrTx/>
              <a:buSzTx/>
              <a:buFontTx/>
            </a:pPr>
            <a:r>
              <a:rPr lang="zh-CN" altLang="en-US" sz="2200" dirty="0">
                <a:latin typeface="Times New Roman" panose="02020503050405090304" pitchFamily="18" charset="0"/>
                <a:ea typeface="Microsoft YaHei UI" panose="020B0503020204020204" pitchFamily="34" charset="-122"/>
                <a:cs typeface="Times New Roman" panose="02020503050405090304" pitchFamily="18" charset="0"/>
              </a:rPr>
              <a:t>感谢研究生期间给予我支持和帮助的每一位老师、同学以及师兄师姐师弟师妹们！感谢能在公卫学院这个大家庭遇见你们！</a:t>
            </a:r>
            <a:endParaRPr lang="en-US" altLang="zh-CN" sz="2200" dirty="0">
              <a:latin typeface="Times New Roman" panose="02020503050405090304" pitchFamily="18" charset="0"/>
              <a:ea typeface="Microsoft YaHei UI" panose="020B0503020204020204" pitchFamily="34" charset="-122"/>
              <a:cs typeface="Times New Roman" panose="02020503050405090304" pitchFamily="18" charset="0"/>
            </a:endParaRPr>
          </a:p>
          <a:p>
            <a:pPr indent="609600" algn="l" fontAlgn="auto">
              <a:lnSpc>
                <a:spcPct val="150000"/>
              </a:lnSpc>
              <a:spcAft>
                <a:spcPts val="600"/>
              </a:spcAft>
              <a:buClrTx/>
              <a:buSzTx/>
              <a:buFontTx/>
            </a:pPr>
            <a:r>
              <a:rPr lang="zh-CN" altLang="en-US" sz="2200" dirty="0">
                <a:latin typeface="Times New Roman" panose="02020503050405090304" pitchFamily="18" charset="0"/>
                <a:ea typeface="Microsoft YaHei UI" panose="020B0503020204020204" pitchFamily="34" charset="-122"/>
                <a:cs typeface="Times New Roman" panose="02020503050405090304" pitchFamily="18" charset="0"/>
              </a:rPr>
              <a:t>感谢我的家人对我一直以来的支持和鼓励！</a:t>
            </a:r>
            <a:endParaRPr lang="en-US" altLang="zh-CN" sz="2200" dirty="0">
              <a:latin typeface="Times New Roman" panose="02020503050405090304" pitchFamily="18" charset="0"/>
              <a:ea typeface="Microsoft YaHei UI" panose="020B0503020204020204" pitchFamily="34" charset="-122"/>
              <a:cs typeface="Times New Roman" panose="02020503050405090304" pitchFamily="18" charset="0"/>
            </a:endParaRPr>
          </a:p>
          <a:p>
            <a:pPr indent="609600" algn="l" fontAlgn="auto">
              <a:lnSpc>
                <a:spcPct val="150000"/>
              </a:lnSpc>
              <a:spcAft>
                <a:spcPts val="600"/>
              </a:spcAft>
              <a:buClrTx/>
              <a:buSzTx/>
              <a:buFontTx/>
            </a:pPr>
            <a:r>
              <a:rPr lang="zh-CN" altLang="en-US" sz="2200" dirty="0">
                <a:latin typeface="Times New Roman" panose="02020503050405090304" pitchFamily="18" charset="0"/>
                <a:ea typeface="Microsoft YaHei UI" panose="020B0503020204020204" pitchFamily="34" charset="-122"/>
                <a:cs typeface="Times New Roman" panose="02020503050405090304" pitchFamily="18" charset="0"/>
              </a:rPr>
              <a:t>感谢各位专家于百忙之中莅临指导！</a:t>
            </a:r>
            <a:endParaRPr lang="en-US" altLang="zh-CN" sz="2200" dirty="0">
              <a:latin typeface="Times New Roman" panose="02020503050405090304" pitchFamily="18" charset="0"/>
              <a:ea typeface="Microsoft YaHei UI" panose="020B0503020204020204" pitchFamily="34" charset="-122"/>
              <a:cs typeface="Times New Roman" panose="02020503050405090304" pitchFamily="18" charset="0"/>
            </a:endParaRPr>
          </a:p>
        </p:txBody>
      </p:sp>
    </p:spTree>
    <p:extLst>
      <p:ext uri="{BB962C8B-B14F-4D97-AF65-F5344CB8AC3E}">
        <p14:creationId xmlns:p14="http://schemas.microsoft.com/office/powerpoint/2010/main" val="5275561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0653" b="40175"/>
          <a:stretch>
            <a:fillRect/>
          </a:stretch>
        </p:blipFill>
        <p:spPr bwMode="auto">
          <a:xfrm>
            <a:off x="-15529" y="1639152"/>
            <a:ext cx="12207529" cy="3373395"/>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7"/>
          <p:cNvSpPr/>
          <p:nvPr/>
        </p:nvSpPr>
        <p:spPr>
          <a:xfrm>
            <a:off x="-1" y="1639152"/>
            <a:ext cx="12207529" cy="3373395"/>
          </a:xfrm>
          <a:prstGeom prst="rect">
            <a:avLst/>
          </a:prstGeom>
          <a:gradFill>
            <a:gsLst>
              <a:gs pos="0">
                <a:srgbClr val="014723"/>
              </a:gs>
              <a:gs pos="100000">
                <a:srgbClr val="014723">
                  <a:alpha val="60000"/>
                </a:srgbClr>
              </a:gs>
              <a:gs pos="100000">
                <a:srgbClr val="014723">
                  <a:alpha val="10000"/>
                </a:srgbClr>
              </a:gs>
            </a:gsLst>
            <a:lin ang="108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18"/>
          <p:cNvPicPr>
            <a:picLocks noChangeAspect="1"/>
          </p:cNvPicPr>
          <p:nvPr/>
        </p:nvPicPr>
        <p:blipFill rotWithShape="1">
          <a:blip r:embed="rId4" cstate="print">
            <a:extLst>
              <a:ext uri="{28A0092B-C50C-407E-A947-70E740481C1C}">
                <a14:useLocalDpi xmlns:a14="http://schemas.microsoft.com/office/drawing/2010/main" val="0"/>
              </a:ext>
            </a:extLst>
          </a:blip>
          <a:srcRect t="21200" r="2284" b="11992"/>
          <a:stretch>
            <a:fillRect/>
          </a:stretch>
        </p:blipFill>
        <p:spPr>
          <a:xfrm>
            <a:off x="4395029" y="162462"/>
            <a:ext cx="3433000" cy="1072662"/>
          </a:xfrm>
          <a:prstGeom prst="rect">
            <a:avLst/>
          </a:prstGeom>
        </p:spPr>
      </p:pic>
      <p:sp>
        <p:nvSpPr>
          <p:cNvPr id="3" name="TextBox 6"/>
          <p:cNvSpPr txBox="1"/>
          <p:nvPr/>
        </p:nvSpPr>
        <p:spPr>
          <a:xfrm>
            <a:off x="3458745" y="5586872"/>
            <a:ext cx="1979981" cy="400085"/>
          </a:xfrm>
          <a:prstGeom prst="rect">
            <a:avLst/>
          </a:prstGeom>
          <a:noFill/>
        </p:spPr>
        <p:txBody>
          <a:bodyPr wrap="none" lIns="91416" tIns="45708" rIns="91416" bIns="45708" rtlCol="0">
            <a:spAutoFit/>
          </a:bodyPr>
          <a:lstStyle>
            <a:defPPr>
              <a:defRPr lang="zh-CN"/>
            </a:defPPr>
            <a:lvl1pPr>
              <a:defRPr sz="2000">
                <a:solidFill>
                  <a:schemeClr val="accent2"/>
                </a:solidFill>
                <a:latin typeface="+mn-ea"/>
                <a:ea typeface="+mn-ea"/>
              </a:defRPr>
            </a:lvl1pPr>
          </a:lstStyle>
          <a:p>
            <a:r>
              <a:rPr lang="zh-CN" altLang="en-US" b="1" dirty="0">
                <a:solidFill>
                  <a:srgbClr val="014924"/>
                </a:solidFill>
                <a:latin typeface="微软雅黑" panose="020B0503020204020204" pitchFamily="34" charset="-122"/>
                <a:ea typeface="微软雅黑" panose="020B0503020204020204" pitchFamily="34" charset="-122"/>
              </a:rPr>
              <a:t>答辩人</a:t>
            </a:r>
            <a:r>
              <a:rPr lang="zh-CN" altLang="en-US" dirty="0">
                <a:solidFill>
                  <a:srgbClr val="014924"/>
                </a:solidFill>
                <a:latin typeface="微软雅黑" panose="020B0503020204020204" pitchFamily="34" charset="-122"/>
                <a:ea typeface="微软雅黑" panose="020B0503020204020204" pitchFamily="34" charset="-122"/>
              </a:rPr>
              <a:t>：</a:t>
            </a:r>
            <a:r>
              <a:rPr lang="zh-CN" altLang="en-US" b="1" dirty="0">
                <a:solidFill>
                  <a:srgbClr val="014924"/>
                </a:solidFill>
                <a:latin typeface="微软雅黑" panose="020B0503020204020204" pitchFamily="34" charset="-122"/>
                <a:ea typeface="微软雅黑" panose="020B0503020204020204" pitchFamily="34" charset="-122"/>
              </a:rPr>
              <a:t>纪雅婷</a:t>
            </a:r>
          </a:p>
        </p:txBody>
      </p:sp>
      <p:sp>
        <p:nvSpPr>
          <p:cNvPr id="4" name="TextBox 7"/>
          <p:cNvSpPr txBox="1"/>
          <p:nvPr/>
        </p:nvSpPr>
        <p:spPr>
          <a:xfrm>
            <a:off x="6424679" y="5586872"/>
            <a:ext cx="2806700" cy="397510"/>
          </a:xfrm>
          <a:prstGeom prst="rect">
            <a:avLst/>
          </a:prstGeom>
          <a:noFill/>
        </p:spPr>
        <p:txBody>
          <a:bodyPr wrap="none" lIns="91416" tIns="45708" rIns="91416" bIns="45708" rtlCol="0">
            <a:spAutoFit/>
          </a:bodyPr>
          <a:lstStyle/>
          <a:p>
            <a:pPr algn="l"/>
            <a:r>
              <a:rPr lang="zh-CN" altLang="en-US" sz="2000" b="1" dirty="0">
                <a:solidFill>
                  <a:srgbClr val="014924"/>
                </a:solidFill>
                <a:latin typeface="微软雅黑" panose="020B0503020204020204" pitchFamily="34" charset="-122"/>
                <a:ea typeface="微软雅黑" panose="020B0503020204020204" pitchFamily="34" charset="-122"/>
              </a:rPr>
              <a:t>指导老师</a:t>
            </a:r>
            <a:r>
              <a:rPr lang="zh-CN" altLang="en-US" sz="2000" dirty="0">
                <a:solidFill>
                  <a:srgbClr val="014924"/>
                </a:solidFill>
                <a:latin typeface="微软雅黑" panose="020B0503020204020204" pitchFamily="34" charset="-122"/>
                <a:ea typeface="微软雅黑" panose="020B0503020204020204" pitchFamily="34" charset="-122"/>
              </a:rPr>
              <a:t>：</a:t>
            </a:r>
            <a:r>
              <a:rPr lang="zh-CN" altLang="en-US" sz="2000" b="1" dirty="0">
                <a:solidFill>
                  <a:srgbClr val="014924"/>
                </a:solidFill>
                <a:latin typeface="微软雅黑" panose="020B0503020204020204" pitchFamily="34" charset="-122"/>
                <a:ea typeface="微软雅黑" panose="020B0503020204020204" pitchFamily="34" charset="-122"/>
              </a:rPr>
              <a:t>杨崇广</a:t>
            </a:r>
            <a:r>
              <a:rPr lang="en-US" altLang="zh-CN" sz="2000" b="1" dirty="0">
                <a:solidFill>
                  <a:srgbClr val="014924"/>
                </a:solidFill>
                <a:latin typeface="微软雅黑" panose="020B0503020204020204" pitchFamily="34" charset="-122"/>
                <a:ea typeface="微软雅黑" panose="020B0503020204020204" pitchFamily="34" charset="-122"/>
              </a:rPr>
              <a:t> </a:t>
            </a:r>
            <a:r>
              <a:rPr lang="zh-CN" altLang="en-US" sz="2000" b="1" dirty="0">
                <a:solidFill>
                  <a:srgbClr val="014924"/>
                </a:solidFill>
                <a:latin typeface="微软雅黑" panose="020B0503020204020204" pitchFamily="34" charset="-122"/>
                <a:ea typeface="微软雅黑" panose="020B0503020204020204" pitchFamily="34" charset="-122"/>
              </a:rPr>
              <a:t>教授</a:t>
            </a:r>
          </a:p>
        </p:txBody>
      </p:sp>
      <p:sp>
        <p:nvSpPr>
          <p:cNvPr id="5" name="Freeform 7"/>
          <p:cNvSpPr>
            <a:spLocks noChangeAspect="1" noEditPoints="1"/>
          </p:cNvSpPr>
          <p:nvPr/>
        </p:nvSpPr>
        <p:spPr bwMode="auto">
          <a:xfrm>
            <a:off x="2952453" y="5553792"/>
            <a:ext cx="462900" cy="466244"/>
          </a:xfrm>
          <a:custGeom>
            <a:avLst/>
            <a:gdLst>
              <a:gd name="T0" fmla="*/ 661 w 904"/>
              <a:gd name="T1" fmla="*/ 461 h 905"/>
              <a:gd name="T2" fmla="*/ 661 w 904"/>
              <a:gd name="T3" fmla="*/ 339 h 905"/>
              <a:gd name="T4" fmla="*/ 605 w 904"/>
              <a:gd name="T5" fmla="*/ 339 h 905"/>
              <a:gd name="T6" fmla="*/ 605 w 904"/>
              <a:gd name="T7" fmla="*/ 461 h 905"/>
              <a:gd name="T8" fmla="*/ 456 w 904"/>
              <a:gd name="T9" fmla="*/ 610 h 905"/>
              <a:gd name="T10" fmla="*/ 453 w 904"/>
              <a:gd name="T11" fmla="*/ 610 h 905"/>
              <a:gd name="T12" fmla="*/ 452 w 904"/>
              <a:gd name="T13" fmla="*/ 610 h 905"/>
              <a:gd name="T14" fmla="*/ 451 w 904"/>
              <a:gd name="T15" fmla="*/ 610 h 905"/>
              <a:gd name="T16" fmla="*/ 448 w 904"/>
              <a:gd name="T17" fmla="*/ 610 h 905"/>
              <a:gd name="T18" fmla="*/ 299 w 904"/>
              <a:gd name="T19" fmla="*/ 461 h 905"/>
              <a:gd name="T20" fmla="*/ 299 w 904"/>
              <a:gd name="T21" fmla="*/ 339 h 905"/>
              <a:gd name="T22" fmla="*/ 244 w 904"/>
              <a:gd name="T23" fmla="*/ 339 h 905"/>
              <a:gd name="T24" fmla="*/ 244 w 904"/>
              <a:gd name="T25" fmla="*/ 461 h 905"/>
              <a:gd name="T26" fmla="*/ 419 w 904"/>
              <a:gd name="T27" fmla="*/ 664 h 905"/>
              <a:gd name="T28" fmla="*/ 419 w 904"/>
              <a:gd name="T29" fmla="*/ 752 h 905"/>
              <a:gd name="T30" fmla="*/ 295 w 904"/>
              <a:gd name="T31" fmla="*/ 787 h 905"/>
              <a:gd name="T32" fmla="*/ 610 w 904"/>
              <a:gd name="T33" fmla="*/ 787 h 905"/>
              <a:gd name="T34" fmla="*/ 484 w 904"/>
              <a:gd name="T35" fmla="*/ 751 h 905"/>
              <a:gd name="T36" fmla="*/ 484 w 904"/>
              <a:gd name="T37" fmla="*/ 664 h 905"/>
              <a:gd name="T38" fmla="*/ 661 w 904"/>
              <a:gd name="T39" fmla="*/ 461 h 905"/>
              <a:gd name="T40" fmla="*/ 450 w 904"/>
              <a:gd name="T41" fmla="*/ 558 h 905"/>
              <a:gd name="T42" fmla="*/ 452 w 904"/>
              <a:gd name="T43" fmla="*/ 558 h 905"/>
              <a:gd name="T44" fmla="*/ 454 w 904"/>
              <a:gd name="T45" fmla="*/ 558 h 905"/>
              <a:gd name="T46" fmla="*/ 554 w 904"/>
              <a:gd name="T47" fmla="*/ 459 h 905"/>
              <a:gd name="T48" fmla="*/ 554 w 904"/>
              <a:gd name="T49" fmla="*/ 218 h 905"/>
              <a:gd name="T50" fmla="*/ 454 w 904"/>
              <a:gd name="T51" fmla="*/ 118 h 905"/>
              <a:gd name="T52" fmla="*/ 452 w 904"/>
              <a:gd name="T53" fmla="*/ 118 h 905"/>
              <a:gd name="T54" fmla="*/ 450 w 904"/>
              <a:gd name="T55" fmla="*/ 118 h 905"/>
              <a:gd name="T56" fmla="*/ 351 w 904"/>
              <a:gd name="T57" fmla="*/ 218 h 905"/>
              <a:gd name="T58" fmla="*/ 351 w 904"/>
              <a:gd name="T59" fmla="*/ 459 h 905"/>
              <a:gd name="T60" fmla="*/ 450 w 904"/>
              <a:gd name="T61" fmla="*/ 558 h 905"/>
              <a:gd name="T62" fmla="*/ 452 w 904"/>
              <a:gd name="T63" fmla="*/ 0 h 905"/>
              <a:gd name="T64" fmla="*/ 904 w 904"/>
              <a:gd name="T65" fmla="*/ 453 h 905"/>
              <a:gd name="T66" fmla="*/ 452 w 904"/>
              <a:gd name="T67" fmla="*/ 905 h 905"/>
              <a:gd name="T68" fmla="*/ 0 w 904"/>
              <a:gd name="T69" fmla="*/ 453 h 905"/>
              <a:gd name="T70" fmla="*/ 452 w 904"/>
              <a:gd name="T71" fmla="*/ 0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04" h="905">
                <a:moveTo>
                  <a:pt x="661" y="461"/>
                </a:moveTo>
                <a:lnTo>
                  <a:pt x="661" y="339"/>
                </a:lnTo>
                <a:cubicBezTo>
                  <a:pt x="661" y="304"/>
                  <a:pt x="605" y="304"/>
                  <a:pt x="605" y="339"/>
                </a:cubicBezTo>
                <a:lnTo>
                  <a:pt x="605" y="461"/>
                </a:lnTo>
                <a:cubicBezTo>
                  <a:pt x="605" y="543"/>
                  <a:pt x="538" y="610"/>
                  <a:pt x="456" y="610"/>
                </a:cubicBezTo>
                <a:cubicBezTo>
                  <a:pt x="455" y="610"/>
                  <a:pt x="454" y="610"/>
                  <a:pt x="453" y="610"/>
                </a:cubicBezTo>
                <a:lnTo>
                  <a:pt x="452" y="610"/>
                </a:lnTo>
                <a:lnTo>
                  <a:pt x="451" y="610"/>
                </a:lnTo>
                <a:cubicBezTo>
                  <a:pt x="450" y="610"/>
                  <a:pt x="449" y="610"/>
                  <a:pt x="448" y="610"/>
                </a:cubicBezTo>
                <a:cubicBezTo>
                  <a:pt x="366" y="610"/>
                  <a:pt x="299" y="543"/>
                  <a:pt x="299" y="461"/>
                </a:cubicBezTo>
                <a:lnTo>
                  <a:pt x="299" y="339"/>
                </a:lnTo>
                <a:cubicBezTo>
                  <a:pt x="299" y="304"/>
                  <a:pt x="244" y="304"/>
                  <a:pt x="244" y="339"/>
                </a:cubicBezTo>
                <a:cubicBezTo>
                  <a:pt x="244" y="355"/>
                  <a:pt x="244" y="461"/>
                  <a:pt x="244" y="461"/>
                </a:cubicBezTo>
                <a:cubicBezTo>
                  <a:pt x="244" y="564"/>
                  <a:pt x="320" y="650"/>
                  <a:pt x="419" y="664"/>
                </a:cubicBezTo>
                <a:lnTo>
                  <a:pt x="419" y="752"/>
                </a:lnTo>
                <a:lnTo>
                  <a:pt x="295" y="787"/>
                </a:lnTo>
                <a:lnTo>
                  <a:pt x="610" y="787"/>
                </a:lnTo>
                <a:lnTo>
                  <a:pt x="484" y="751"/>
                </a:lnTo>
                <a:lnTo>
                  <a:pt x="484" y="664"/>
                </a:lnTo>
                <a:cubicBezTo>
                  <a:pt x="584" y="650"/>
                  <a:pt x="661" y="564"/>
                  <a:pt x="661" y="461"/>
                </a:cubicBezTo>
                <a:close/>
                <a:moveTo>
                  <a:pt x="450" y="558"/>
                </a:moveTo>
                <a:cubicBezTo>
                  <a:pt x="451" y="558"/>
                  <a:pt x="451" y="558"/>
                  <a:pt x="452" y="558"/>
                </a:cubicBezTo>
                <a:cubicBezTo>
                  <a:pt x="453" y="558"/>
                  <a:pt x="453" y="558"/>
                  <a:pt x="454" y="558"/>
                </a:cubicBezTo>
                <a:cubicBezTo>
                  <a:pt x="509" y="558"/>
                  <a:pt x="554" y="514"/>
                  <a:pt x="554" y="459"/>
                </a:cubicBezTo>
                <a:lnTo>
                  <a:pt x="554" y="218"/>
                </a:lnTo>
                <a:cubicBezTo>
                  <a:pt x="554" y="163"/>
                  <a:pt x="509" y="118"/>
                  <a:pt x="454" y="118"/>
                </a:cubicBezTo>
                <a:cubicBezTo>
                  <a:pt x="453" y="118"/>
                  <a:pt x="453" y="118"/>
                  <a:pt x="452" y="118"/>
                </a:cubicBezTo>
                <a:cubicBezTo>
                  <a:pt x="452" y="118"/>
                  <a:pt x="451" y="118"/>
                  <a:pt x="450" y="118"/>
                </a:cubicBezTo>
                <a:cubicBezTo>
                  <a:pt x="395" y="118"/>
                  <a:pt x="351" y="163"/>
                  <a:pt x="351" y="218"/>
                </a:cubicBezTo>
                <a:lnTo>
                  <a:pt x="351" y="459"/>
                </a:lnTo>
                <a:cubicBezTo>
                  <a:pt x="351" y="514"/>
                  <a:pt x="395" y="558"/>
                  <a:pt x="450" y="558"/>
                </a:cubicBezTo>
                <a:close/>
                <a:moveTo>
                  <a:pt x="452" y="0"/>
                </a:moveTo>
                <a:cubicBezTo>
                  <a:pt x="702" y="0"/>
                  <a:pt x="904" y="203"/>
                  <a:pt x="904" y="453"/>
                </a:cubicBezTo>
                <a:cubicBezTo>
                  <a:pt x="904" y="702"/>
                  <a:pt x="702" y="905"/>
                  <a:pt x="452" y="905"/>
                </a:cubicBezTo>
                <a:cubicBezTo>
                  <a:pt x="202" y="905"/>
                  <a:pt x="0" y="702"/>
                  <a:pt x="0" y="453"/>
                </a:cubicBezTo>
                <a:cubicBezTo>
                  <a:pt x="0" y="203"/>
                  <a:pt x="202" y="0"/>
                  <a:pt x="452" y="0"/>
                </a:cubicBezTo>
                <a:close/>
              </a:path>
            </a:pathLst>
          </a:custGeom>
          <a:solidFill>
            <a:srgbClr val="014924"/>
          </a:solidFill>
          <a:ln>
            <a:noFill/>
          </a:ln>
        </p:spPr>
        <p:txBody>
          <a:bodyPr vert="horz" wrap="square" lIns="91416" tIns="45708" rIns="91416" bIns="45708" numCol="1" anchor="t" anchorCtr="0" compatLnSpc="1"/>
          <a:lstStyle/>
          <a:p>
            <a:endParaRPr lang="zh-CN" altLang="en-US">
              <a:solidFill>
                <a:srgbClr val="C00000"/>
              </a:solidFill>
              <a:latin typeface="微软雅黑" panose="020B0503020204020204" pitchFamily="34" charset="-122"/>
              <a:ea typeface="微软雅黑" panose="020B0503020204020204" pitchFamily="34" charset="-122"/>
            </a:endParaRPr>
          </a:p>
        </p:txBody>
      </p:sp>
      <p:sp>
        <p:nvSpPr>
          <p:cNvPr id="6" name="Freeform 8"/>
          <p:cNvSpPr>
            <a:spLocks noChangeAspect="1" noEditPoints="1"/>
          </p:cNvSpPr>
          <p:nvPr/>
        </p:nvSpPr>
        <p:spPr bwMode="auto">
          <a:xfrm>
            <a:off x="5946644" y="5553791"/>
            <a:ext cx="464288" cy="466246"/>
          </a:xfrm>
          <a:custGeom>
            <a:avLst/>
            <a:gdLst>
              <a:gd name="T0" fmla="*/ 422 w 422"/>
              <a:gd name="T1" fmla="*/ 211 h 422"/>
              <a:gd name="T2" fmla="*/ 0 w 422"/>
              <a:gd name="T3" fmla="*/ 211 h 422"/>
              <a:gd name="T4" fmla="*/ 340 w 422"/>
              <a:gd name="T5" fmla="*/ 117 h 422"/>
              <a:gd name="T6" fmla="*/ 345 w 422"/>
              <a:gd name="T7" fmla="*/ 123 h 422"/>
              <a:gd name="T8" fmla="*/ 344 w 422"/>
              <a:gd name="T9" fmla="*/ 226 h 422"/>
              <a:gd name="T10" fmla="*/ 340 w 422"/>
              <a:gd name="T11" fmla="*/ 227 h 422"/>
              <a:gd name="T12" fmla="*/ 217 w 422"/>
              <a:gd name="T13" fmla="*/ 226 h 422"/>
              <a:gd name="T14" fmla="*/ 215 w 422"/>
              <a:gd name="T15" fmla="*/ 222 h 422"/>
              <a:gd name="T16" fmla="*/ 286 w 422"/>
              <a:gd name="T17" fmla="*/ 164 h 422"/>
              <a:gd name="T18" fmla="*/ 215 w 422"/>
              <a:gd name="T19" fmla="*/ 171 h 422"/>
              <a:gd name="T20" fmla="*/ 217 w 422"/>
              <a:gd name="T21" fmla="*/ 119 h 422"/>
              <a:gd name="T22" fmla="*/ 220 w 422"/>
              <a:gd name="T23" fmla="*/ 117 h 422"/>
              <a:gd name="T24" fmla="*/ 220 w 422"/>
              <a:gd name="T25" fmla="*/ 96 h 422"/>
              <a:gd name="T26" fmla="*/ 202 w 422"/>
              <a:gd name="T27" fmla="*/ 104 h 422"/>
              <a:gd name="T28" fmla="*/ 194 w 422"/>
              <a:gd name="T29" fmla="*/ 174 h 422"/>
              <a:gd name="T30" fmla="*/ 186 w 422"/>
              <a:gd name="T31" fmla="*/ 166 h 422"/>
              <a:gd name="T32" fmla="*/ 137 w 422"/>
              <a:gd name="T33" fmla="*/ 151 h 422"/>
              <a:gd name="T34" fmla="*/ 54 w 422"/>
              <a:gd name="T35" fmla="*/ 173 h 422"/>
              <a:gd name="T36" fmla="*/ 77 w 422"/>
              <a:gd name="T37" fmla="*/ 243 h 422"/>
              <a:gd name="T38" fmla="*/ 81 w 422"/>
              <a:gd name="T39" fmla="*/ 192 h 422"/>
              <a:gd name="T40" fmla="*/ 81 w 422"/>
              <a:gd name="T41" fmla="*/ 256 h 422"/>
              <a:gd name="T42" fmla="*/ 106 w 422"/>
              <a:gd name="T43" fmla="*/ 350 h 422"/>
              <a:gd name="T44" fmla="*/ 112 w 422"/>
              <a:gd name="T45" fmla="*/ 272 h 422"/>
              <a:gd name="T46" fmla="*/ 137 w 422"/>
              <a:gd name="T47" fmla="*/ 350 h 422"/>
              <a:gd name="T48" fmla="*/ 137 w 422"/>
              <a:gd name="T49" fmla="*/ 256 h 422"/>
              <a:gd name="T50" fmla="*/ 137 w 422"/>
              <a:gd name="T51" fmla="*/ 192 h 422"/>
              <a:gd name="T52" fmla="*/ 162 w 422"/>
              <a:gd name="T53" fmla="*/ 192 h 422"/>
              <a:gd name="T54" fmla="*/ 186 w 422"/>
              <a:gd name="T55" fmla="*/ 185 h 422"/>
              <a:gd name="T56" fmla="*/ 194 w 422"/>
              <a:gd name="T57" fmla="*/ 222 h 422"/>
              <a:gd name="T58" fmla="*/ 202 w 422"/>
              <a:gd name="T59" fmla="*/ 240 h 422"/>
              <a:gd name="T60" fmla="*/ 220 w 422"/>
              <a:gd name="T61" fmla="*/ 248 h 422"/>
              <a:gd name="T62" fmla="*/ 359 w 422"/>
              <a:gd name="T63" fmla="*/ 240 h 422"/>
              <a:gd name="T64" fmla="*/ 366 w 422"/>
              <a:gd name="T65" fmla="*/ 222 h 422"/>
              <a:gd name="T66" fmla="*/ 359 w 422"/>
              <a:gd name="T67" fmla="*/ 104 h 422"/>
              <a:gd name="T68" fmla="*/ 220 w 422"/>
              <a:gd name="T69" fmla="*/ 96 h 422"/>
              <a:gd name="T70" fmla="*/ 344 w 422"/>
              <a:gd name="T71" fmla="*/ 277 h 422"/>
              <a:gd name="T72" fmla="*/ 346 w 422"/>
              <a:gd name="T73" fmla="*/ 351 h 422"/>
              <a:gd name="T74" fmla="*/ 298 w 422"/>
              <a:gd name="T75" fmla="*/ 277 h 422"/>
              <a:gd name="T76" fmla="*/ 250 w 422"/>
              <a:gd name="T77" fmla="*/ 351 h 422"/>
              <a:gd name="T78" fmla="*/ 244 w 422"/>
              <a:gd name="T79" fmla="*/ 277 h 422"/>
              <a:gd name="T80" fmla="*/ 221 w 422"/>
              <a:gd name="T81" fmla="*/ 254 h 422"/>
              <a:gd name="T82" fmla="*/ 109 w 422"/>
              <a:gd name="T83" fmla="*/ 75 h 422"/>
              <a:gd name="T84" fmla="*/ 109 w 422"/>
              <a:gd name="T85" fmla="*/ 146 h 422"/>
              <a:gd name="T86" fmla="*/ 109 w 422"/>
              <a:gd name="T87" fmla="*/ 75 h 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22" h="422">
                <a:moveTo>
                  <a:pt x="211" y="0"/>
                </a:moveTo>
                <a:cubicBezTo>
                  <a:pt x="327" y="0"/>
                  <a:pt x="422" y="94"/>
                  <a:pt x="422" y="211"/>
                </a:cubicBezTo>
                <a:cubicBezTo>
                  <a:pt x="422" y="327"/>
                  <a:pt x="327" y="422"/>
                  <a:pt x="211" y="422"/>
                </a:cubicBezTo>
                <a:cubicBezTo>
                  <a:pt x="94" y="422"/>
                  <a:pt x="0" y="327"/>
                  <a:pt x="0" y="211"/>
                </a:cubicBezTo>
                <a:cubicBezTo>
                  <a:pt x="0" y="94"/>
                  <a:pt x="94" y="0"/>
                  <a:pt x="211" y="0"/>
                </a:cubicBezTo>
                <a:close/>
                <a:moveTo>
                  <a:pt x="340" y="117"/>
                </a:moveTo>
                <a:cubicBezTo>
                  <a:pt x="341" y="117"/>
                  <a:pt x="343" y="118"/>
                  <a:pt x="344" y="119"/>
                </a:cubicBezTo>
                <a:cubicBezTo>
                  <a:pt x="345" y="120"/>
                  <a:pt x="345" y="121"/>
                  <a:pt x="345" y="123"/>
                </a:cubicBezTo>
                <a:lnTo>
                  <a:pt x="345" y="222"/>
                </a:lnTo>
                <a:cubicBezTo>
                  <a:pt x="345" y="223"/>
                  <a:pt x="345" y="225"/>
                  <a:pt x="344" y="226"/>
                </a:cubicBezTo>
                <a:lnTo>
                  <a:pt x="344" y="226"/>
                </a:lnTo>
                <a:cubicBezTo>
                  <a:pt x="343" y="227"/>
                  <a:pt x="341" y="227"/>
                  <a:pt x="340" y="227"/>
                </a:cubicBezTo>
                <a:lnTo>
                  <a:pt x="220" y="227"/>
                </a:lnTo>
                <a:cubicBezTo>
                  <a:pt x="219" y="227"/>
                  <a:pt x="218" y="227"/>
                  <a:pt x="217" y="226"/>
                </a:cubicBezTo>
                <a:lnTo>
                  <a:pt x="217" y="226"/>
                </a:lnTo>
                <a:cubicBezTo>
                  <a:pt x="216" y="225"/>
                  <a:pt x="215" y="223"/>
                  <a:pt x="215" y="222"/>
                </a:cubicBezTo>
                <a:lnTo>
                  <a:pt x="215" y="179"/>
                </a:lnTo>
                <a:lnTo>
                  <a:pt x="286" y="164"/>
                </a:lnTo>
                <a:lnTo>
                  <a:pt x="286" y="162"/>
                </a:lnTo>
                <a:lnTo>
                  <a:pt x="215" y="171"/>
                </a:lnTo>
                <a:lnTo>
                  <a:pt x="215" y="123"/>
                </a:lnTo>
                <a:cubicBezTo>
                  <a:pt x="215" y="121"/>
                  <a:pt x="216" y="120"/>
                  <a:pt x="217" y="119"/>
                </a:cubicBezTo>
                <a:lnTo>
                  <a:pt x="217" y="119"/>
                </a:lnTo>
                <a:cubicBezTo>
                  <a:pt x="218" y="118"/>
                  <a:pt x="219" y="117"/>
                  <a:pt x="220" y="117"/>
                </a:cubicBezTo>
                <a:lnTo>
                  <a:pt x="340" y="117"/>
                </a:lnTo>
                <a:close/>
                <a:moveTo>
                  <a:pt x="220" y="96"/>
                </a:moveTo>
                <a:cubicBezTo>
                  <a:pt x="213" y="96"/>
                  <a:pt x="206" y="99"/>
                  <a:pt x="202" y="104"/>
                </a:cubicBezTo>
                <a:lnTo>
                  <a:pt x="202" y="104"/>
                </a:lnTo>
                <a:cubicBezTo>
                  <a:pt x="197" y="109"/>
                  <a:pt x="194" y="115"/>
                  <a:pt x="194" y="123"/>
                </a:cubicBezTo>
                <a:lnTo>
                  <a:pt x="194" y="174"/>
                </a:lnTo>
                <a:lnTo>
                  <a:pt x="186" y="175"/>
                </a:lnTo>
                <a:lnTo>
                  <a:pt x="186" y="166"/>
                </a:lnTo>
                <a:lnTo>
                  <a:pt x="162" y="166"/>
                </a:lnTo>
                <a:lnTo>
                  <a:pt x="137" y="151"/>
                </a:lnTo>
                <a:lnTo>
                  <a:pt x="77" y="151"/>
                </a:lnTo>
                <a:cubicBezTo>
                  <a:pt x="64" y="151"/>
                  <a:pt x="54" y="161"/>
                  <a:pt x="54" y="173"/>
                </a:cubicBezTo>
                <a:lnTo>
                  <a:pt x="54" y="243"/>
                </a:lnTo>
                <a:lnTo>
                  <a:pt x="77" y="243"/>
                </a:lnTo>
                <a:lnTo>
                  <a:pt x="77" y="192"/>
                </a:lnTo>
                <a:lnTo>
                  <a:pt x="81" y="192"/>
                </a:lnTo>
                <a:lnTo>
                  <a:pt x="81" y="243"/>
                </a:lnTo>
                <a:lnTo>
                  <a:pt x="81" y="256"/>
                </a:lnTo>
                <a:lnTo>
                  <a:pt x="81" y="350"/>
                </a:lnTo>
                <a:lnTo>
                  <a:pt x="106" y="350"/>
                </a:lnTo>
                <a:lnTo>
                  <a:pt x="106" y="272"/>
                </a:lnTo>
                <a:lnTo>
                  <a:pt x="112" y="272"/>
                </a:lnTo>
                <a:lnTo>
                  <a:pt x="112" y="350"/>
                </a:lnTo>
                <a:lnTo>
                  <a:pt x="137" y="350"/>
                </a:lnTo>
                <a:lnTo>
                  <a:pt x="137" y="336"/>
                </a:lnTo>
                <a:lnTo>
                  <a:pt x="137" y="256"/>
                </a:lnTo>
                <a:lnTo>
                  <a:pt x="137" y="243"/>
                </a:lnTo>
                <a:lnTo>
                  <a:pt x="137" y="192"/>
                </a:lnTo>
                <a:lnTo>
                  <a:pt x="137" y="177"/>
                </a:lnTo>
                <a:lnTo>
                  <a:pt x="162" y="192"/>
                </a:lnTo>
                <a:lnTo>
                  <a:pt x="186" y="192"/>
                </a:lnTo>
                <a:lnTo>
                  <a:pt x="186" y="185"/>
                </a:lnTo>
                <a:lnTo>
                  <a:pt x="194" y="184"/>
                </a:lnTo>
                <a:lnTo>
                  <a:pt x="194" y="222"/>
                </a:lnTo>
                <a:cubicBezTo>
                  <a:pt x="194" y="229"/>
                  <a:pt x="197" y="236"/>
                  <a:pt x="202" y="240"/>
                </a:cubicBezTo>
                <a:lnTo>
                  <a:pt x="202" y="240"/>
                </a:lnTo>
                <a:lnTo>
                  <a:pt x="202" y="241"/>
                </a:lnTo>
                <a:cubicBezTo>
                  <a:pt x="207" y="245"/>
                  <a:pt x="213" y="248"/>
                  <a:pt x="220" y="248"/>
                </a:cubicBezTo>
                <a:lnTo>
                  <a:pt x="340" y="248"/>
                </a:lnTo>
                <a:cubicBezTo>
                  <a:pt x="347" y="248"/>
                  <a:pt x="354" y="245"/>
                  <a:pt x="359" y="240"/>
                </a:cubicBezTo>
                <a:lnTo>
                  <a:pt x="359" y="241"/>
                </a:lnTo>
                <a:cubicBezTo>
                  <a:pt x="363" y="236"/>
                  <a:pt x="366" y="229"/>
                  <a:pt x="366" y="222"/>
                </a:cubicBezTo>
                <a:lnTo>
                  <a:pt x="366" y="123"/>
                </a:lnTo>
                <a:cubicBezTo>
                  <a:pt x="366" y="115"/>
                  <a:pt x="363" y="109"/>
                  <a:pt x="359" y="104"/>
                </a:cubicBezTo>
                <a:cubicBezTo>
                  <a:pt x="354" y="99"/>
                  <a:pt x="347" y="96"/>
                  <a:pt x="340" y="96"/>
                </a:cubicBezTo>
                <a:lnTo>
                  <a:pt x="220" y="96"/>
                </a:lnTo>
                <a:close/>
                <a:moveTo>
                  <a:pt x="344" y="254"/>
                </a:moveTo>
                <a:lnTo>
                  <a:pt x="344" y="277"/>
                </a:lnTo>
                <a:lnTo>
                  <a:pt x="325" y="277"/>
                </a:lnTo>
                <a:lnTo>
                  <a:pt x="346" y="351"/>
                </a:lnTo>
                <a:lnTo>
                  <a:pt x="319" y="351"/>
                </a:lnTo>
                <a:lnTo>
                  <a:pt x="298" y="277"/>
                </a:lnTo>
                <a:lnTo>
                  <a:pt x="271" y="277"/>
                </a:lnTo>
                <a:lnTo>
                  <a:pt x="250" y="351"/>
                </a:lnTo>
                <a:lnTo>
                  <a:pt x="223" y="351"/>
                </a:lnTo>
                <a:lnTo>
                  <a:pt x="244" y="277"/>
                </a:lnTo>
                <a:lnTo>
                  <a:pt x="221" y="277"/>
                </a:lnTo>
                <a:lnTo>
                  <a:pt x="221" y="254"/>
                </a:lnTo>
                <a:lnTo>
                  <a:pt x="344" y="254"/>
                </a:lnTo>
                <a:close/>
                <a:moveTo>
                  <a:pt x="109" y="75"/>
                </a:moveTo>
                <a:cubicBezTo>
                  <a:pt x="129" y="75"/>
                  <a:pt x="145" y="91"/>
                  <a:pt x="145" y="111"/>
                </a:cubicBezTo>
                <a:cubicBezTo>
                  <a:pt x="145" y="130"/>
                  <a:pt x="129" y="146"/>
                  <a:pt x="109" y="146"/>
                </a:cubicBezTo>
                <a:cubicBezTo>
                  <a:pt x="90" y="146"/>
                  <a:pt x="74" y="130"/>
                  <a:pt x="74" y="111"/>
                </a:cubicBezTo>
                <a:cubicBezTo>
                  <a:pt x="74" y="91"/>
                  <a:pt x="90" y="75"/>
                  <a:pt x="109" y="75"/>
                </a:cubicBezTo>
                <a:close/>
              </a:path>
            </a:pathLst>
          </a:custGeom>
          <a:solidFill>
            <a:srgbClr val="014924"/>
          </a:solidFill>
          <a:ln>
            <a:noFill/>
          </a:ln>
        </p:spPr>
        <p:txBody>
          <a:bodyPr vert="horz" wrap="square" lIns="91416" tIns="45708" rIns="91416" bIns="45708" numCol="1" anchor="t" anchorCtr="0" compatLnSpc="1"/>
          <a:lstStyle/>
          <a:p>
            <a:endParaRPr lang="zh-CN" altLang="en-US" sz="2800">
              <a:solidFill>
                <a:srgbClr val="C00000"/>
              </a:solidFill>
              <a:latin typeface="微软雅黑" panose="020B0503020204020204" pitchFamily="34" charset="-122"/>
              <a:ea typeface="微软雅黑" panose="020B0503020204020204" pitchFamily="34" charset="-122"/>
            </a:endParaRPr>
          </a:p>
        </p:txBody>
      </p:sp>
      <p:sp>
        <p:nvSpPr>
          <p:cNvPr id="7" name="文本框 21"/>
          <p:cNvSpPr txBox="1"/>
          <p:nvPr/>
        </p:nvSpPr>
        <p:spPr>
          <a:xfrm>
            <a:off x="15527" y="2921635"/>
            <a:ext cx="12207529" cy="1014730"/>
          </a:xfrm>
          <a:prstGeom prst="rect">
            <a:avLst/>
          </a:prstGeom>
          <a:noFill/>
        </p:spPr>
        <p:txBody>
          <a:bodyPr wrap="square" rtlCol="0">
            <a:spAutoFit/>
          </a:bodyPr>
          <a:lstStyle/>
          <a:p>
            <a:pPr algn="ctr"/>
            <a:r>
              <a:rPr lang="zh-CN" altLang="en-US" sz="6000" b="1" dirty="0">
                <a:solidFill>
                  <a:schemeClr val="bg1">
                    <a:lumMod val="95000"/>
                  </a:schemeClr>
                </a:solidFill>
                <a:latin typeface="微软雅黑" panose="020B0503020204020204" pitchFamily="34" charset="-122"/>
                <a:ea typeface="微软雅黑" panose="020B0503020204020204" pitchFamily="34" charset="-122"/>
              </a:rPr>
              <a:t>恳请各位老师批评指正！</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A" val="v5.2.11"/>
</p:tagLst>
</file>

<file path=ppt/tags/tag2.xml><?xml version="1.0" encoding="utf-8"?>
<p:tagLst xmlns:a="http://schemas.openxmlformats.org/drawingml/2006/main" xmlns:r="http://schemas.openxmlformats.org/officeDocument/2006/relationships" xmlns:p="http://schemas.openxmlformats.org/presentationml/2006/main">
  <p:tag name="PA" val="v5.2.11"/>
</p:tagLst>
</file>

<file path=ppt/tags/tag3.xml><?xml version="1.0" encoding="utf-8"?>
<p:tagLst xmlns:a="http://schemas.openxmlformats.org/drawingml/2006/main" xmlns:r="http://schemas.openxmlformats.org/officeDocument/2006/relationships" xmlns:p="http://schemas.openxmlformats.org/presentationml/2006/main">
  <p:tag name="PA" val="v5.2.11"/>
</p:tagLst>
</file>

<file path=ppt/tags/tag4.xml><?xml version="1.0" encoding="utf-8"?>
<p:tagLst xmlns:a="http://schemas.openxmlformats.org/drawingml/2006/main" xmlns:r="http://schemas.openxmlformats.org/officeDocument/2006/relationships" xmlns:p="http://schemas.openxmlformats.org/presentationml/2006/main">
  <p:tag name="TOP" val="118.6173"/>
  <p:tag name="LEFT" val="425.1254"/>
  <p:tag name="WIDTH" val="109.4105"/>
  <p:tag name="HEIGHT" val="42.29142"/>
  <p:tag name="FONTSIZE" val="24.37"/>
  <p:tag name="MARGINBOTTOM" val="4.87559"/>
  <p:tag name="MARGINLEFT" val="9.751023"/>
  <p:tag name="MARGINRIGHT" val="9.751023"/>
  <p:tag name="MARGINTOP" val="4.87559"/>
  <p:tag name="LINERULEAFTER" val="0"/>
</p:tagLst>
</file>

<file path=ppt/tags/tag5.xml><?xml version="1.0" encoding="utf-8"?>
<p:tagLst xmlns:a="http://schemas.openxmlformats.org/drawingml/2006/main" xmlns:r="http://schemas.openxmlformats.org/officeDocument/2006/relationships" xmlns:p="http://schemas.openxmlformats.org/presentationml/2006/main">
  <p:tag name="TOP" val="119.2269"/>
  <p:tag name="LEFT" val="552.2138"/>
  <p:tag name="WIDTH" val="13.57346"/>
  <p:tag name="HEIGHT" val="14.95827"/>
  <p:tag name="FONTSIZE" val="24.37"/>
  <p:tag name="MARGINBOTTOM" val="4.87559"/>
  <p:tag name="MARGINLEFT" val="9.751023"/>
  <p:tag name="MARGINRIGHT" val="9.751023"/>
  <p:tag name="MARGINTOP" val="4.87559"/>
  <p:tag name="LINERULEAFTER" val="0"/>
</p:tagLst>
</file>

<file path=ppt/tags/tag6.xml><?xml version="1.0" encoding="utf-8"?>
<p:tagLst xmlns:a="http://schemas.openxmlformats.org/drawingml/2006/main" xmlns:r="http://schemas.openxmlformats.org/officeDocument/2006/relationships" xmlns:p="http://schemas.openxmlformats.org/presentationml/2006/main">
  <p:tag name="TOP" val="118.9731"/>
  <p:tag name="LEFT" val="393.8735"/>
  <p:tag name="WIDTH" val="13.57346"/>
  <p:tag name="HEIGHT" val="15.2122"/>
  <p:tag name="FONTSIZE" val="24.37"/>
  <p:tag name="MARGINBOTTOM" val="4.87559"/>
  <p:tag name="MARGINLEFT" val="9.751023"/>
  <p:tag name="MARGINRIGHT" val="9.751023"/>
  <p:tag name="MARGINTOP" val="4.87559"/>
  <p:tag name="LINERULEAFTER" val="0"/>
</p:tagLst>
</file>

<file path=ppt/tags/tag7.xml><?xml version="1.0" encoding="utf-8"?>
<p:tagLst xmlns:a="http://schemas.openxmlformats.org/drawingml/2006/main" xmlns:r="http://schemas.openxmlformats.org/officeDocument/2006/relationships" xmlns:p="http://schemas.openxmlformats.org/presentationml/2006/main">
  <p:tag name="TOP" val="118.9732"/>
  <p:tag name="LEFT" val="406.081"/>
  <p:tag name="WIDTH" val="147.728"/>
  <p:tag name="HEIGHT" val="45.51284"/>
  <p:tag name="FONTSIZE" val="24.37"/>
  <p:tag name="MARGINBOTTOM" val="4.87559"/>
  <p:tag name="MARGINLEFT" val="9.751023"/>
  <p:tag name="MARGINRIGHT" val="9.751023"/>
  <p:tag name="MARGINTOP" val="4.87559"/>
  <p:tag name="LINERULEAFTER" val="0"/>
</p:tagLst>
</file>

<file path=ppt/tags/tag8.xml><?xml version="1.0" encoding="utf-8"?>
<p:tagLst xmlns:a="http://schemas.openxmlformats.org/drawingml/2006/main" xmlns:r="http://schemas.openxmlformats.org/officeDocument/2006/relationships" xmlns:p="http://schemas.openxmlformats.org/presentationml/2006/main">
  <p:tag name="TOP" val="118.6173"/>
  <p:tag name="LEFT" val="425.1254"/>
  <p:tag name="WIDTH" val="109.4105"/>
  <p:tag name="HEIGHT" val="42.29142"/>
  <p:tag name="FONTSIZE" val="24.37"/>
  <p:tag name="MARGINBOTTOM" val="4.87559"/>
  <p:tag name="MARGINLEFT" val="9.751023"/>
  <p:tag name="MARGINRIGHT" val="9.751023"/>
  <p:tag name="MARGINTOP" val="4.87559"/>
  <p:tag name="LINERULEAFTER" val="0"/>
</p:tagLst>
</file>

<file path=ppt/tags/tag9.xml><?xml version="1.0" encoding="utf-8"?>
<p:tagLst xmlns:a="http://schemas.openxmlformats.org/drawingml/2006/main" xmlns:r="http://schemas.openxmlformats.org/officeDocument/2006/relationships" xmlns:p="http://schemas.openxmlformats.org/presentationml/2006/main">
  <p:tag name="TOP" val="119.2269"/>
  <p:tag name="LEFT" val="552.2138"/>
  <p:tag name="WIDTH" val="13.57346"/>
  <p:tag name="HEIGHT" val="14.95827"/>
  <p:tag name="FONTSIZE" val="24.37"/>
  <p:tag name="MARGINBOTTOM" val="4.87559"/>
  <p:tag name="MARGINLEFT" val="9.751023"/>
  <p:tag name="MARGINRIGHT" val="9.751023"/>
  <p:tag name="MARGINTOP" val="4.87559"/>
  <p:tag name="LINERULEAFTER" val="0"/>
</p:tagLst>
</file>

<file path=ppt/tags/tag10.xml><?xml version="1.0" encoding="utf-8"?>
<p:tagLst xmlns:a="http://schemas.openxmlformats.org/drawingml/2006/main" xmlns:r="http://schemas.openxmlformats.org/officeDocument/2006/relationships" xmlns:p="http://schemas.openxmlformats.org/presentationml/2006/main">
  <p:tag name="TOP" val="118.9731"/>
  <p:tag name="LEFT" val="393.8735"/>
  <p:tag name="WIDTH" val="13.57346"/>
  <p:tag name="HEIGHT" val="15.2122"/>
  <p:tag name="FONTSIZE" val="24.37"/>
  <p:tag name="MARGINBOTTOM" val="4.87559"/>
  <p:tag name="MARGINLEFT" val="9.751023"/>
  <p:tag name="MARGINRIGHT" val="9.751023"/>
  <p:tag name="MARGINTOP" val="4.87559"/>
  <p:tag name="LINERULEAFTER" val="0"/>
</p:tagLst>
</file>

<file path=ppt/tags/tag11.xml><?xml version="1.0" encoding="utf-8"?>
<p:tagLst xmlns:a="http://schemas.openxmlformats.org/drawingml/2006/main" xmlns:r="http://schemas.openxmlformats.org/officeDocument/2006/relationships" xmlns:p="http://schemas.openxmlformats.org/presentationml/2006/main">
  <p:tag name="TOP" val="118.9732"/>
  <p:tag name="LEFT" val="406.081"/>
  <p:tag name="WIDTH" val="147.728"/>
  <p:tag name="HEIGHT" val="45.51284"/>
  <p:tag name="FONTSIZE" val="24.37"/>
  <p:tag name="MARGINBOTTOM" val="4.87559"/>
  <p:tag name="MARGINLEFT" val="9.751023"/>
  <p:tag name="MARGINRIGHT" val="9.751023"/>
  <p:tag name="MARGINTOP" val="4.87559"/>
  <p:tag name="LINERULEAFTER" val="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w="19050">
          <a:noFill/>
        </a:ln>
      </a:spPr>
      <a:bodyPr wrap="square">
        <a:spAutoFit/>
      </a:bodyPr>
      <a:lstStyle>
        <a:defPPr algn="l">
          <a:defRPr kumimoji="0" sz="1800" b="0" i="0" u="none" strike="noStrike" kern="1200" cap="none" spc="0" normalizeH="0" baseline="0" noProof="0" dirty="0" smtClean="0">
            <a:ln>
              <a:noFill/>
            </a:ln>
            <a:solidFill>
              <a:prstClr val="black"/>
            </a:solidFill>
            <a:effectLst/>
            <a:uLnTx/>
            <a:uFillTx/>
            <a:latin typeface="Microsoft YaHei UI" panose="020B0503020204020204" pitchFamily="34" charset="-122"/>
            <a:ea typeface="Microsoft YaHei UI" panose="020B0503020204020204" pitchFamily="34" charset="-122"/>
            <a:cs typeface="Times New Roman" panose="020205030504050903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1103</TotalTime>
  <Words>10365</Words>
  <Application>Microsoft Macintosh PowerPoint</Application>
  <PresentationFormat>宽屏</PresentationFormat>
  <Paragraphs>842</Paragraphs>
  <Slides>39</Slides>
  <Notes>39</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39</vt:i4>
      </vt:variant>
    </vt:vector>
  </HeadingPairs>
  <TitlesOfParts>
    <vt:vector size="48" baseType="lpstr">
      <vt:lpstr>等线</vt:lpstr>
      <vt:lpstr>微软雅黑</vt:lpstr>
      <vt:lpstr>Microsoft YaHei UI</vt:lpstr>
      <vt:lpstr>Arial</vt:lpstr>
      <vt:lpstr>Arial Black</vt:lpstr>
      <vt:lpstr>Calibri</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LFF</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271</dc:title>
  <dc:subject>LFF</dc:subject>
  <dc:creator>LFF</dc:creator>
  <cp:keywords>LFF</cp:keywords>
  <cp:lastModifiedBy>Ji</cp:lastModifiedBy>
  <cp:revision>758</cp:revision>
  <cp:lastPrinted>2025-04-07T07:28:23Z</cp:lastPrinted>
  <dcterms:created xsi:type="dcterms:W3CDTF">2025-04-07T07:28:23Z</dcterms:created>
  <dcterms:modified xsi:type="dcterms:W3CDTF">2025-05-12T01:12:20Z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2052-7.2.2.8955</vt:lpwstr>
  </property>
  <property fmtid="{D5CDD505-2E9C-101B-9397-08002B2CF9AE}" pid="3" name="ICV">
    <vt:lpwstr>81007DF1087BC96E567276657A704AE6_42</vt:lpwstr>
  </property>
</Properties>
</file>